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9" d="100"/>
          <a:sy n="149" d="100"/>
        </p:scale>
        <p:origin x="504" y="9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870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INTRODUCTION</a:t>
            </a:r>
          </a:p>
          <a:p>
            <a:endParaRPr lang="en-US" dirty="0"/>
          </a:p>
          <a:p>
            <a:r>
              <a:rPr lang="en-US" sz="1200" b="0" dirty="0"/>
              <a:t>The rapid advancement of Artificial Intelligence (AI), Machine Learning (ML), and the Internet of Things (IoT) has created new opportunities to transform traditional office environments into intelligent, adaptive workplaces. However, most organizations today still operate with disconnected systems — energy management, network management, and employee management are handled separately, with no awareness of each other.</a:t>
            </a:r>
          </a:p>
          <a:p>
            <a:endParaRPr lang="en-US" dirty="0"/>
          </a:p>
          <a:p>
            <a:r>
              <a:rPr lang="en-US" sz="1200" b="0" dirty="0"/>
              <a:t>This research presents the design and development of an AI and IoT-Enabled Smart Office System with Cloud-Based Energy Optimization — an integrated platform that brings together three intelligent subsystems to address the most pressing workplace challenges simultaneously.</a:t>
            </a:r>
          </a:p>
          <a:p>
            <a:endParaRPr lang="en-US" dirty="0"/>
          </a:p>
          <a:p>
            <a:r>
              <a:rPr lang="en-US" sz="1400" b="1" dirty="0"/>
              <a:t>The three core components of this system are:</a:t>
            </a:r>
          </a:p>
          <a:p>
            <a:endParaRPr lang="en-US" dirty="0"/>
          </a:p>
          <a:p>
            <a:r>
              <a:rPr lang="en-US" sz="1400" b="1" dirty="0"/>
              <a:t>1. Dynamic Bandwidth Allocator</a:t>
            </a:r>
          </a:p>
          <a:p>
            <a:r>
              <a:rPr lang="en-US" sz="1200" b="0" dirty="0"/>
              <a:t>A real-time AI-driven module that monitors each employee's workload (CPU, RAM, network usage) and dynamically adjusts their network bandwidth using Quality of Service (QoS) policies. High-workload employees receive priority bandwidth (25-50 Mbps), while idle employees are allocated less (2-10 Mbps), maximizing network efficiency across the office.</a:t>
            </a:r>
          </a:p>
          <a:p>
            <a:endParaRPr lang="en-US" dirty="0"/>
          </a:p>
          <a:p>
            <a:r>
              <a:rPr lang="en-US" sz="1400" b="1" dirty="0"/>
              <a:t>2. Office Energy Optimizer</a:t>
            </a:r>
          </a:p>
          <a:p>
            <a:r>
              <a:rPr lang="en-US" sz="1200" b="0" dirty="0"/>
              <a:t>An IoT-based monitoring system using ESP32 microcontrollers with PZEM-004T (power), DHT22 (temperature/humidity), and MQ2 (gas) sensors deployed across office floors. Data is transmitted securely via MQTT/TLS to HiveMQ Cloud. Machine learning models detect power anomalies (6 classes) and air safety hazards (7 classes) in real-time, triggering automated SMS alerts and n8n escalation workflows when critical conditions are detected.</a:t>
            </a:r>
          </a:p>
          <a:p>
            <a:endParaRPr lang="en-US" dirty="0"/>
          </a:p>
          <a:p>
            <a:r>
              <a:rPr lang="en-US" sz="1400" b="1" dirty="0"/>
              <a:t>3. Smart Office Intelligence Platform</a:t>
            </a:r>
          </a:p>
          <a:p>
            <a:r>
              <a:rPr lang="en-US" sz="1200" b="0" dirty="0"/>
              <a:t>A webcam-based system that detects employee stress levels in real-time using machine learning, classifies them as Low, Normal, or High, and automatically assigns tasks that match the employee's current mental state — preventing burnout and improving productivity. All interactions are managed through a unified WebSocket-powered dashboard accessible to both administrators and employees.</a:t>
            </a:r>
          </a:p>
          <a:p>
            <a:endParaRPr lang="en-US" dirty="0"/>
          </a:p>
          <a:p>
            <a:r>
              <a:rPr lang="en-US" sz="1200" b="0" dirty="0"/>
              <a:t>Together, these three systems form a unified, scalable, and cost-effective Smart Office platform that improves energy efficiency, network performance, and employee well-being — all through a single, integrated intelligent solution.</a:t>
            </a: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PROBLEM STATEMENT</a:t>
            </a:r>
          </a:p>
          <a:p>
            <a:endParaRPr lang="en-US" dirty="0"/>
          </a:p>
          <a:p>
            <a:r>
              <a:rPr lang="en-US" sz="1400" b="1" dirty="0"/>
              <a:t>PROBLEM STATEMENT:</a:t>
            </a:r>
          </a:p>
          <a:p>
            <a:r>
              <a:rPr lang="en-US" sz="1200" b="0" dirty="0"/>
              <a:t>Traditional office environments rely on disconnected, manually-managed systems that lack the intelligence to respond to real-time conditions. This creates three critical, unaddressed challenges:</a:t>
            </a:r>
          </a:p>
          <a:p>
            <a:endParaRPr lang="en-US" dirty="0"/>
          </a:p>
          <a:p>
            <a:r>
              <a:rPr lang="en-US" sz="1400" b="1" dirty="0"/>
              <a:t>1. UNDETECTED ENERGY ANOMALIES</a:t>
            </a:r>
          </a:p>
          <a:p>
            <a:r>
              <a:rPr lang="en-US" sz="1200" b="0" dirty="0"/>
              <a:t>Office power systems operate without awareness of actual consumption patterns. Overloads, standby losses, and voltage issues go undetected until equipment is damaged. Air quality hazards such as heat buildup, humidity risks, and gas leaks are not monitored, posing health and safety risks to employees.</a:t>
            </a:r>
          </a:p>
          <a:p>
            <a:endParaRPr lang="en-US" dirty="0"/>
          </a:p>
          <a:p>
            <a:r>
              <a:rPr lang="en-US" sz="1400" b="1" dirty="0"/>
              <a:t>2. STATIC BANDWIDTH ALLOCATION</a:t>
            </a:r>
          </a:p>
          <a:p>
            <a:r>
              <a:rPr lang="en-US" sz="1200" b="0" dirty="0"/>
              <a:t>Network resources are distributed equally to all employees regardless of their actual workload. High-priority, demanding tasks compete with idle workstations for the same bandwidth, causing bottlenecks and reduced productivity. There is no mechanism to dynamically prioritize based on need.</a:t>
            </a:r>
          </a:p>
          <a:p>
            <a:endParaRPr lang="en-US" dirty="0"/>
          </a:p>
          <a:p>
            <a:r>
              <a:rPr lang="en-US" sz="1400" b="1" dirty="0"/>
              <a:t>3. EMPLOYEE MENTAL STATE IS IGNORED</a:t>
            </a:r>
          </a:p>
          <a:p>
            <a:r>
              <a:rPr lang="en-US" sz="1200" b="0" dirty="0"/>
              <a:t>Task management systems assign work purely based on availability or predefined roles — never considering an employee's real-time stress level or cognitive load. This leads to overloading stressed employees, increasing burnout risk, reducing output quality, and causing inefficient use of human resources.</a:t>
            </a:r>
          </a:p>
          <a:p>
            <a:endParaRPr lang="en-US" dirty="0"/>
          </a:p>
          <a:p>
            <a:r>
              <a:rPr lang="en-US" sz="1400" b="1" dirty="0"/>
              <a:t>RESEARCH GAP:</a:t>
            </a:r>
          </a:p>
          <a:p>
            <a:r>
              <a:rPr lang="en-US" sz="1200" b="0" dirty="0"/>
              <a:t>No existing system integrates all three challenges into one unified, intelligent platform. Existing solutions address each domain in isolation, with no cross-module data sharing, no real-time adaptive decision-making, and no unified monitoring dashboard connecting energy, network, and human factors.</a:t>
            </a: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WHO WILL BE BENEFITED BY THE SOLUTION</a:t>
            </a:r>
          </a:p>
          <a:p>
            <a:endParaRPr lang="en-US" dirty="0"/>
          </a:p>
          <a:p>
            <a:r>
              <a:rPr lang="en-US" sz="1200" b="0" dirty="0"/>
              <a:t>This Smart Office Intelligence Platform is designed to deliver measurable benefits to a wide range of stakeholders across modern organizational environments:</a:t>
            </a:r>
          </a:p>
          <a:p>
            <a:endParaRPr lang="en-US" dirty="0"/>
          </a:p>
          <a:p>
            <a:r>
              <a:rPr lang="en-US" sz="1400" b="1" dirty="0"/>
              <a:t>1. EMPLOYEES</a:t>
            </a:r>
          </a:p>
          <a:p>
            <a:r>
              <a:rPr lang="en-US" sz="1200" b="0" dirty="0"/>
              <a:t>Employees benefit most directly from this system. The stress detection and task allocation module ensures that employees are never overburdened when they are mentally fatigued. Tasks are assigned based on their real-time condition, reducing burnout and improving job satisfaction. The dynamic bandwidth allocation ensures that employees doing high-priority, demanding work always have sufficient network resources to perform effectively.</a:t>
            </a:r>
          </a:p>
          <a:p>
            <a:endParaRPr lang="en-US" dirty="0"/>
          </a:p>
          <a:p>
            <a:r>
              <a:rPr lang="en-US" sz="1400" b="1" dirty="0"/>
              <a:t>2. ADMINISTRATORS AND MANAGERS</a:t>
            </a:r>
          </a:p>
          <a:p>
            <a:r>
              <a:rPr lang="en-US" sz="1200" b="0" dirty="0"/>
              <a:t>Administrators gain a powerful, unified dashboard that gives them real-time visibility into employee stress levels, task progress, energy consumption, air quality, and network usage — all in one place. They can send camera access requests, monitor who is overloaded, reassign tasks, and respond to energy or safety alerts without leaving the dashboard. This dramatically reduces manual oversight effort.</a:t>
            </a:r>
          </a:p>
          <a:p>
            <a:endParaRPr lang="en-US" dirty="0"/>
          </a:p>
          <a:p>
            <a:r>
              <a:rPr lang="en-US" sz="1400" b="1" dirty="0"/>
              <a:t>3. HR PROFESSIONALS</a:t>
            </a:r>
          </a:p>
          <a:p>
            <a:r>
              <a:rPr lang="en-US" sz="1200" b="0" dirty="0"/>
              <a:t>Human Resource teams can use the stress monitoring and workload data generated by this system to identify employees who are consistently under high stress, enabling early intervention before burnout occurs. The system provides objective, data-driven insights that support fair workload distribution, performance evaluation, and employee well-being programs.</a:t>
            </a:r>
          </a:p>
          <a:p>
            <a:endParaRPr lang="en-US" dirty="0"/>
          </a:p>
          <a:p>
            <a:r>
              <a:rPr lang="en-US" sz="1400" b="1" dirty="0"/>
              <a:t>4. FACILITY AND OPERATIONS MANAGERS</a:t>
            </a:r>
          </a:p>
          <a:p>
            <a:r>
              <a:rPr lang="en-US" sz="1200" b="0" dirty="0"/>
              <a:t>The Office Energy Optimizer directly serves facility managers by providing real-time alerts for power overloads, standby losses, voltage issues, heat risks, humidity problems, and smoke detection. The automated n8n escalation workflows (voice call → WhatsApp → email) ensure that critical safety events are never missed, even outside working hours. Daily PDF energy reports are automatically emailed every morning for review.</a:t>
            </a:r>
          </a:p>
          <a:p>
            <a:endParaRPr lang="en-US" dirty="0"/>
          </a:p>
          <a:p>
            <a:r>
              <a:rPr lang="en-US" sz="1400" b="1" dirty="0"/>
              <a:t>5. IT AND NETWORK ADMINISTRATORS</a:t>
            </a:r>
          </a:p>
          <a:p>
            <a:r>
              <a:rPr lang="en-US" sz="1200" b="0" dirty="0"/>
              <a:t>IT teams benefit from the Dynamic Bandwidth Allocator, which automates network QoS enforcement without requiring manual configuration per user. The system monitors real-time network consumption and enforces bandwidth limits via Linux Traffic Control, ensuring fair and efficient use of the office network infrastructure with minimal IT intervention.</a:t>
            </a:r>
          </a:p>
          <a:p>
            <a:endParaRPr lang="en-US" dirty="0"/>
          </a:p>
          <a:p>
            <a:r>
              <a:rPr lang="en-US" sz="1400" b="1" dirty="0"/>
              <a:t>6. ORGANIZATIONS AND BUSINESSES (SMEs and Enterprises)</a:t>
            </a:r>
          </a:p>
          <a:p>
            <a:r>
              <a:rPr lang="en-US" sz="1200" b="0" dirty="0"/>
              <a:t>Organizations as a whole benefit through improved operational efficiency, reduced energy waste, lower risk of equipment damage from undetected anomalies, and a more productive, healthier workforce. The system is built on open-source, cost-effective technologies, making it accessible to small and medium enterprises (SMEs) as well as large enterprises. Its microservices architecture allows it to scale from a single floor to an entire multi-building campus.</a:t>
            </a:r>
          </a:p>
          <a:p>
            <a:endParaRPr lang="en-US" dirty="0"/>
          </a:p>
          <a:p>
            <a:r>
              <a:rPr lang="en-US" sz="1400" b="1" dirty="0"/>
              <a:t>7. RESEARCHERS AND DEVELOPERS</a:t>
            </a:r>
          </a:p>
          <a:p>
            <a:r>
              <a:rPr lang="en-US" sz="1200" b="0" dirty="0"/>
              <a:t>The integrated architecture of this platform — combining affective computing, IoT sensor networks, ML-based anomaly detection, and real-time QoS enforcement — provides a practical research framework for future work in smart workplace systems, Industry 4.0, and human-centered AI applications.</a:t>
            </a: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OBJECTIVES</a:t>
            </a:r>
          </a:p>
          <a:p>
            <a:endParaRPr lang="en-US" dirty="0"/>
          </a:p>
          <a:p>
            <a:r>
              <a:rPr lang="en-US" sz="1400" b="1" dirty="0"/>
              <a:t>MAIN OBJECTIVE:</a:t>
            </a:r>
          </a:p>
          <a:p>
            <a:r>
              <a:rPr lang="en-US" sz="1200" b="0" dirty="0"/>
              <a:t>To design and develop an integrated AI and IoT-enabled Smart Office Intelligence Platform that improves workplace productivity, employee well-being, and operational efficiency by combining real-time stress detection, intelligent task allocation, energy anomaly monitoring, and dynamic bandwidth management into a single unified system.</a:t>
            </a:r>
          </a:p>
          <a:p>
            <a:endParaRPr lang="en-US" dirty="0"/>
          </a:p>
          <a:p>
            <a:r>
              <a:rPr lang="en-US" sz="1400" b="1" dirty="0"/>
              <a:t>SUB-OBJECTIVES:</a:t>
            </a:r>
          </a:p>
          <a:p>
            <a:endParaRPr lang="en-US" dirty="0"/>
          </a:p>
          <a:p>
            <a:r>
              <a:rPr lang="en-US" sz="1400" b="1" dirty="0"/>
              <a:t>1. Stress Detection and Classification</a:t>
            </a:r>
          </a:p>
          <a:p>
            <a:r>
              <a:rPr lang="en-US" sz="1200" b="0" dirty="0"/>
              <a:t>To capture employee facial data via webcam and develop a machine learning model (CNN, planned with AffectNet and FER2013 datasets) that classifies employee stress levels into Low, Normal, and High categories in real-time with high accuracy.</a:t>
            </a:r>
          </a:p>
          <a:p>
            <a:endParaRPr lang="en-US" dirty="0"/>
          </a:p>
          <a:p>
            <a:r>
              <a:rPr lang="en-US" sz="1400" b="1" dirty="0"/>
              <a:t>2. Stress-Aware Task Allocation</a:t>
            </a:r>
          </a:p>
          <a:p>
            <a:r>
              <a:rPr lang="en-US" sz="1200" b="0" dirty="0"/>
              <a:t>To implement an intelligent task assignment engine that dynamically allocates tasks based on detected stress levels — assigning lighter tasks to stressed employees and more demanding tasks to employees with low stress — preventing burnout and optimizing productivity.</a:t>
            </a:r>
          </a:p>
          <a:p>
            <a:endParaRPr lang="en-US" dirty="0"/>
          </a:p>
          <a:p>
            <a:r>
              <a:rPr lang="en-US" sz="1400" b="1" dirty="0"/>
              <a:t>3. IoT Energy Monitoring and Anomaly Detection</a:t>
            </a:r>
          </a:p>
          <a:p>
            <a:r>
              <a:rPr lang="en-US" sz="1200" b="0" dirty="0"/>
              <a:t>To deploy ESP32-based sensor nodes (PZEM-004T, DHT22, MQ2) on office floors and develop ML models (Random Forest + Isolation Forest) that detect 6 classes of power anomalies and 7 classes of air safety hazards in real-time, with automated SMS and escalation alerts.</a:t>
            </a:r>
          </a:p>
          <a:p>
            <a:endParaRPr lang="en-US" dirty="0"/>
          </a:p>
          <a:p>
            <a:r>
              <a:rPr lang="en-US" sz="1400" b="1" dirty="0"/>
              <a:t>4. Dynamic Bandwidth Allocation</a:t>
            </a:r>
          </a:p>
          <a:p>
            <a:r>
              <a:rPr lang="en-US" sz="1200" b="0" dirty="0"/>
              <a:t>To monitor real-time employee workload metrics (CPU, RAM, network I/O) and train a Random Forest classifier that categorizes workload into High, Medium, and Low, enforcing corresponding QoS bandwidth limits (25-50 Mbps, 10-25 Mbps, 2-10 Mbps) via Linux Traffic Control.</a:t>
            </a:r>
          </a:p>
          <a:p>
            <a:endParaRPr lang="en-US" dirty="0"/>
          </a:p>
          <a:p>
            <a:r>
              <a:rPr lang="en-US" sz="1400" b="1" dirty="0"/>
              <a:t>5. Cross-Module Integration</a:t>
            </a:r>
          </a:p>
          <a:p>
            <a:r>
              <a:rPr lang="en-US" sz="1200" b="0" dirty="0"/>
              <a:t>To enable data sharing between the three modules via REST APIs — specifically, to pass detected stress level from the Smart Office module to the Bandwidth Allocator — so that bandwidth priority can factor in employee mental state alongside workload metrics.</a:t>
            </a:r>
          </a:p>
          <a:p>
            <a:endParaRPr lang="en-US" dirty="0"/>
          </a:p>
          <a:p>
            <a:r>
              <a:rPr lang="en-US" sz="1400" b="1" dirty="0"/>
              <a:t>6. Unified Real-Time Dashboard</a:t>
            </a:r>
          </a:p>
          <a:p>
            <a:r>
              <a:rPr lang="en-US" sz="1200" b="0" dirty="0"/>
              <a:t>To develop a WebSocket-based unified dashboard (admin + employee views) using FastAPI and Next.js that displays live stress levels, task assignments, energy readings, and bandwidth status across all three modules with minimal latency.</a:t>
            </a:r>
          </a:p>
          <a:p>
            <a:endParaRPr lang="en-US" dirty="0"/>
          </a:p>
          <a:p>
            <a:r>
              <a:rPr lang="en-US" sz="1400" b="1" dirty="0"/>
              <a:t>7. System Security and Reliability</a:t>
            </a:r>
          </a:p>
          <a:p>
            <a:r>
              <a:rPr lang="en-US" sz="1200" b="0" dirty="0"/>
              <a:t>To ensure secure user authentication via JWT tokens, password protection via bcrypt hashing, and reliable MQTT/TLS communication between IoT sensors and the cloud broker, maintaining data integrity and access control throughout the system.</a:t>
            </a: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554480"/>
          </a:xfrm>
          <a:prstGeom prst="rect">
            <a:avLst/>
          </a:prstGeom>
          <a:solidFill>
            <a:srgbClr val="0D2B55"/>
          </a:solidFill>
          <a:ln/>
        </p:spPr>
      </p:sp>
      <p:sp>
        <p:nvSpPr>
          <p:cNvPr id="3" name="Shape 1"/>
          <p:cNvSpPr/>
          <p:nvPr/>
        </p:nvSpPr>
        <p:spPr>
          <a:xfrm>
            <a:off x="0" y="0"/>
            <a:ext cx="109728" cy="1554480"/>
          </a:xfrm>
          <a:prstGeom prst="rect">
            <a:avLst/>
          </a:prstGeom>
          <a:solidFill>
            <a:srgbClr val="1E88E5"/>
          </a:solidFill>
          <a:ln/>
        </p:spPr>
      </p:sp>
      <p:sp>
        <p:nvSpPr>
          <p:cNvPr id="4" name="Text 2"/>
          <p:cNvSpPr/>
          <p:nvPr/>
        </p:nvSpPr>
        <p:spPr>
          <a:xfrm>
            <a:off x="228600" y="73152"/>
            <a:ext cx="868680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AI and IoT-Enabled</a:t>
            </a:r>
            <a:endParaRPr lang="en-US" sz="3000" dirty="0"/>
          </a:p>
        </p:txBody>
      </p:sp>
      <p:sp>
        <p:nvSpPr>
          <p:cNvPr id="5" name="Text 3"/>
          <p:cNvSpPr/>
          <p:nvPr/>
        </p:nvSpPr>
        <p:spPr>
          <a:xfrm>
            <a:off x="228600" y="594360"/>
            <a:ext cx="8686800" cy="502920"/>
          </a:xfrm>
          <a:prstGeom prst="rect">
            <a:avLst/>
          </a:prstGeom>
          <a:noFill/>
          <a:ln/>
        </p:spPr>
        <p:txBody>
          <a:bodyPr wrap="square" rtlCol="0" anchor="ctr"/>
          <a:lstStyle/>
          <a:p>
            <a:pPr marL="0" indent="0">
              <a:buNone/>
            </a:pPr>
            <a:r>
              <a:rPr lang="en-US" sz="1800" dirty="0">
                <a:solidFill>
                  <a:srgbClr val="90CAF9"/>
                </a:solidFill>
                <a:latin typeface="Calibri" pitchFamily="34" charset="0"/>
                <a:ea typeface="Calibri" pitchFamily="34" charset="-122"/>
                <a:cs typeface="Calibri" pitchFamily="34" charset="-120"/>
              </a:rPr>
              <a:t>Smart Office System with Cloud-Based Energy Optimization</a:t>
            </a:r>
            <a:endParaRPr lang="en-US" sz="1800" dirty="0"/>
          </a:p>
        </p:txBody>
      </p:sp>
      <p:sp>
        <p:nvSpPr>
          <p:cNvPr id="7" name="Shape 5"/>
          <p:cNvSpPr/>
          <p:nvPr/>
        </p:nvSpPr>
        <p:spPr>
          <a:xfrm>
            <a:off x="365760" y="1719072"/>
            <a:ext cx="2651760" cy="1371600"/>
          </a:xfrm>
          <a:prstGeom prst="rect">
            <a:avLst/>
          </a:prstGeom>
          <a:solidFill>
            <a:srgbClr val="1565C0"/>
          </a:solidFill>
          <a:ln/>
          <a:effectLst>
            <a:outerShdw blurRad="76200" dist="25400" dir="8100000" algn="bl" rotWithShape="0">
              <a:srgbClr val="000000">
                <a:alpha val="12000"/>
              </a:srgbClr>
            </a:outerShdw>
          </a:effectLst>
        </p:spPr>
      </p:sp>
      <p:sp>
        <p:nvSpPr>
          <p:cNvPr id="8" name="Shape 6"/>
          <p:cNvSpPr/>
          <p:nvPr/>
        </p:nvSpPr>
        <p:spPr>
          <a:xfrm>
            <a:off x="365760" y="1719072"/>
            <a:ext cx="2651760" cy="54864"/>
          </a:xfrm>
          <a:prstGeom prst="rect">
            <a:avLst/>
          </a:prstGeom>
          <a:solidFill>
            <a:srgbClr val="90CAF9"/>
          </a:solidFill>
          <a:ln/>
        </p:spPr>
      </p:sp>
      <p:sp>
        <p:nvSpPr>
          <p:cNvPr id="9" name="Text 7"/>
          <p:cNvSpPr/>
          <p:nvPr/>
        </p:nvSpPr>
        <p:spPr>
          <a:xfrm>
            <a:off x="365760" y="1792224"/>
            <a:ext cx="265176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Dynamic Bandwidth</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Allocator</a:t>
            </a:r>
            <a:endParaRPr lang="en-US" sz="1400" dirty="0"/>
          </a:p>
        </p:txBody>
      </p:sp>
      <p:sp>
        <p:nvSpPr>
          <p:cNvPr id="10" name="Text 8"/>
          <p:cNvSpPr/>
          <p:nvPr/>
        </p:nvSpPr>
        <p:spPr>
          <a:xfrm>
            <a:off x="365760" y="2468880"/>
            <a:ext cx="2651760" cy="457200"/>
          </a:xfrm>
          <a:prstGeom prst="rect">
            <a:avLst/>
          </a:prstGeom>
          <a:noFill/>
          <a:ln/>
        </p:spPr>
        <p:txBody>
          <a:bodyPr wrap="square" rtlCol="0" anchor="ctr"/>
          <a:lstStyle/>
          <a:p>
            <a:pPr marL="0" indent="0" algn="ctr">
              <a:buNone/>
            </a:pPr>
            <a:r>
              <a:rPr lang="en-US" sz="1000" dirty="0">
                <a:solidFill>
                  <a:srgbClr val="DDEEFF"/>
                </a:solidFill>
                <a:latin typeface="Calibri" pitchFamily="34" charset="0"/>
                <a:ea typeface="Calibri" pitchFamily="34" charset="-122"/>
                <a:cs typeface="Calibri" pitchFamily="34" charset="-120"/>
              </a:rPr>
              <a:t>Shaethayine. R  |  IT22315700</a:t>
            </a:r>
            <a:endParaRPr lang="en-US" sz="1000" dirty="0"/>
          </a:p>
        </p:txBody>
      </p:sp>
      <p:sp>
        <p:nvSpPr>
          <p:cNvPr id="11" name="Shape 9"/>
          <p:cNvSpPr/>
          <p:nvPr/>
        </p:nvSpPr>
        <p:spPr>
          <a:xfrm>
            <a:off x="3200400" y="1719072"/>
            <a:ext cx="2651760" cy="1371600"/>
          </a:xfrm>
          <a:prstGeom prst="rect">
            <a:avLst/>
          </a:prstGeom>
          <a:solidFill>
            <a:srgbClr val="00ACC1"/>
          </a:solidFill>
          <a:ln/>
          <a:effectLst>
            <a:outerShdw blurRad="76200" dist="25400" dir="8100000" algn="bl" rotWithShape="0">
              <a:srgbClr val="000000">
                <a:alpha val="12000"/>
              </a:srgbClr>
            </a:outerShdw>
          </a:effectLst>
        </p:spPr>
      </p:sp>
      <p:sp>
        <p:nvSpPr>
          <p:cNvPr id="12" name="Shape 10"/>
          <p:cNvSpPr/>
          <p:nvPr/>
        </p:nvSpPr>
        <p:spPr>
          <a:xfrm>
            <a:off x="3200400" y="1719072"/>
            <a:ext cx="2651760" cy="54864"/>
          </a:xfrm>
          <a:prstGeom prst="rect">
            <a:avLst/>
          </a:prstGeom>
          <a:solidFill>
            <a:srgbClr val="90CAF9"/>
          </a:solidFill>
          <a:ln/>
        </p:spPr>
      </p:sp>
      <p:sp>
        <p:nvSpPr>
          <p:cNvPr id="13" name="Text 11"/>
          <p:cNvSpPr/>
          <p:nvPr/>
        </p:nvSpPr>
        <p:spPr>
          <a:xfrm>
            <a:off x="3200400" y="1792224"/>
            <a:ext cx="265176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Office Energy</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Optimizer</a:t>
            </a:r>
            <a:endParaRPr lang="en-US" sz="1400" dirty="0"/>
          </a:p>
        </p:txBody>
      </p:sp>
      <p:sp>
        <p:nvSpPr>
          <p:cNvPr id="14" name="Text 12"/>
          <p:cNvSpPr/>
          <p:nvPr/>
        </p:nvSpPr>
        <p:spPr>
          <a:xfrm>
            <a:off x="3200400" y="2532888"/>
            <a:ext cx="2651760" cy="457200"/>
          </a:xfrm>
          <a:prstGeom prst="rect">
            <a:avLst/>
          </a:prstGeom>
          <a:noFill/>
          <a:ln/>
        </p:spPr>
        <p:txBody>
          <a:bodyPr wrap="square" rtlCol="0" anchor="ctr"/>
          <a:lstStyle/>
          <a:p>
            <a:pPr algn="ctr"/>
            <a:r>
              <a:rPr lang="en-US" sz="1000" dirty="0">
                <a:solidFill>
                  <a:srgbClr val="DDEEFF"/>
                </a:solidFill>
                <a:latin typeface="Calibri" pitchFamily="34" charset="0"/>
                <a:ea typeface="Calibri" pitchFamily="34" charset="-122"/>
                <a:cs typeface="Calibri" pitchFamily="34" charset="-120"/>
              </a:rPr>
              <a:t>Shaethayine. R  |  IT22315700</a:t>
            </a:r>
            <a:endParaRPr lang="en-US" sz="1000" dirty="0"/>
          </a:p>
          <a:p>
            <a:pPr marL="0" indent="0" algn="ctr">
              <a:buNone/>
            </a:pPr>
            <a:endParaRPr lang="en-US" sz="1000" dirty="0"/>
          </a:p>
        </p:txBody>
      </p:sp>
      <p:sp>
        <p:nvSpPr>
          <p:cNvPr id="15" name="Shape 13"/>
          <p:cNvSpPr/>
          <p:nvPr/>
        </p:nvSpPr>
        <p:spPr>
          <a:xfrm>
            <a:off x="6035040" y="1719072"/>
            <a:ext cx="2651760" cy="1371600"/>
          </a:xfrm>
          <a:prstGeom prst="rect">
            <a:avLst/>
          </a:prstGeom>
          <a:solidFill>
            <a:srgbClr val="1E88E5"/>
          </a:solidFill>
          <a:ln/>
          <a:effectLst>
            <a:outerShdw blurRad="76200" dist="25400" dir="8100000" algn="bl" rotWithShape="0">
              <a:srgbClr val="000000">
                <a:alpha val="12000"/>
              </a:srgbClr>
            </a:outerShdw>
          </a:effectLst>
        </p:spPr>
        <p:txBody>
          <a:bodyPr/>
          <a:lstStyle/>
          <a:p>
            <a:endParaRPr lang="en-US" dirty="0"/>
          </a:p>
        </p:txBody>
      </p:sp>
      <p:sp>
        <p:nvSpPr>
          <p:cNvPr id="16" name="Shape 14"/>
          <p:cNvSpPr/>
          <p:nvPr/>
        </p:nvSpPr>
        <p:spPr>
          <a:xfrm>
            <a:off x="6035040" y="1719072"/>
            <a:ext cx="2651760" cy="54864"/>
          </a:xfrm>
          <a:prstGeom prst="rect">
            <a:avLst/>
          </a:prstGeom>
          <a:solidFill>
            <a:srgbClr val="90CAF9"/>
          </a:solidFill>
          <a:ln/>
        </p:spPr>
      </p:sp>
      <p:sp>
        <p:nvSpPr>
          <p:cNvPr id="17" name="Text 15"/>
          <p:cNvSpPr/>
          <p:nvPr/>
        </p:nvSpPr>
        <p:spPr>
          <a:xfrm>
            <a:off x="6035040" y="1792224"/>
            <a:ext cx="265176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Smart Office</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Intelligence</a:t>
            </a:r>
            <a:endParaRPr lang="en-US" sz="1400" dirty="0"/>
          </a:p>
        </p:txBody>
      </p:sp>
      <p:sp>
        <p:nvSpPr>
          <p:cNvPr id="18" name="Text 16"/>
          <p:cNvSpPr/>
          <p:nvPr/>
        </p:nvSpPr>
        <p:spPr>
          <a:xfrm>
            <a:off x="6035040" y="2468880"/>
            <a:ext cx="2651760" cy="457200"/>
          </a:xfrm>
          <a:prstGeom prst="rect">
            <a:avLst/>
          </a:prstGeom>
          <a:noFill/>
          <a:ln/>
        </p:spPr>
        <p:txBody>
          <a:bodyPr wrap="square" rtlCol="0" anchor="ctr"/>
          <a:lstStyle/>
          <a:p>
            <a:pPr marL="0" indent="0" algn="ctr">
              <a:buNone/>
            </a:pPr>
            <a:r>
              <a:rPr lang="en-US" sz="1000" dirty="0">
                <a:solidFill>
                  <a:srgbClr val="DDEEFF"/>
                </a:solidFill>
                <a:latin typeface="Calibri" pitchFamily="34" charset="0"/>
                <a:ea typeface="Calibri" pitchFamily="34" charset="-122"/>
                <a:cs typeface="Calibri" pitchFamily="34" charset="-120"/>
              </a:rPr>
              <a:t>M.A.H.S. Thathsarani  |  IT22564672</a:t>
            </a:r>
            <a:endParaRPr lang="en-US" sz="1000" dirty="0"/>
          </a:p>
        </p:txBody>
      </p:sp>
      <p:sp>
        <p:nvSpPr>
          <p:cNvPr id="19" name="Shape 17"/>
          <p:cNvSpPr/>
          <p:nvPr/>
        </p:nvSpPr>
        <p:spPr>
          <a:xfrm>
            <a:off x="0" y="3218688"/>
            <a:ext cx="9144000" cy="54864"/>
          </a:xfrm>
          <a:prstGeom prst="rect">
            <a:avLst/>
          </a:prstGeom>
          <a:solidFill>
            <a:srgbClr val="90CAF9"/>
          </a:solidFill>
          <a:ln/>
        </p:spPr>
      </p:sp>
      <p:sp>
        <p:nvSpPr>
          <p:cNvPr id="20" name="Text 18"/>
          <p:cNvSpPr/>
          <p:nvPr/>
        </p:nvSpPr>
        <p:spPr>
          <a:xfrm>
            <a:off x="274320" y="3337560"/>
            <a:ext cx="2286000" cy="274320"/>
          </a:xfrm>
          <a:prstGeom prst="rect">
            <a:avLst/>
          </a:prstGeom>
          <a:noFill/>
          <a:ln/>
        </p:spPr>
        <p:txBody>
          <a:bodyPr wrap="square" rtlCol="0" anchor="ctr"/>
          <a:lstStyle/>
          <a:p>
            <a:pPr marL="0" indent="0">
              <a:buNone/>
            </a:pPr>
            <a:r>
              <a:rPr lang="en-US" sz="1200" b="1" dirty="0">
                <a:solidFill>
                  <a:srgbClr val="0D2B55"/>
                </a:solidFill>
                <a:latin typeface="Calibri" pitchFamily="34" charset="0"/>
                <a:ea typeface="Calibri" pitchFamily="34" charset="-122"/>
                <a:cs typeface="Calibri" pitchFamily="34" charset="-120"/>
              </a:rPr>
              <a:t>Project Overview</a:t>
            </a:r>
            <a:endParaRPr lang="en-US" sz="1200" dirty="0"/>
          </a:p>
        </p:txBody>
      </p:sp>
      <p:sp>
        <p:nvSpPr>
          <p:cNvPr id="21" name="Text 19"/>
          <p:cNvSpPr/>
          <p:nvPr/>
        </p:nvSpPr>
        <p:spPr>
          <a:xfrm>
            <a:off x="274320" y="3630168"/>
            <a:ext cx="8595360" cy="8229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An integrated AI and IoT-powered workplace system combining real-time employee stress detection, smart power and air quality monitoring, and dynamic network bandwidth allocation — all unified under a cloud-ready smart office platform.</a:t>
            </a:r>
            <a:endParaRPr lang="en-US" sz="1200" dirty="0"/>
          </a:p>
        </p:txBody>
      </p:sp>
      <p:sp>
        <p:nvSpPr>
          <p:cNvPr id="22" name="Shape 20"/>
          <p:cNvSpPr/>
          <p:nvPr/>
        </p:nvSpPr>
        <p:spPr>
          <a:xfrm>
            <a:off x="0" y="4956048"/>
            <a:ext cx="9144000" cy="192024"/>
          </a:xfrm>
          <a:prstGeom prst="rect">
            <a:avLst/>
          </a:prstGeom>
          <a:solidFill>
            <a:srgbClr val="0D2B55"/>
          </a:solidFill>
          <a:ln/>
        </p:spPr>
      </p:sp>
      <p:sp>
        <p:nvSpPr>
          <p:cNvPr id="23" name="Text 21"/>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24" name="Text 22"/>
          <p:cNvSpPr/>
          <p:nvPr/>
        </p:nvSpPr>
        <p:spPr>
          <a:xfrm>
            <a:off x="3657600" y="4965192"/>
            <a:ext cx="3657600" cy="173736"/>
          </a:xfrm>
          <a:prstGeom prst="rect">
            <a:avLst/>
          </a:prstGeom>
          <a:noFill/>
          <a:ln/>
        </p:spPr>
        <p:txBody>
          <a:bodyPr wrap="square" rtlCol="0" anchor="ctr"/>
          <a:lstStyle/>
          <a:p>
            <a:pPr marL="0" indent="0" algn="ctr">
              <a:buNone/>
            </a:pPr>
            <a:endParaRPr lang="en-US" sz="800" dirty="0"/>
          </a:p>
        </p:txBody>
      </p:sp>
      <p:sp>
        <p:nvSpPr>
          <p:cNvPr id="25" name="Text 23"/>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B55"/>
          </a:solidFill>
          <a:ln/>
        </p:spPr>
      </p:sp>
      <p:sp>
        <p:nvSpPr>
          <p:cNvPr id="3" name="Shape 1"/>
          <p:cNvSpPr/>
          <p:nvPr/>
        </p:nvSpPr>
        <p:spPr>
          <a:xfrm>
            <a:off x="0" y="0"/>
            <a:ext cx="73152" cy="822960"/>
          </a:xfrm>
          <a:prstGeom prst="rect">
            <a:avLst/>
          </a:prstGeom>
          <a:solidFill>
            <a:srgbClr val="1E88E5"/>
          </a:solidFill>
          <a:ln/>
        </p:spPr>
      </p:sp>
      <p:sp>
        <p:nvSpPr>
          <p:cNvPr id="4" name="Text 2"/>
          <p:cNvSpPr/>
          <p:nvPr/>
        </p:nvSpPr>
        <p:spPr>
          <a:xfrm>
            <a:off x="182880" y="73152"/>
            <a:ext cx="82296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Problem in Brief</a:t>
            </a:r>
            <a:endParaRPr lang="en-US" sz="2000" dirty="0"/>
          </a:p>
        </p:txBody>
      </p:sp>
      <p:sp>
        <p:nvSpPr>
          <p:cNvPr id="5" name="Text 3"/>
          <p:cNvSpPr/>
          <p:nvPr/>
        </p:nvSpPr>
        <p:spPr>
          <a:xfrm>
            <a:off x="182880" y="475488"/>
            <a:ext cx="8229600" cy="292608"/>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Why smart offices need an integrated AI + IoT approach</a:t>
            </a:r>
            <a:endParaRPr lang="en-US" sz="1100" dirty="0"/>
          </a:p>
        </p:txBody>
      </p:sp>
      <p:sp>
        <p:nvSpPr>
          <p:cNvPr id="6" name="Text 4"/>
          <p:cNvSpPr/>
          <p:nvPr/>
        </p:nvSpPr>
        <p:spPr>
          <a:xfrm>
            <a:off x="5943600" y="0"/>
            <a:ext cx="3108960" cy="384048"/>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AI &amp; IoT Smart Office System  |  SLIIT</a:t>
            </a:r>
            <a:endParaRPr lang="en-US" sz="800" dirty="0"/>
          </a:p>
        </p:txBody>
      </p:sp>
      <p:sp>
        <p:nvSpPr>
          <p:cNvPr id="7" name="Shape 5"/>
          <p:cNvSpPr/>
          <p:nvPr/>
        </p:nvSpPr>
        <p:spPr>
          <a:xfrm>
            <a:off x="182880" y="914400"/>
            <a:ext cx="5212080" cy="3246120"/>
          </a:xfrm>
          <a:prstGeom prst="rect">
            <a:avLst/>
          </a:prstGeom>
          <a:solidFill>
            <a:srgbClr val="E3F2FD"/>
          </a:solidFill>
          <a:ln w="6350">
            <a:solidFill>
              <a:srgbClr val="0D2B55"/>
            </a:solidFill>
            <a:prstDash val="solid"/>
          </a:ln>
          <a:effectLst>
            <a:outerShdw blurRad="76200" dist="25400" dir="8100000" algn="bl" rotWithShape="0">
              <a:srgbClr val="000000">
                <a:alpha val="12000"/>
              </a:srgbClr>
            </a:outerShdw>
          </a:effectLst>
        </p:spPr>
      </p:sp>
      <p:sp>
        <p:nvSpPr>
          <p:cNvPr id="8" name="Shape 6"/>
          <p:cNvSpPr/>
          <p:nvPr/>
        </p:nvSpPr>
        <p:spPr>
          <a:xfrm>
            <a:off x="182880" y="914400"/>
            <a:ext cx="5212080" cy="256032"/>
          </a:xfrm>
          <a:prstGeom prst="rect">
            <a:avLst/>
          </a:prstGeom>
          <a:solidFill>
            <a:srgbClr val="0D2B55"/>
          </a:solidFill>
          <a:ln/>
        </p:spPr>
      </p:sp>
      <p:sp>
        <p:nvSpPr>
          <p:cNvPr id="9" name="Text 7"/>
          <p:cNvSpPr/>
          <p:nvPr/>
        </p:nvSpPr>
        <p:spPr>
          <a:xfrm>
            <a:off x="274320" y="914400"/>
            <a:ext cx="512064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The Core Problem</a:t>
            </a:r>
            <a:endParaRPr lang="en-US" sz="1000" dirty="0"/>
          </a:p>
        </p:txBody>
      </p:sp>
      <p:sp>
        <p:nvSpPr>
          <p:cNvPr id="10" name="Text 8"/>
          <p:cNvSpPr/>
          <p:nvPr/>
        </p:nvSpPr>
        <p:spPr>
          <a:xfrm>
            <a:off x="320040" y="1261872"/>
            <a:ext cx="4937760" cy="320040"/>
          </a:xfrm>
          <a:prstGeom prst="rect">
            <a:avLst/>
          </a:prstGeom>
          <a:noFill/>
          <a:ln/>
        </p:spPr>
        <p:txBody>
          <a:bodyPr wrap="square" rtlCol="0" anchor="ctr"/>
          <a:lstStyle/>
          <a:p>
            <a:pPr marL="0" indent="0">
              <a:buNone/>
            </a:pPr>
            <a:r>
              <a:rPr lang="en-US" sz="1200" b="1" dirty="0">
                <a:solidFill>
                  <a:srgbClr val="0D2B55"/>
                </a:solidFill>
                <a:latin typeface="Calibri" pitchFamily="34" charset="0"/>
                <a:ea typeface="Calibri" pitchFamily="34" charset="-122"/>
                <a:cs typeface="Calibri" pitchFamily="34" charset="-120"/>
              </a:rPr>
              <a:t>Modern offices face three critical yet disconnected challenges:</a:t>
            </a:r>
            <a:endParaRPr lang="en-US" sz="1200" dirty="0"/>
          </a:p>
        </p:txBody>
      </p:sp>
      <p:sp>
        <p:nvSpPr>
          <p:cNvPr id="11" name="Shape 9"/>
          <p:cNvSpPr/>
          <p:nvPr/>
        </p:nvSpPr>
        <p:spPr>
          <a:xfrm>
            <a:off x="320040" y="1664208"/>
            <a:ext cx="54864" cy="685800"/>
          </a:xfrm>
          <a:prstGeom prst="rect">
            <a:avLst/>
          </a:prstGeom>
          <a:solidFill>
            <a:srgbClr val="1E88E5"/>
          </a:solidFill>
          <a:ln/>
        </p:spPr>
      </p:sp>
      <p:sp>
        <p:nvSpPr>
          <p:cNvPr id="12" name="Text 10"/>
          <p:cNvSpPr/>
          <p:nvPr/>
        </p:nvSpPr>
        <p:spPr>
          <a:xfrm>
            <a:off x="457200" y="1664208"/>
            <a:ext cx="4846320" cy="256032"/>
          </a:xfrm>
          <a:prstGeom prst="rect">
            <a:avLst/>
          </a:prstGeom>
          <a:noFill/>
          <a:ln/>
        </p:spPr>
        <p:txBody>
          <a:bodyPr wrap="square" rtlCol="0" anchor="ctr"/>
          <a:lstStyle/>
          <a:p>
            <a:pPr marL="0" indent="0">
              <a:buNone/>
            </a:pPr>
            <a:r>
              <a:rPr lang="en-US" sz="1200" b="1" dirty="0">
                <a:solidFill>
                  <a:srgbClr val="0D2B55"/>
                </a:solidFill>
                <a:latin typeface="Calibri" pitchFamily="34" charset="0"/>
                <a:ea typeface="Calibri" pitchFamily="34" charset="-122"/>
                <a:cs typeface="Calibri" pitchFamily="34" charset="-120"/>
              </a:rPr>
              <a:t>⚡ Energy Waste</a:t>
            </a:r>
            <a:endParaRPr lang="en-US" sz="1200" dirty="0"/>
          </a:p>
        </p:txBody>
      </p:sp>
      <p:sp>
        <p:nvSpPr>
          <p:cNvPr id="13" name="Text 11"/>
          <p:cNvSpPr/>
          <p:nvPr/>
        </p:nvSpPr>
        <p:spPr>
          <a:xfrm>
            <a:off x="457200" y="1920240"/>
            <a:ext cx="4846320" cy="47548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Office devices run without awareness of actual usage patterns. Overloads, standby losses, and air quality hazards go undetected, risking both equipment damage and employee health.</a:t>
            </a:r>
            <a:endParaRPr lang="en-US" sz="1000" dirty="0"/>
          </a:p>
        </p:txBody>
      </p:sp>
      <p:sp>
        <p:nvSpPr>
          <p:cNvPr id="14" name="Shape 12"/>
          <p:cNvSpPr/>
          <p:nvPr/>
        </p:nvSpPr>
        <p:spPr>
          <a:xfrm>
            <a:off x="320040" y="2505456"/>
            <a:ext cx="54864" cy="685800"/>
          </a:xfrm>
          <a:prstGeom prst="rect">
            <a:avLst/>
          </a:prstGeom>
          <a:solidFill>
            <a:srgbClr val="1E88E5"/>
          </a:solidFill>
          <a:ln/>
        </p:spPr>
      </p:sp>
      <p:sp>
        <p:nvSpPr>
          <p:cNvPr id="15" name="Text 13"/>
          <p:cNvSpPr/>
          <p:nvPr/>
        </p:nvSpPr>
        <p:spPr>
          <a:xfrm>
            <a:off x="457200" y="2505456"/>
            <a:ext cx="4846320" cy="256032"/>
          </a:xfrm>
          <a:prstGeom prst="rect">
            <a:avLst/>
          </a:prstGeom>
          <a:noFill/>
          <a:ln/>
        </p:spPr>
        <p:txBody>
          <a:bodyPr wrap="square" rtlCol="0" anchor="ctr"/>
          <a:lstStyle/>
          <a:p>
            <a:pPr marL="0" indent="0">
              <a:buNone/>
            </a:pPr>
            <a:r>
              <a:rPr lang="en-US" sz="1200" b="1" dirty="0">
                <a:solidFill>
                  <a:srgbClr val="0D2B55"/>
                </a:solidFill>
                <a:latin typeface="Calibri" pitchFamily="34" charset="0"/>
                <a:ea typeface="Calibri" pitchFamily="34" charset="-122"/>
                <a:cs typeface="Calibri" pitchFamily="34" charset="-120"/>
              </a:rPr>
              <a:t>📡 Static Bandwidth</a:t>
            </a:r>
            <a:endParaRPr lang="en-US" sz="1200" dirty="0"/>
          </a:p>
        </p:txBody>
      </p:sp>
      <p:sp>
        <p:nvSpPr>
          <p:cNvPr id="16" name="Text 14"/>
          <p:cNvSpPr/>
          <p:nvPr/>
        </p:nvSpPr>
        <p:spPr>
          <a:xfrm>
            <a:off x="457200" y="2761488"/>
            <a:ext cx="4846320" cy="47548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Network resources are allocated equally regardless of workload. High-priority tasks are bottlenecked while idle employees consume the same bandwidth.</a:t>
            </a:r>
            <a:endParaRPr lang="en-US" sz="1000" dirty="0"/>
          </a:p>
        </p:txBody>
      </p:sp>
      <p:sp>
        <p:nvSpPr>
          <p:cNvPr id="17" name="Shape 15"/>
          <p:cNvSpPr/>
          <p:nvPr/>
        </p:nvSpPr>
        <p:spPr>
          <a:xfrm>
            <a:off x="320040" y="3346704"/>
            <a:ext cx="54864" cy="685800"/>
          </a:xfrm>
          <a:prstGeom prst="rect">
            <a:avLst/>
          </a:prstGeom>
          <a:solidFill>
            <a:srgbClr val="1E88E5"/>
          </a:solidFill>
          <a:ln/>
        </p:spPr>
      </p:sp>
      <p:sp>
        <p:nvSpPr>
          <p:cNvPr id="18" name="Text 16"/>
          <p:cNvSpPr/>
          <p:nvPr/>
        </p:nvSpPr>
        <p:spPr>
          <a:xfrm>
            <a:off x="457200" y="3346704"/>
            <a:ext cx="4846320" cy="256032"/>
          </a:xfrm>
          <a:prstGeom prst="rect">
            <a:avLst/>
          </a:prstGeom>
          <a:noFill/>
          <a:ln/>
        </p:spPr>
        <p:txBody>
          <a:bodyPr wrap="square" rtlCol="0" anchor="ctr"/>
          <a:lstStyle/>
          <a:p>
            <a:pPr marL="0" indent="0">
              <a:buNone/>
            </a:pPr>
            <a:r>
              <a:rPr lang="en-US" sz="1200" b="1" dirty="0">
                <a:solidFill>
                  <a:srgbClr val="0D2B55"/>
                </a:solidFill>
                <a:latin typeface="Calibri" pitchFamily="34" charset="0"/>
                <a:ea typeface="Calibri" pitchFamily="34" charset="-122"/>
                <a:cs typeface="Calibri" pitchFamily="34" charset="-120"/>
              </a:rPr>
              <a:t>🧠 Ignored Employee State</a:t>
            </a:r>
            <a:endParaRPr lang="en-US" sz="1200" dirty="0"/>
          </a:p>
        </p:txBody>
      </p:sp>
      <p:sp>
        <p:nvSpPr>
          <p:cNvPr id="19" name="Text 17"/>
          <p:cNvSpPr/>
          <p:nvPr/>
        </p:nvSpPr>
        <p:spPr>
          <a:xfrm>
            <a:off x="457200" y="3602736"/>
            <a:ext cx="4846320" cy="47548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Task management systems assign work without considering employee stress or cognitive load, causing burnout, reduced productivity, and inefficient resource use.</a:t>
            </a:r>
            <a:endParaRPr lang="en-US" sz="1000" dirty="0"/>
          </a:p>
        </p:txBody>
      </p:sp>
      <p:sp>
        <p:nvSpPr>
          <p:cNvPr id="20" name="Shape 18"/>
          <p:cNvSpPr/>
          <p:nvPr/>
        </p:nvSpPr>
        <p:spPr>
          <a:xfrm>
            <a:off x="5577840" y="914400"/>
            <a:ext cx="3383280" cy="1508760"/>
          </a:xfrm>
          <a:prstGeom prst="rect">
            <a:avLst/>
          </a:prstGeom>
          <a:solidFill>
            <a:srgbClr val="E3F2FD"/>
          </a:solidFill>
          <a:ln w="6350">
            <a:solidFill>
              <a:srgbClr val="1E88E5"/>
            </a:solidFill>
            <a:prstDash val="solid"/>
          </a:ln>
          <a:effectLst>
            <a:outerShdw blurRad="76200" dist="25400" dir="8100000" algn="bl" rotWithShape="0">
              <a:srgbClr val="000000">
                <a:alpha val="12000"/>
              </a:srgbClr>
            </a:outerShdw>
          </a:effectLst>
        </p:spPr>
      </p:sp>
      <p:sp>
        <p:nvSpPr>
          <p:cNvPr id="21" name="Shape 19"/>
          <p:cNvSpPr/>
          <p:nvPr/>
        </p:nvSpPr>
        <p:spPr>
          <a:xfrm>
            <a:off x="5577840" y="914400"/>
            <a:ext cx="3383280" cy="256032"/>
          </a:xfrm>
          <a:prstGeom prst="rect">
            <a:avLst/>
          </a:prstGeom>
          <a:solidFill>
            <a:srgbClr val="1E88E5"/>
          </a:solidFill>
          <a:ln/>
        </p:spPr>
      </p:sp>
      <p:sp>
        <p:nvSpPr>
          <p:cNvPr id="22" name="Text 20"/>
          <p:cNvSpPr/>
          <p:nvPr/>
        </p:nvSpPr>
        <p:spPr>
          <a:xfrm>
            <a:off x="5669280" y="914400"/>
            <a:ext cx="329184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Research Gap</a:t>
            </a:r>
            <a:endParaRPr lang="en-US" sz="1000" dirty="0"/>
          </a:p>
        </p:txBody>
      </p:sp>
      <p:sp>
        <p:nvSpPr>
          <p:cNvPr id="23" name="Text 21"/>
          <p:cNvSpPr/>
          <p:nvPr/>
        </p:nvSpPr>
        <p:spPr>
          <a:xfrm>
            <a:off x="5669280" y="1234440"/>
            <a:ext cx="3200400" cy="1115568"/>
          </a:xfrm>
          <a:prstGeom prst="rect">
            <a:avLst/>
          </a:prstGeom>
          <a:noFill/>
          <a:ln/>
        </p:spPr>
        <p:txBody>
          <a:bodyPr wrap="square" rtlCol="0" anchor="t"/>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No existing system combines all three: energy, bandwidth, and stress</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Existing tools address each problem in isolation</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No real-time cross-module data sharing between components</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Lack of WebSocket-based unified monitoring dashboard</a:t>
            </a:r>
            <a:endParaRPr lang="en-US" sz="1000" dirty="0"/>
          </a:p>
        </p:txBody>
      </p:sp>
      <p:sp>
        <p:nvSpPr>
          <p:cNvPr id="24" name="Shape 22"/>
          <p:cNvSpPr/>
          <p:nvPr/>
        </p:nvSpPr>
        <p:spPr>
          <a:xfrm>
            <a:off x="5577840" y="2542032"/>
            <a:ext cx="3383280" cy="1618488"/>
          </a:xfrm>
          <a:prstGeom prst="rect">
            <a:avLst/>
          </a:prstGeom>
          <a:solidFill>
            <a:srgbClr val="E3F2FD"/>
          </a:solidFill>
          <a:ln w="6350">
            <a:solidFill>
              <a:srgbClr val="2E7D32"/>
            </a:solidFill>
            <a:prstDash val="solid"/>
          </a:ln>
          <a:effectLst>
            <a:outerShdw blurRad="76200" dist="25400" dir="8100000" algn="bl" rotWithShape="0">
              <a:srgbClr val="000000">
                <a:alpha val="12000"/>
              </a:srgbClr>
            </a:outerShdw>
          </a:effectLst>
        </p:spPr>
      </p:sp>
      <p:sp>
        <p:nvSpPr>
          <p:cNvPr id="25" name="Shape 23"/>
          <p:cNvSpPr/>
          <p:nvPr/>
        </p:nvSpPr>
        <p:spPr>
          <a:xfrm>
            <a:off x="5577840" y="2542032"/>
            <a:ext cx="3383280" cy="256032"/>
          </a:xfrm>
          <a:prstGeom prst="rect">
            <a:avLst/>
          </a:prstGeom>
          <a:solidFill>
            <a:srgbClr val="2E7D32"/>
          </a:solidFill>
          <a:ln/>
        </p:spPr>
      </p:sp>
      <p:sp>
        <p:nvSpPr>
          <p:cNvPr id="26" name="Text 24"/>
          <p:cNvSpPr/>
          <p:nvPr/>
        </p:nvSpPr>
        <p:spPr>
          <a:xfrm>
            <a:off x="5669280" y="2542032"/>
            <a:ext cx="329184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Proposed Solution</a:t>
            </a:r>
            <a:endParaRPr lang="en-US" sz="1000" dirty="0"/>
          </a:p>
        </p:txBody>
      </p:sp>
      <p:sp>
        <p:nvSpPr>
          <p:cNvPr id="27" name="Text 25"/>
          <p:cNvSpPr/>
          <p:nvPr/>
        </p:nvSpPr>
        <p:spPr>
          <a:xfrm>
            <a:off x="5669280" y="2862072"/>
            <a:ext cx="3200400" cy="1234440"/>
          </a:xfrm>
          <a:prstGeom prst="rect">
            <a:avLst/>
          </a:prstGeom>
          <a:noFill/>
          <a:ln/>
        </p:spPr>
        <p:txBody>
          <a:bodyPr wrap="square" rtlCol="0" anchor="t"/>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Unified Smart Office Intelligence Platform</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Real-time stress detection via webcam + ML</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IoT energy + air monitoring with anomaly alerts</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Dynamic QoS bandwidth allocation per employee</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Single dashboard — admin + employee view</a:t>
            </a:r>
            <a:endParaRPr lang="en-US" sz="1000" dirty="0"/>
          </a:p>
        </p:txBody>
      </p:sp>
      <p:sp>
        <p:nvSpPr>
          <p:cNvPr id="28" name="Shape 26"/>
          <p:cNvSpPr/>
          <p:nvPr/>
        </p:nvSpPr>
        <p:spPr>
          <a:xfrm>
            <a:off x="0" y="4956048"/>
            <a:ext cx="9144000" cy="192024"/>
          </a:xfrm>
          <a:prstGeom prst="rect">
            <a:avLst/>
          </a:prstGeom>
          <a:solidFill>
            <a:srgbClr val="0D2B55"/>
          </a:solidFill>
          <a:ln/>
        </p:spPr>
        <p:txBody>
          <a:bodyPr/>
          <a:lstStyle/>
          <a:p>
            <a:endParaRPr lang="en-US" dirty="0"/>
          </a:p>
        </p:txBody>
      </p:sp>
      <p:sp>
        <p:nvSpPr>
          <p:cNvPr id="29" name="Text 27"/>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30" name="Text 28"/>
          <p:cNvSpPr/>
          <p:nvPr/>
        </p:nvSpPr>
        <p:spPr>
          <a:xfrm>
            <a:off x="3657600" y="4965192"/>
            <a:ext cx="3657600" cy="173736"/>
          </a:xfrm>
          <a:prstGeom prst="rect">
            <a:avLst/>
          </a:prstGeom>
          <a:noFill/>
          <a:ln/>
        </p:spPr>
        <p:txBody>
          <a:bodyPr wrap="square" rtlCol="0" anchor="ctr"/>
          <a:lstStyle/>
          <a:p>
            <a:pPr marL="0" indent="0" algn="ctr">
              <a:buNone/>
            </a:pPr>
            <a:endParaRPr lang="en-US" sz="800" dirty="0"/>
          </a:p>
        </p:txBody>
      </p:sp>
      <p:sp>
        <p:nvSpPr>
          <p:cNvPr id="31" name="Text 29"/>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B55"/>
          </a:solidFill>
          <a:ln/>
        </p:spPr>
      </p:sp>
      <p:sp>
        <p:nvSpPr>
          <p:cNvPr id="3" name="Shape 1"/>
          <p:cNvSpPr/>
          <p:nvPr/>
        </p:nvSpPr>
        <p:spPr>
          <a:xfrm>
            <a:off x="0" y="0"/>
            <a:ext cx="73152" cy="822960"/>
          </a:xfrm>
          <a:prstGeom prst="rect">
            <a:avLst/>
          </a:prstGeom>
          <a:solidFill>
            <a:srgbClr val="1E88E5"/>
          </a:solidFill>
          <a:ln/>
        </p:spPr>
      </p:sp>
      <p:sp>
        <p:nvSpPr>
          <p:cNvPr id="4" name="Text 2"/>
          <p:cNvSpPr/>
          <p:nvPr/>
        </p:nvSpPr>
        <p:spPr>
          <a:xfrm>
            <a:off x="182880" y="73152"/>
            <a:ext cx="82296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System Overview</a:t>
            </a:r>
            <a:endParaRPr lang="en-US" sz="2000" dirty="0"/>
          </a:p>
        </p:txBody>
      </p:sp>
      <p:sp>
        <p:nvSpPr>
          <p:cNvPr id="5" name="Text 3"/>
          <p:cNvSpPr/>
          <p:nvPr/>
        </p:nvSpPr>
        <p:spPr>
          <a:xfrm>
            <a:off x="182880" y="475488"/>
            <a:ext cx="8229600" cy="292608"/>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Three integrated components forming the Smart Office Intelligence Platform</a:t>
            </a:r>
            <a:endParaRPr lang="en-US" sz="1100" dirty="0"/>
          </a:p>
        </p:txBody>
      </p:sp>
      <p:sp>
        <p:nvSpPr>
          <p:cNvPr id="6" name="Text 4"/>
          <p:cNvSpPr/>
          <p:nvPr/>
        </p:nvSpPr>
        <p:spPr>
          <a:xfrm>
            <a:off x="5943600" y="0"/>
            <a:ext cx="3108960" cy="384048"/>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AI &amp; IoT Smart Office System  |  SLIIT</a:t>
            </a:r>
            <a:endParaRPr lang="en-US" sz="800" dirty="0"/>
          </a:p>
        </p:txBody>
      </p:sp>
      <p:sp>
        <p:nvSpPr>
          <p:cNvPr id="7" name="Shape 5"/>
          <p:cNvSpPr/>
          <p:nvPr/>
        </p:nvSpPr>
        <p:spPr>
          <a:xfrm>
            <a:off x="182880" y="914400"/>
            <a:ext cx="2834640" cy="3611880"/>
          </a:xfrm>
          <a:prstGeom prst="rect">
            <a:avLst/>
          </a:prstGeom>
          <a:solidFill>
            <a:srgbClr val="E3F2FD"/>
          </a:solidFill>
          <a:ln w="10160">
            <a:solidFill>
              <a:srgbClr val="1565C0"/>
            </a:solidFill>
            <a:prstDash val="solid"/>
          </a:ln>
          <a:effectLst>
            <a:outerShdw blurRad="76200" dist="25400" dir="8100000" algn="bl" rotWithShape="0">
              <a:srgbClr val="000000">
                <a:alpha val="12000"/>
              </a:srgbClr>
            </a:outerShdw>
          </a:effectLst>
        </p:spPr>
      </p:sp>
      <p:sp>
        <p:nvSpPr>
          <p:cNvPr id="8" name="Shape 6"/>
          <p:cNvSpPr/>
          <p:nvPr/>
        </p:nvSpPr>
        <p:spPr>
          <a:xfrm>
            <a:off x="182880" y="914400"/>
            <a:ext cx="2834640" cy="502920"/>
          </a:xfrm>
          <a:prstGeom prst="rect">
            <a:avLst/>
          </a:prstGeom>
          <a:solidFill>
            <a:srgbClr val="1565C0"/>
          </a:solidFill>
          <a:ln/>
        </p:spPr>
      </p:sp>
      <p:sp>
        <p:nvSpPr>
          <p:cNvPr id="9" name="Text 7"/>
          <p:cNvSpPr/>
          <p:nvPr/>
        </p:nvSpPr>
        <p:spPr>
          <a:xfrm>
            <a:off x="274320" y="914400"/>
            <a:ext cx="411480" cy="502920"/>
          </a:xfrm>
          <a:prstGeom prst="rect">
            <a:avLst/>
          </a:prstGeom>
          <a:noFill/>
          <a:ln/>
        </p:spPr>
        <p:txBody>
          <a:bodyPr wrap="square" rtlCol="0" anchor="ctr"/>
          <a:lstStyle/>
          <a:p>
            <a:pPr marL="0" indent="0">
              <a:buNone/>
            </a:pPr>
            <a:r>
              <a:rPr lang="en-US" sz="1800" b="1" dirty="0">
                <a:solidFill>
                  <a:srgbClr val="90CAF9"/>
                </a:solidFill>
                <a:latin typeface="Calibri" pitchFamily="34" charset="0"/>
                <a:ea typeface="Calibri" pitchFamily="34" charset="-122"/>
                <a:cs typeface="Calibri" pitchFamily="34" charset="-120"/>
              </a:rPr>
              <a:t>01</a:t>
            </a:r>
            <a:endParaRPr lang="en-US" sz="1800" dirty="0"/>
          </a:p>
        </p:txBody>
      </p:sp>
      <p:sp>
        <p:nvSpPr>
          <p:cNvPr id="10" name="Text 8"/>
          <p:cNvSpPr/>
          <p:nvPr/>
        </p:nvSpPr>
        <p:spPr>
          <a:xfrm>
            <a:off x="658368" y="914400"/>
            <a:ext cx="228600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Dynamic Bandwidth Allocator</a:t>
            </a:r>
            <a:endParaRPr lang="en-US" sz="1100" dirty="0"/>
          </a:p>
        </p:txBody>
      </p:sp>
      <p:sp>
        <p:nvSpPr>
          <p:cNvPr id="11" name="Text 9"/>
          <p:cNvSpPr/>
          <p:nvPr/>
        </p:nvSpPr>
        <p:spPr>
          <a:xfrm>
            <a:off x="658368" y="1261872"/>
            <a:ext cx="2286000" cy="164592"/>
          </a:xfrm>
          <a:prstGeom prst="rect">
            <a:avLst/>
          </a:prstGeom>
          <a:noFill/>
          <a:ln/>
        </p:spPr>
        <p:txBody>
          <a:bodyPr wrap="square" rtlCol="0" anchor="ctr"/>
          <a:lstStyle/>
          <a:p>
            <a:pPr marL="0" indent="0">
              <a:buNone/>
            </a:pPr>
            <a:r>
              <a:rPr lang="en-US" sz="900" i="1" dirty="0">
                <a:solidFill>
                  <a:srgbClr val="90CAF9"/>
                </a:solidFill>
                <a:latin typeface="Calibri" pitchFamily="34" charset="0"/>
                <a:ea typeface="Calibri" pitchFamily="34" charset="-122"/>
                <a:cs typeface="Calibri" pitchFamily="34" charset="-120"/>
              </a:rPr>
              <a:t>Shaethayine. R  |  IT22315700</a:t>
            </a:r>
            <a:endParaRPr lang="en-US" sz="900" dirty="0"/>
          </a:p>
        </p:txBody>
      </p:sp>
      <p:sp>
        <p:nvSpPr>
          <p:cNvPr id="12" name="Text 10"/>
          <p:cNvSpPr/>
          <p:nvPr/>
        </p:nvSpPr>
        <p:spPr>
          <a:xfrm>
            <a:off x="292608" y="1481328"/>
            <a:ext cx="2633472" cy="2971800"/>
          </a:xfrm>
          <a:prstGeom prst="rect">
            <a:avLst/>
          </a:prstGeom>
          <a:noFill/>
          <a:ln/>
        </p:spPr>
        <p:txBody>
          <a:bodyPr wrap="square" rtlCol="0" anchor="t"/>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Real-time CPU/RAM/network workload monitoring</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Random Forest workload classifier (High/Medium/Low)</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QoS policy enforcement via Linux Traffic Control</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Flask REST API + WebSocket live dashboard</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Integrates stress data from Smart Office module</a:t>
            </a:r>
            <a:endParaRPr lang="en-US" sz="1050" dirty="0"/>
          </a:p>
        </p:txBody>
      </p:sp>
      <p:sp>
        <p:nvSpPr>
          <p:cNvPr id="13" name="Shape 11"/>
          <p:cNvSpPr/>
          <p:nvPr/>
        </p:nvSpPr>
        <p:spPr>
          <a:xfrm>
            <a:off x="3172968" y="914400"/>
            <a:ext cx="2834640" cy="3611880"/>
          </a:xfrm>
          <a:prstGeom prst="rect">
            <a:avLst/>
          </a:prstGeom>
          <a:solidFill>
            <a:srgbClr val="E3F2FD"/>
          </a:solidFill>
          <a:ln w="10160">
            <a:solidFill>
              <a:srgbClr val="00ACC1"/>
            </a:solidFill>
            <a:prstDash val="solid"/>
          </a:ln>
          <a:effectLst>
            <a:outerShdw blurRad="76200" dist="25400" dir="8100000" algn="bl" rotWithShape="0">
              <a:srgbClr val="000000">
                <a:alpha val="12000"/>
              </a:srgbClr>
            </a:outerShdw>
          </a:effectLst>
        </p:spPr>
      </p:sp>
      <p:sp>
        <p:nvSpPr>
          <p:cNvPr id="14" name="Shape 12"/>
          <p:cNvSpPr/>
          <p:nvPr/>
        </p:nvSpPr>
        <p:spPr>
          <a:xfrm>
            <a:off x="3172968" y="914400"/>
            <a:ext cx="2834640" cy="502920"/>
          </a:xfrm>
          <a:prstGeom prst="rect">
            <a:avLst/>
          </a:prstGeom>
          <a:solidFill>
            <a:srgbClr val="00ACC1"/>
          </a:solidFill>
          <a:ln/>
        </p:spPr>
      </p:sp>
      <p:sp>
        <p:nvSpPr>
          <p:cNvPr id="15" name="Text 13"/>
          <p:cNvSpPr/>
          <p:nvPr/>
        </p:nvSpPr>
        <p:spPr>
          <a:xfrm>
            <a:off x="3264408" y="914400"/>
            <a:ext cx="411480" cy="502920"/>
          </a:xfrm>
          <a:prstGeom prst="rect">
            <a:avLst/>
          </a:prstGeom>
          <a:noFill/>
          <a:ln/>
        </p:spPr>
        <p:txBody>
          <a:bodyPr wrap="square" rtlCol="0" anchor="ctr"/>
          <a:lstStyle/>
          <a:p>
            <a:pPr marL="0" indent="0">
              <a:buNone/>
            </a:pPr>
            <a:r>
              <a:rPr lang="en-US" sz="1800" b="1" dirty="0">
                <a:solidFill>
                  <a:srgbClr val="90CAF9"/>
                </a:solidFill>
                <a:latin typeface="Calibri" pitchFamily="34" charset="0"/>
                <a:ea typeface="Calibri" pitchFamily="34" charset="-122"/>
                <a:cs typeface="Calibri" pitchFamily="34" charset="-120"/>
              </a:rPr>
              <a:t>02</a:t>
            </a:r>
            <a:endParaRPr lang="en-US" sz="1800" dirty="0"/>
          </a:p>
        </p:txBody>
      </p:sp>
      <p:sp>
        <p:nvSpPr>
          <p:cNvPr id="16" name="Text 14"/>
          <p:cNvSpPr/>
          <p:nvPr/>
        </p:nvSpPr>
        <p:spPr>
          <a:xfrm>
            <a:off x="3648456" y="914400"/>
            <a:ext cx="228600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Office Energy Optimizer</a:t>
            </a:r>
            <a:endParaRPr lang="en-US" sz="1100" dirty="0"/>
          </a:p>
        </p:txBody>
      </p:sp>
      <p:sp>
        <p:nvSpPr>
          <p:cNvPr id="17" name="Text 15"/>
          <p:cNvSpPr/>
          <p:nvPr/>
        </p:nvSpPr>
        <p:spPr>
          <a:xfrm>
            <a:off x="3675888" y="1319901"/>
            <a:ext cx="2286000" cy="164592"/>
          </a:xfrm>
          <a:prstGeom prst="rect">
            <a:avLst/>
          </a:prstGeom>
          <a:noFill/>
          <a:ln/>
        </p:spPr>
        <p:txBody>
          <a:bodyPr wrap="square" rtlCol="0" anchor="ctr"/>
          <a:lstStyle/>
          <a:p>
            <a:r>
              <a:rPr lang="en-US" sz="900" i="1" dirty="0">
                <a:solidFill>
                  <a:srgbClr val="90CAF9"/>
                </a:solidFill>
                <a:latin typeface="Calibri" pitchFamily="34" charset="0"/>
                <a:ea typeface="Calibri" pitchFamily="34" charset="-122"/>
                <a:cs typeface="Calibri" pitchFamily="34" charset="-120"/>
              </a:rPr>
              <a:t>Shaethayine. R  |  IT22315700</a:t>
            </a:r>
            <a:endParaRPr lang="en-US" sz="900" dirty="0"/>
          </a:p>
          <a:p>
            <a:pPr marL="0" indent="0">
              <a:buNone/>
            </a:pPr>
            <a:endParaRPr lang="en-US" sz="900" dirty="0"/>
          </a:p>
        </p:txBody>
      </p:sp>
      <p:sp>
        <p:nvSpPr>
          <p:cNvPr id="18" name="Text 16"/>
          <p:cNvSpPr/>
          <p:nvPr/>
        </p:nvSpPr>
        <p:spPr>
          <a:xfrm>
            <a:off x="3282696" y="1481328"/>
            <a:ext cx="2633472" cy="2971800"/>
          </a:xfrm>
          <a:prstGeom prst="rect">
            <a:avLst/>
          </a:prstGeom>
          <a:noFill/>
          <a:ln/>
        </p:spPr>
        <p:txBody>
          <a:bodyPr wrap="square" rtlCol="0" anchor="t"/>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ESP32 + PZEM-004T + DHT22 + MQ2 sensors</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HiveMQ Cloud MQTT/TLS communication</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Random Forest power anomaly detection (6 classes)</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RF + Isolation Forest air safety model (7 classes)</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SMS alerts (Twilio) + n8n automation workflows</a:t>
            </a:r>
            <a:endParaRPr lang="en-US" sz="1050" dirty="0"/>
          </a:p>
        </p:txBody>
      </p:sp>
      <p:sp>
        <p:nvSpPr>
          <p:cNvPr id="19" name="Shape 17"/>
          <p:cNvSpPr/>
          <p:nvPr/>
        </p:nvSpPr>
        <p:spPr>
          <a:xfrm>
            <a:off x="6163056" y="914400"/>
            <a:ext cx="2834640" cy="3611880"/>
          </a:xfrm>
          <a:prstGeom prst="rect">
            <a:avLst/>
          </a:prstGeom>
          <a:solidFill>
            <a:srgbClr val="E3F2FD"/>
          </a:solidFill>
          <a:ln w="10160">
            <a:solidFill>
              <a:srgbClr val="1E88E5"/>
            </a:solidFill>
            <a:prstDash val="solid"/>
          </a:ln>
          <a:effectLst>
            <a:outerShdw blurRad="76200" dist="25400" dir="8100000" algn="bl" rotWithShape="0">
              <a:srgbClr val="000000">
                <a:alpha val="12000"/>
              </a:srgbClr>
            </a:outerShdw>
          </a:effectLst>
        </p:spPr>
      </p:sp>
      <p:sp>
        <p:nvSpPr>
          <p:cNvPr id="20" name="Shape 18"/>
          <p:cNvSpPr/>
          <p:nvPr/>
        </p:nvSpPr>
        <p:spPr>
          <a:xfrm>
            <a:off x="6163056" y="914400"/>
            <a:ext cx="2834640" cy="502920"/>
          </a:xfrm>
          <a:prstGeom prst="rect">
            <a:avLst/>
          </a:prstGeom>
          <a:solidFill>
            <a:srgbClr val="1E88E5"/>
          </a:solidFill>
          <a:ln/>
        </p:spPr>
      </p:sp>
      <p:sp>
        <p:nvSpPr>
          <p:cNvPr id="21" name="Text 19"/>
          <p:cNvSpPr/>
          <p:nvPr/>
        </p:nvSpPr>
        <p:spPr>
          <a:xfrm>
            <a:off x="6254496" y="914400"/>
            <a:ext cx="411480" cy="502920"/>
          </a:xfrm>
          <a:prstGeom prst="rect">
            <a:avLst/>
          </a:prstGeom>
          <a:noFill/>
          <a:ln/>
        </p:spPr>
        <p:txBody>
          <a:bodyPr wrap="square" rtlCol="0" anchor="ctr"/>
          <a:lstStyle/>
          <a:p>
            <a:pPr marL="0" indent="0">
              <a:buNone/>
            </a:pPr>
            <a:r>
              <a:rPr lang="en-US" sz="1800" b="1" dirty="0">
                <a:solidFill>
                  <a:srgbClr val="90CAF9"/>
                </a:solidFill>
                <a:latin typeface="Calibri" pitchFamily="34" charset="0"/>
                <a:ea typeface="Calibri" pitchFamily="34" charset="-122"/>
                <a:cs typeface="Calibri" pitchFamily="34" charset="-120"/>
              </a:rPr>
              <a:t>03</a:t>
            </a:r>
            <a:endParaRPr lang="en-US" sz="1800" dirty="0"/>
          </a:p>
        </p:txBody>
      </p:sp>
      <p:sp>
        <p:nvSpPr>
          <p:cNvPr id="22" name="Text 20"/>
          <p:cNvSpPr/>
          <p:nvPr/>
        </p:nvSpPr>
        <p:spPr>
          <a:xfrm>
            <a:off x="6638544" y="914400"/>
            <a:ext cx="228600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Smart Office Intelligence</a:t>
            </a:r>
            <a:endParaRPr lang="en-US" sz="1100" dirty="0"/>
          </a:p>
        </p:txBody>
      </p:sp>
      <p:sp>
        <p:nvSpPr>
          <p:cNvPr id="23" name="Text 21"/>
          <p:cNvSpPr/>
          <p:nvPr/>
        </p:nvSpPr>
        <p:spPr>
          <a:xfrm>
            <a:off x="6638544" y="1261872"/>
            <a:ext cx="2286000" cy="164592"/>
          </a:xfrm>
          <a:prstGeom prst="rect">
            <a:avLst/>
          </a:prstGeom>
          <a:noFill/>
          <a:ln/>
        </p:spPr>
        <p:txBody>
          <a:bodyPr wrap="square" rtlCol="0" anchor="ctr"/>
          <a:lstStyle/>
          <a:p>
            <a:pPr marL="0" indent="0">
              <a:buNone/>
            </a:pPr>
            <a:r>
              <a:rPr lang="en-US" sz="900" i="1" dirty="0">
                <a:solidFill>
                  <a:srgbClr val="90CAF9"/>
                </a:solidFill>
                <a:latin typeface="Calibri" pitchFamily="34" charset="0"/>
                <a:ea typeface="Calibri" pitchFamily="34" charset="-122"/>
                <a:cs typeface="Calibri" pitchFamily="34" charset="-120"/>
              </a:rPr>
              <a:t>M.A.H.S. Thathsarani  |  IT22564672</a:t>
            </a:r>
            <a:endParaRPr lang="en-US" sz="900" dirty="0"/>
          </a:p>
        </p:txBody>
      </p:sp>
      <p:sp>
        <p:nvSpPr>
          <p:cNvPr id="24" name="Text 22"/>
          <p:cNvSpPr/>
          <p:nvPr/>
        </p:nvSpPr>
        <p:spPr>
          <a:xfrm>
            <a:off x="6272784" y="1481328"/>
            <a:ext cx="2633472" cy="2971800"/>
          </a:xfrm>
          <a:prstGeom prst="rect">
            <a:avLst/>
          </a:prstGeom>
          <a:noFill/>
          <a:ln/>
        </p:spPr>
        <p:txBody>
          <a:bodyPr wrap="square" rtlCol="0" anchor="t"/>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Camera-based employee stress detection (CNN planned)</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Stress-aware ML task allocation (Low/Normal/High)</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FastAPI backend + Next.js + Tailwind frontend</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WebSocket real-time communication</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JWT auth + bcrypt encryption + SQLite</a:t>
            </a:r>
            <a:endParaRPr lang="en-US" sz="1050" dirty="0"/>
          </a:p>
        </p:txBody>
      </p:sp>
      <p:sp>
        <p:nvSpPr>
          <p:cNvPr id="25" name="Shape 23"/>
          <p:cNvSpPr/>
          <p:nvPr/>
        </p:nvSpPr>
        <p:spPr>
          <a:xfrm>
            <a:off x="0" y="4956048"/>
            <a:ext cx="9144000" cy="192024"/>
          </a:xfrm>
          <a:prstGeom prst="rect">
            <a:avLst/>
          </a:prstGeom>
          <a:solidFill>
            <a:srgbClr val="0D2B55"/>
          </a:solidFill>
          <a:ln/>
        </p:spPr>
      </p:sp>
      <p:sp>
        <p:nvSpPr>
          <p:cNvPr id="26" name="Text 24"/>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27" name="Text 25"/>
          <p:cNvSpPr/>
          <p:nvPr/>
        </p:nvSpPr>
        <p:spPr>
          <a:xfrm>
            <a:off x="3657600" y="4965192"/>
            <a:ext cx="3657600" cy="173736"/>
          </a:xfrm>
          <a:prstGeom prst="rect">
            <a:avLst/>
          </a:prstGeom>
          <a:noFill/>
          <a:ln/>
        </p:spPr>
        <p:txBody>
          <a:bodyPr wrap="square" rtlCol="0" anchor="ctr"/>
          <a:lstStyle/>
          <a:p>
            <a:pPr marL="0" indent="0" algn="ctr">
              <a:buNone/>
            </a:pPr>
            <a:endParaRPr lang="en-US" sz="800" dirty="0"/>
          </a:p>
        </p:txBody>
      </p:sp>
      <p:sp>
        <p:nvSpPr>
          <p:cNvPr id="28" name="Text 26"/>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B55"/>
          </a:solidFill>
          <a:ln/>
        </p:spPr>
      </p:sp>
      <p:sp>
        <p:nvSpPr>
          <p:cNvPr id="3" name="Shape 1"/>
          <p:cNvSpPr/>
          <p:nvPr/>
        </p:nvSpPr>
        <p:spPr>
          <a:xfrm>
            <a:off x="0" y="0"/>
            <a:ext cx="73152" cy="822960"/>
          </a:xfrm>
          <a:prstGeom prst="rect">
            <a:avLst/>
          </a:prstGeom>
          <a:solidFill>
            <a:srgbClr val="1E88E5"/>
          </a:solidFill>
          <a:ln/>
        </p:spPr>
      </p:sp>
      <p:sp>
        <p:nvSpPr>
          <p:cNvPr id="4" name="Text 2"/>
          <p:cNvSpPr/>
          <p:nvPr/>
        </p:nvSpPr>
        <p:spPr>
          <a:xfrm>
            <a:off x="182880" y="73152"/>
            <a:ext cx="82296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Integrated System Architecture</a:t>
            </a:r>
            <a:endParaRPr lang="en-US" sz="2000" dirty="0"/>
          </a:p>
        </p:txBody>
      </p:sp>
      <p:sp>
        <p:nvSpPr>
          <p:cNvPr id="5" name="Text 3"/>
          <p:cNvSpPr/>
          <p:nvPr/>
        </p:nvSpPr>
        <p:spPr>
          <a:xfrm>
            <a:off x="182880" y="475488"/>
            <a:ext cx="8229600" cy="292608"/>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How all three components connect in the Smart Office ecosystem</a:t>
            </a:r>
            <a:endParaRPr lang="en-US" sz="1100" dirty="0"/>
          </a:p>
        </p:txBody>
      </p:sp>
      <p:sp>
        <p:nvSpPr>
          <p:cNvPr id="6" name="Text 4"/>
          <p:cNvSpPr/>
          <p:nvPr/>
        </p:nvSpPr>
        <p:spPr>
          <a:xfrm>
            <a:off x="5943600" y="0"/>
            <a:ext cx="3108960" cy="384048"/>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AI &amp; IoT Smart Office System  |  SLIIT</a:t>
            </a:r>
            <a:endParaRPr lang="en-US" sz="800" dirty="0"/>
          </a:p>
        </p:txBody>
      </p:sp>
      <p:sp>
        <p:nvSpPr>
          <p:cNvPr id="7" name="Shape 5"/>
          <p:cNvSpPr/>
          <p:nvPr/>
        </p:nvSpPr>
        <p:spPr>
          <a:xfrm>
            <a:off x="182880" y="914400"/>
            <a:ext cx="8778240" cy="256032"/>
          </a:xfrm>
          <a:prstGeom prst="rect">
            <a:avLst/>
          </a:prstGeom>
          <a:solidFill>
            <a:srgbClr val="0D2B55"/>
          </a:solidFill>
          <a:ln/>
        </p:spPr>
      </p:sp>
      <p:sp>
        <p:nvSpPr>
          <p:cNvPr id="8" name="Text 6"/>
          <p:cNvSpPr/>
          <p:nvPr/>
        </p:nvSpPr>
        <p:spPr>
          <a:xfrm>
            <a:off x="182880" y="914400"/>
            <a:ext cx="877824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HARDWARE / IoT LAYER</a:t>
            </a:r>
            <a:endParaRPr lang="en-US" sz="1000" dirty="0"/>
          </a:p>
        </p:txBody>
      </p:sp>
      <p:sp>
        <p:nvSpPr>
          <p:cNvPr id="9" name="Shape 7"/>
          <p:cNvSpPr/>
          <p:nvPr/>
        </p:nvSpPr>
        <p:spPr>
          <a:xfrm>
            <a:off x="228600" y="1207008"/>
            <a:ext cx="2011680" cy="640080"/>
          </a:xfrm>
          <a:prstGeom prst="roundRect">
            <a:avLst>
              <a:gd name="adj" fmla="val 10000"/>
            </a:avLst>
          </a:prstGeom>
          <a:solidFill>
            <a:srgbClr val="E3F2FD"/>
          </a:solidFill>
          <a:ln w="10160">
            <a:solidFill>
              <a:srgbClr val="0D2B55"/>
            </a:solidFill>
            <a:prstDash val="solid"/>
          </a:ln>
        </p:spPr>
      </p:sp>
      <p:sp>
        <p:nvSpPr>
          <p:cNvPr id="10" name="Text 8"/>
          <p:cNvSpPr/>
          <p:nvPr/>
        </p:nvSpPr>
        <p:spPr>
          <a:xfrm>
            <a:off x="228600" y="1207008"/>
            <a:ext cx="2011680" cy="64008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ESP32 + PZEM-004T</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(Power Sensor)</a:t>
            </a:r>
            <a:endParaRPr lang="en-US" sz="1000" dirty="0"/>
          </a:p>
        </p:txBody>
      </p:sp>
      <p:sp>
        <p:nvSpPr>
          <p:cNvPr id="11" name="Shape 9"/>
          <p:cNvSpPr/>
          <p:nvPr/>
        </p:nvSpPr>
        <p:spPr>
          <a:xfrm>
            <a:off x="2404872" y="1207008"/>
            <a:ext cx="2011680" cy="640080"/>
          </a:xfrm>
          <a:prstGeom prst="roundRect">
            <a:avLst>
              <a:gd name="adj" fmla="val 10000"/>
            </a:avLst>
          </a:prstGeom>
          <a:solidFill>
            <a:srgbClr val="E3F2FD"/>
          </a:solidFill>
          <a:ln w="10160">
            <a:solidFill>
              <a:srgbClr val="0D2B55"/>
            </a:solidFill>
            <a:prstDash val="solid"/>
          </a:ln>
        </p:spPr>
      </p:sp>
      <p:sp>
        <p:nvSpPr>
          <p:cNvPr id="12" name="Text 10"/>
          <p:cNvSpPr/>
          <p:nvPr/>
        </p:nvSpPr>
        <p:spPr>
          <a:xfrm>
            <a:off x="2404872" y="1207008"/>
            <a:ext cx="2011680" cy="64008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ESP32 + DHT22 + MQ2</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(Air Quality Sensor)</a:t>
            </a:r>
            <a:endParaRPr lang="en-US" sz="1000" dirty="0"/>
          </a:p>
        </p:txBody>
      </p:sp>
      <p:sp>
        <p:nvSpPr>
          <p:cNvPr id="13" name="Shape 11"/>
          <p:cNvSpPr/>
          <p:nvPr/>
        </p:nvSpPr>
        <p:spPr>
          <a:xfrm>
            <a:off x="4581144" y="1207008"/>
            <a:ext cx="2011680" cy="640080"/>
          </a:xfrm>
          <a:prstGeom prst="roundRect">
            <a:avLst>
              <a:gd name="adj" fmla="val 10000"/>
            </a:avLst>
          </a:prstGeom>
          <a:solidFill>
            <a:srgbClr val="E3F2FD"/>
          </a:solidFill>
          <a:ln w="10160">
            <a:solidFill>
              <a:srgbClr val="0D2B55"/>
            </a:solidFill>
            <a:prstDash val="solid"/>
          </a:ln>
        </p:spPr>
      </p:sp>
      <p:sp>
        <p:nvSpPr>
          <p:cNvPr id="14" name="Text 12"/>
          <p:cNvSpPr/>
          <p:nvPr/>
        </p:nvSpPr>
        <p:spPr>
          <a:xfrm>
            <a:off x="4581144" y="1207008"/>
            <a:ext cx="2011680" cy="64008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Webcam</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(Employee Camera)</a:t>
            </a:r>
            <a:endParaRPr lang="en-US" sz="1000" dirty="0"/>
          </a:p>
        </p:txBody>
      </p:sp>
      <p:sp>
        <p:nvSpPr>
          <p:cNvPr id="15" name="Shape 13"/>
          <p:cNvSpPr/>
          <p:nvPr/>
        </p:nvSpPr>
        <p:spPr>
          <a:xfrm>
            <a:off x="6757416" y="1207008"/>
            <a:ext cx="2011680" cy="640080"/>
          </a:xfrm>
          <a:prstGeom prst="roundRect">
            <a:avLst>
              <a:gd name="adj" fmla="val 10000"/>
            </a:avLst>
          </a:prstGeom>
          <a:solidFill>
            <a:srgbClr val="E3F2FD"/>
          </a:solidFill>
          <a:ln w="10160">
            <a:solidFill>
              <a:srgbClr val="0D2B55"/>
            </a:solidFill>
            <a:prstDash val="solid"/>
          </a:ln>
        </p:spPr>
      </p:sp>
      <p:sp>
        <p:nvSpPr>
          <p:cNvPr id="16" name="Text 14"/>
          <p:cNvSpPr/>
          <p:nvPr/>
        </p:nvSpPr>
        <p:spPr>
          <a:xfrm>
            <a:off x="6757416" y="1207008"/>
            <a:ext cx="2011680" cy="64008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Employee PC</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(Workload Monitor)</a:t>
            </a:r>
            <a:endParaRPr lang="en-US" sz="1000" dirty="0"/>
          </a:p>
        </p:txBody>
      </p:sp>
      <p:sp>
        <p:nvSpPr>
          <p:cNvPr id="17" name="Shape 15"/>
          <p:cNvSpPr/>
          <p:nvPr/>
        </p:nvSpPr>
        <p:spPr>
          <a:xfrm>
            <a:off x="4572000" y="1874520"/>
            <a:ext cx="0" cy="164592"/>
          </a:xfrm>
          <a:prstGeom prst="line">
            <a:avLst/>
          </a:prstGeom>
          <a:noFill/>
          <a:ln w="19050">
            <a:solidFill>
              <a:srgbClr val="1E88E5"/>
            </a:solidFill>
            <a:prstDash val="dash"/>
          </a:ln>
        </p:spPr>
      </p:sp>
      <p:sp>
        <p:nvSpPr>
          <p:cNvPr id="18" name="Shape 16"/>
          <p:cNvSpPr/>
          <p:nvPr/>
        </p:nvSpPr>
        <p:spPr>
          <a:xfrm>
            <a:off x="182880" y="2057400"/>
            <a:ext cx="8778240" cy="256032"/>
          </a:xfrm>
          <a:prstGeom prst="rect">
            <a:avLst/>
          </a:prstGeom>
          <a:solidFill>
            <a:srgbClr val="1565C0"/>
          </a:solidFill>
          <a:ln/>
        </p:spPr>
      </p:sp>
      <p:sp>
        <p:nvSpPr>
          <p:cNvPr id="19" name="Text 17"/>
          <p:cNvSpPr/>
          <p:nvPr/>
        </p:nvSpPr>
        <p:spPr>
          <a:xfrm>
            <a:off x="182880" y="2057400"/>
            <a:ext cx="877824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COMMUNICATION &amp; PROCESSING LAYER</a:t>
            </a:r>
            <a:endParaRPr lang="en-US" sz="1000" dirty="0"/>
          </a:p>
        </p:txBody>
      </p:sp>
      <p:sp>
        <p:nvSpPr>
          <p:cNvPr id="20" name="Shape 18"/>
          <p:cNvSpPr/>
          <p:nvPr/>
        </p:nvSpPr>
        <p:spPr>
          <a:xfrm>
            <a:off x="228600" y="2350008"/>
            <a:ext cx="2011680" cy="640080"/>
          </a:xfrm>
          <a:prstGeom prst="roundRect">
            <a:avLst>
              <a:gd name="adj" fmla="val 10000"/>
            </a:avLst>
          </a:prstGeom>
          <a:solidFill>
            <a:srgbClr val="E3F2FD"/>
          </a:solidFill>
          <a:ln w="12700">
            <a:solidFill>
              <a:srgbClr val="00ACC1"/>
            </a:solidFill>
            <a:prstDash val="solid"/>
          </a:ln>
          <a:effectLst>
            <a:outerShdw blurRad="76200" dist="25400" dir="8100000" algn="bl" rotWithShape="0">
              <a:srgbClr val="000000">
                <a:alpha val="12000"/>
              </a:srgbClr>
            </a:outerShdw>
          </a:effectLst>
        </p:spPr>
      </p:sp>
      <p:sp>
        <p:nvSpPr>
          <p:cNvPr id="21" name="Shape 19"/>
          <p:cNvSpPr/>
          <p:nvPr/>
        </p:nvSpPr>
        <p:spPr>
          <a:xfrm>
            <a:off x="228600" y="2350008"/>
            <a:ext cx="2011680" cy="54864"/>
          </a:xfrm>
          <a:prstGeom prst="rect">
            <a:avLst/>
          </a:prstGeom>
          <a:solidFill>
            <a:srgbClr val="00ACC1"/>
          </a:solidFill>
          <a:ln/>
        </p:spPr>
      </p:sp>
      <p:sp>
        <p:nvSpPr>
          <p:cNvPr id="22" name="Text 20"/>
          <p:cNvSpPr/>
          <p:nvPr/>
        </p:nvSpPr>
        <p:spPr>
          <a:xfrm>
            <a:off x="228600" y="2350008"/>
            <a:ext cx="2011680" cy="640080"/>
          </a:xfrm>
          <a:prstGeom prst="rect">
            <a:avLst/>
          </a:prstGeom>
          <a:noFill/>
          <a:ln/>
        </p:spPr>
        <p:txBody>
          <a:bodyPr wrap="square"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HiveMQ Cloud</a:t>
            </a:r>
            <a:endParaRPr lang="en-US" sz="1000" dirty="0"/>
          </a:p>
          <a:p>
            <a:pPr marL="0" indent="0" algn="ctr">
              <a:buNone/>
            </a:pPr>
            <a:r>
              <a:rPr lang="en-US" sz="1000" dirty="0">
                <a:solidFill>
                  <a:srgbClr val="1A1A2E"/>
                </a:solidFill>
                <a:latin typeface="Calibri" pitchFamily="34" charset="0"/>
                <a:ea typeface="Calibri" pitchFamily="34" charset="-122"/>
                <a:cs typeface="Calibri" pitchFamily="34" charset="-120"/>
              </a:rPr>
              <a:t>(MQTT/TLS)</a:t>
            </a:r>
            <a:endParaRPr lang="en-US" sz="1000" dirty="0"/>
          </a:p>
        </p:txBody>
      </p:sp>
      <p:sp>
        <p:nvSpPr>
          <p:cNvPr id="23" name="Shape 21"/>
          <p:cNvSpPr/>
          <p:nvPr/>
        </p:nvSpPr>
        <p:spPr>
          <a:xfrm>
            <a:off x="2404872" y="2350008"/>
            <a:ext cx="2011680" cy="640080"/>
          </a:xfrm>
          <a:prstGeom prst="roundRect">
            <a:avLst>
              <a:gd name="adj" fmla="val 10000"/>
            </a:avLst>
          </a:prstGeom>
          <a:solidFill>
            <a:srgbClr val="E3F2FD"/>
          </a:solidFill>
          <a:ln w="12700">
            <a:solidFill>
              <a:srgbClr val="00ACC1"/>
            </a:solidFill>
            <a:prstDash val="solid"/>
          </a:ln>
          <a:effectLst>
            <a:outerShdw blurRad="76200" dist="25400" dir="8100000" algn="bl" rotWithShape="0">
              <a:srgbClr val="000000">
                <a:alpha val="12000"/>
              </a:srgbClr>
            </a:outerShdw>
          </a:effectLst>
        </p:spPr>
      </p:sp>
      <p:sp>
        <p:nvSpPr>
          <p:cNvPr id="24" name="Shape 22"/>
          <p:cNvSpPr/>
          <p:nvPr/>
        </p:nvSpPr>
        <p:spPr>
          <a:xfrm>
            <a:off x="2404872" y="2350008"/>
            <a:ext cx="2011680" cy="54864"/>
          </a:xfrm>
          <a:prstGeom prst="rect">
            <a:avLst/>
          </a:prstGeom>
          <a:solidFill>
            <a:srgbClr val="00ACC1"/>
          </a:solidFill>
          <a:ln/>
        </p:spPr>
      </p:sp>
      <p:sp>
        <p:nvSpPr>
          <p:cNvPr id="25" name="Text 23"/>
          <p:cNvSpPr/>
          <p:nvPr/>
        </p:nvSpPr>
        <p:spPr>
          <a:xfrm>
            <a:off x="2404872" y="2350008"/>
            <a:ext cx="2011680" cy="640080"/>
          </a:xfrm>
          <a:prstGeom prst="rect">
            <a:avLst/>
          </a:prstGeom>
          <a:noFill/>
          <a:ln/>
        </p:spPr>
        <p:txBody>
          <a:bodyPr wrap="square"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Flask Backend</a:t>
            </a:r>
            <a:endParaRPr lang="en-US" sz="1000" dirty="0"/>
          </a:p>
          <a:p>
            <a:pPr marL="0" indent="0" algn="ctr">
              <a:buNone/>
            </a:pPr>
            <a:r>
              <a:rPr lang="en-US" sz="1000" dirty="0">
                <a:solidFill>
                  <a:srgbClr val="1A1A2E"/>
                </a:solidFill>
                <a:latin typeface="Calibri" pitchFamily="34" charset="0"/>
                <a:ea typeface="Calibri" pitchFamily="34" charset="-122"/>
                <a:cs typeface="Calibri" pitchFamily="34" charset="-120"/>
              </a:rPr>
              <a:t>(Energy Optimizer)</a:t>
            </a:r>
            <a:endParaRPr lang="en-US" sz="1000" dirty="0"/>
          </a:p>
        </p:txBody>
      </p:sp>
      <p:sp>
        <p:nvSpPr>
          <p:cNvPr id="26" name="Shape 24"/>
          <p:cNvSpPr/>
          <p:nvPr/>
        </p:nvSpPr>
        <p:spPr>
          <a:xfrm>
            <a:off x="4581144" y="2350008"/>
            <a:ext cx="2011680" cy="640080"/>
          </a:xfrm>
          <a:prstGeom prst="roundRect">
            <a:avLst>
              <a:gd name="adj" fmla="val 10000"/>
            </a:avLst>
          </a:prstGeom>
          <a:solidFill>
            <a:srgbClr val="E3F2FD"/>
          </a:solidFill>
          <a:ln w="12700">
            <a:solidFill>
              <a:srgbClr val="1565C0"/>
            </a:solidFill>
            <a:prstDash val="solid"/>
          </a:ln>
          <a:effectLst>
            <a:outerShdw blurRad="76200" dist="25400" dir="8100000" algn="bl" rotWithShape="0">
              <a:srgbClr val="000000">
                <a:alpha val="12000"/>
              </a:srgbClr>
            </a:outerShdw>
          </a:effectLst>
        </p:spPr>
      </p:sp>
      <p:sp>
        <p:nvSpPr>
          <p:cNvPr id="27" name="Shape 25"/>
          <p:cNvSpPr/>
          <p:nvPr/>
        </p:nvSpPr>
        <p:spPr>
          <a:xfrm>
            <a:off x="4581144" y="2350008"/>
            <a:ext cx="2011680" cy="54864"/>
          </a:xfrm>
          <a:prstGeom prst="rect">
            <a:avLst/>
          </a:prstGeom>
          <a:solidFill>
            <a:srgbClr val="1565C0"/>
          </a:solidFill>
          <a:ln/>
        </p:spPr>
      </p:sp>
      <p:sp>
        <p:nvSpPr>
          <p:cNvPr id="28" name="Text 26"/>
          <p:cNvSpPr/>
          <p:nvPr/>
        </p:nvSpPr>
        <p:spPr>
          <a:xfrm>
            <a:off x="4581144" y="2350008"/>
            <a:ext cx="2011680" cy="640080"/>
          </a:xfrm>
          <a:prstGeom prst="rect">
            <a:avLst/>
          </a:prstGeom>
          <a:noFill/>
          <a:ln/>
        </p:spPr>
        <p:txBody>
          <a:bodyPr wrap="square"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Flask REST API</a:t>
            </a:r>
            <a:endParaRPr lang="en-US" sz="1000" dirty="0"/>
          </a:p>
          <a:p>
            <a:pPr marL="0" indent="0" algn="ctr">
              <a:buNone/>
            </a:pPr>
            <a:r>
              <a:rPr lang="en-US" sz="1000" dirty="0">
                <a:solidFill>
                  <a:srgbClr val="1A1A2E"/>
                </a:solidFill>
                <a:latin typeface="Calibri" pitchFamily="34" charset="0"/>
                <a:ea typeface="Calibri" pitchFamily="34" charset="-122"/>
                <a:cs typeface="Calibri" pitchFamily="34" charset="-120"/>
              </a:rPr>
              <a:t>(Bandwidth Allocator)</a:t>
            </a:r>
            <a:endParaRPr lang="en-US" sz="1000" dirty="0"/>
          </a:p>
        </p:txBody>
      </p:sp>
      <p:sp>
        <p:nvSpPr>
          <p:cNvPr id="29" name="Shape 27"/>
          <p:cNvSpPr/>
          <p:nvPr/>
        </p:nvSpPr>
        <p:spPr>
          <a:xfrm>
            <a:off x="6757416" y="2350008"/>
            <a:ext cx="2011680" cy="640080"/>
          </a:xfrm>
          <a:prstGeom prst="roundRect">
            <a:avLst>
              <a:gd name="adj" fmla="val 10000"/>
            </a:avLst>
          </a:prstGeom>
          <a:solidFill>
            <a:srgbClr val="E3F2FD"/>
          </a:solidFill>
          <a:ln w="12700">
            <a:solidFill>
              <a:srgbClr val="1E88E5"/>
            </a:solidFill>
            <a:prstDash val="solid"/>
          </a:ln>
          <a:effectLst>
            <a:outerShdw blurRad="76200" dist="25400" dir="8100000" algn="bl" rotWithShape="0">
              <a:srgbClr val="000000">
                <a:alpha val="12000"/>
              </a:srgbClr>
            </a:outerShdw>
          </a:effectLst>
        </p:spPr>
      </p:sp>
      <p:sp>
        <p:nvSpPr>
          <p:cNvPr id="30" name="Shape 28"/>
          <p:cNvSpPr/>
          <p:nvPr/>
        </p:nvSpPr>
        <p:spPr>
          <a:xfrm>
            <a:off x="6757416" y="2350008"/>
            <a:ext cx="2011680" cy="54864"/>
          </a:xfrm>
          <a:prstGeom prst="rect">
            <a:avLst/>
          </a:prstGeom>
          <a:solidFill>
            <a:srgbClr val="1E88E5"/>
          </a:solidFill>
          <a:ln/>
        </p:spPr>
      </p:sp>
      <p:sp>
        <p:nvSpPr>
          <p:cNvPr id="31" name="Text 29"/>
          <p:cNvSpPr/>
          <p:nvPr/>
        </p:nvSpPr>
        <p:spPr>
          <a:xfrm>
            <a:off x="6757416" y="2350008"/>
            <a:ext cx="2011680" cy="640080"/>
          </a:xfrm>
          <a:prstGeom prst="rect">
            <a:avLst/>
          </a:prstGeom>
          <a:noFill/>
          <a:ln/>
        </p:spPr>
        <p:txBody>
          <a:bodyPr wrap="square"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FastAPI Backend</a:t>
            </a:r>
            <a:endParaRPr lang="en-US" sz="1000" dirty="0"/>
          </a:p>
          <a:p>
            <a:pPr marL="0" indent="0" algn="ctr">
              <a:buNone/>
            </a:pPr>
            <a:r>
              <a:rPr lang="en-US" sz="1000" dirty="0">
                <a:solidFill>
                  <a:srgbClr val="1A1A2E"/>
                </a:solidFill>
                <a:latin typeface="Calibri" pitchFamily="34" charset="0"/>
                <a:ea typeface="Calibri" pitchFamily="34" charset="-122"/>
                <a:cs typeface="Calibri" pitchFamily="34" charset="-120"/>
              </a:rPr>
              <a:t>(Smart Office)</a:t>
            </a:r>
            <a:endParaRPr lang="en-US" sz="1000" dirty="0"/>
          </a:p>
        </p:txBody>
      </p:sp>
      <p:sp>
        <p:nvSpPr>
          <p:cNvPr id="32" name="Shape 30"/>
          <p:cNvSpPr/>
          <p:nvPr/>
        </p:nvSpPr>
        <p:spPr>
          <a:xfrm>
            <a:off x="182880" y="3063240"/>
            <a:ext cx="8778240" cy="256032"/>
          </a:xfrm>
          <a:prstGeom prst="rect">
            <a:avLst/>
          </a:prstGeom>
          <a:solidFill>
            <a:srgbClr val="1E88E5"/>
          </a:solidFill>
          <a:ln/>
        </p:spPr>
      </p:sp>
      <p:sp>
        <p:nvSpPr>
          <p:cNvPr id="33" name="Text 31"/>
          <p:cNvSpPr/>
          <p:nvPr/>
        </p:nvSpPr>
        <p:spPr>
          <a:xfrm>
            <a:off x="182880" y="3063240"/>
            <a:ext cx="877824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ML / AI MODELS LAYER</a:t>
            </a:r>
            <a:endParaRPr lang="en-US" sz="1000" dirty="0"/>
          </a:p>
        </p:txBody>
      </p:sp>
      <p:sp>
        <p:nvSpPr>
          <p:cNvPr id="34" name="Shape 32"/>
          <p:cNvSpPr/>
          <p:nvPr/>
        </p:nvSpPr>
        <p:spPr>
          <a:xfrm>
            <a:off x="228600" y="3355848"/>
            <a:ext cx="2011680" cy="594360"/>
          </a:xfrm>
          <a:prstGeom prst="roundRect">
            <a:avLst>
              <a:gd name="adj" fmla="val 10769"/>
            </a:avLst>
          </a:prstGeom>
          <a:solidFill>
            <a:srgbClr val="E3F2FD"/>
          </a:solidFill>
          <a:ln w="10160">
            <a:solidFill>
              <a:srgbClr val="00ACC1"/>
            </a:solidFill>
            <a:prstDash val="solid"/>
          </a:ln>
        </p:spPr>
      </p:sp>
      <p:sp>
        <p:nvSpPr>
          <p:cNvPr id="35" name="Text 33"/>
          <p:cNvSpPr/>
          <p:nvPr/>
        </p:nvSpPr>
        <p:spPr>
          <a:xfrm>
            <a:off x="228600" y="3355848"/>
            <a:ext cx="2011680" cy="594360"/>
          </a:xfrm>
          <a:prstGeom prst="rect">
            <a:avLst/>
          </a:prstGeom>
          <a:noFill/>
          <a:ln/>
        </p:spPr>
        <p:txBody>
          <a:bodyPr wrap="square"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RF Power Model</a:t>
            </a:r>
            <a:endParaRPr lang="en-US" sz="1000" dirty="0"/>
          </a:p>
          <a:p>
            <a:pPr marL="0" indent="0" algn="ctr">
              <a:buNone/>
            </a:pPr>
            <a:r>
              <a:rPr lang="en-US" sz="1000" dirty="0">
                <a:solidFill>
                  <a:srgbClr val="1A1A2E"/>
                </a:solidFill>
                <a:latin typeface="Calibri" pitchFamily="34" charset="0"/>
                <a:ea typeface="Calibri" pitchFamily="34" charset="-122"/>
                <a:cs typeface="Calibri" pitchFamily="34" charset="-120"/>
              </a:rPr>
              <a:t>(6 classes)</a:t>
            </a:r>
            <a:endParaRPr lang="en-US" sz="1000" dirty="0"/>
          </a:p>
        </p:txBody>
      </p:sp>
      <p:sp>
        <p:nvSpPr>
          <p:cNvPr id="36" name="Shape 34"/>
          <p:cNvSpPr/>
          <p:nvPr/>
        </p:nvSpPr>
        <p:spPr>
          <a:xfrm>
            <a:off x="2404872" y="3355848"/>
            <a:ext cx="2011680" cy="594360"/>
          </a:xfrm>
          <a:prstGeom prst="roundRect">
            <a:avLst>
              <a:gd name="adj" fmla="val 10769"/>
            </a:avLst>
          </a:prstGeom>
          <a:solidFill>
            <a:srgbClr val="E3F2FD"/>
          </a:solidFill>
          <a:ln w="10160">
            <a:solidFill>
              <a:srgbClr val="00ACC1"/>
            </a:solidFill>
            <a:prstDash val="solid"/>
          </a:ln>
        </p:spPr>
      </p:sp>
      <p:sp>
        <p:nvSpPr>
          <p:cNvPr id="37" name="Text 35"/>
          <p:cNvSpPr/>
          <p:nvPr/>
        </p:nvSpPr>
        <p:spPr>
          <a:xfrm>
            <a:off x="2404872" y="3355848"/>
            <a:ext cx="2011680" cy="594360"/>
          </a:xfrm>
          <a:prstGeom prst="rect">
            <a:avLst/>
          </a:prstGeom>
          <a:noFill/>
          <a:ln/>
        </p:spPr>
        <p:txBody>
          <a:bodyPr wrap="square"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RF + Isolation Forest</a:t>
            </a:r>
            <a:endParaRPr lang="en-US" sz="1000" dirty="0"/>
          </a:p>
          <a:p>
            <a:pPr marL="0" indent="0" algn="ctr">
              <a:buNone/>
            </a:pPr>
            <a:r>
              <a:rPr lang="en-US" sz="1000" dirty="0">
                <a:solidFill>
                  <a:srgbClr val="1A1A2E"/>
                </a:solidFill>
                <a:latin typeface="Calibri" pitchFamily="34" charset="0"/>
                <a:ea typeface="Calibri" pitchFamily="34" charset="-122"/>
                <a:cs typeface="Calibri" pitchFamily="34" charset="-120"/>
              </a:rPr>
              <a:t>(Air Safety, 7 classes)</a:t>
            </a:r>
            <a:endParaRPr lang="en-US" sz="1000" dirty="0"/>
          </a:p>
        </p:txBody>
      </p:sp>
      <p:sp>
        <p:nvSpPr>
          <p:cNvPr id="38" name="Shape 36"/>
          <p:cNvSpPr/>
          <p:nvPr/>
        </p:nvSpPr>
        <p:spPr>
          <a:xfrm>
            <a:off x="4581144" y="3355848"/>
            <a:ext cx="2011680" cy="594360"/>
          </a:xfrm>
          <a:prstGeom prst="roundRect">
            <a:avLst>
              <a:gd name="adj" fmla="val 10769"/>
            </a:avLst>
          </a:prstGeom>
          <a:solidFill>
            <a:srgbClr val="E3F2FD"/>
          </a:solidFill>
          <a:ln w="10160">
            <a:solidFill>
              <a:srgbClr val="1565C0"/>
            </a:solidFill>
            <a:prstDash val="solid"/>
          </a:ln>
        </p:spPr>
      </p:sp>
      <p:sp>
        <p:nvSpPr>
          <p:cNvPr id="39" name="Text 37"/>
          <p:cNvSpPr/>
          <p:nvPr/>
        </p:nvSpPr>
        <p:spPr>
          <a:xfrm>
            <a:off x="4581144" y="3355848"/>
            <a:ext cx="2011680" cy="594360"/>
          </a:xfrm>
          <a:prstGeom prst="rect">
            <a:avLst/>
          </a:prstGeom>
          <a:noFill/>
          <a:ln/>
        </p:spPr>
        <p:txBody>
          <a:bodyPr wrap="square"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RF Workload</a:t>
            </a:r>
            <a:endParaRPr lang="en-US" sz="1000" dirty="0"/>
          </a:p>
          <a:p>
            <a:pPr marL="0" indent="0" algn="ctr">
              <a:buNone/>
            </a:pPr>
            <a:r>
              <a:rPr lang="en-US" sz="1000" dirty="0">
                <a:solidFill>
                  <a:srgbClr val="1A1A2E"/>
                </a:solidFill>
                <a:latin typeface="Calibri" pitchFamily="34" charset="0"/>
                <a:ea typeface="Calibri" pitchFamily="34" charset="-122"/>
                <a:cs typeface="Calibri" pitchFamily="34" charset="-120"/>
              </a:rPr>
              <a:t>Classifier</a:t>
            </a:r>
            <a:endParaRPr lang="en-US" sz="1000" dirty="0"/>
          </a:p>
        </p:txBody>
      </p:sp>
      <p:sp>
        <p:nvSpPr>
          <p:cNvPr id="40" name="Shape 38"/>
          <p:cNvSpPr/>
          <p:nvPr/>
        </p:nvSpPr>
        <p:spPr>
          <a:xfrm>
            <a:off x="6757416" y="3355848"/>
            <a:ext cx="2011680" cy="594360"/>
          </a:xfrm>
          <a:prstGeom prst="roundRect">
            <a:avLst>
              <a:gd name="adj" fmla="val 10769"/>
            </a:avLst>
          </a:prstGeom>
          <a:solidFill>
            <a:srgbClr val="E3F2FD"/>
          </a:solidFill>
          <a:ln w="10160">
            <a:solidFill>
              <a:srgbClr val="1E88E5"/>
            </a:solidFill>
            <a:prstDash val="solid"/>
          </a:ln>
        </p:spPr>
      </p:sp>
      <p:sp>
        <p:nvSpPr>
          <p:cNvPr id="41" name="Text 39"/>
          <p:cNvSpPr/>
          <p:nvPr/>
        </p:nvSpPr>
        <p:spPr>
          <a:xfrm>
            <a:off x="6757416" y="3355848"/>
            <a:ext cx="2011680" cy="594360"/>
          </a:xfrm>
          <a:prstGeom prst="rect">
            <a:avLst/>
          </a:prstGeom>
          <a:noFill/>
          <a:ln/>
        </p:spPr>
        <p:txBody>
          <a:bodyPr wrap="square"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CNN / Stress</a:t>
            </a:r>
            <a:endParaRPr lang="en-US" sz="1000" dirty="0"/>
          </a:p>
          <a:p>
            <a:pPr marL="0" indent="0" algn="ctr">
              <a:buNone/>
            </a:pPr>
            <a:r>
              <a:rPr lang="en-US" sz="1000" dirty="0">
                <a:solidFill>
                  <a:srgbClr val="1A1A2E"/>
                </a:solidFill>
                <a:latin typeface="Calibri" pitchFamily="34" charset="0"/>
                <a:ea typeface="Calibri" pitchFamily="34" charset="-122"/>
                <a:cs typeface="Calibri" pitchFamily="34" charset="-120"/>
              </a:rPr>
              <a:t>Detection Model</a:t>
            </a:r>
            <a:endParaRPr lang="en-US" sz="1000" dirty="0"/>
          </a:p>
        </p:txBody>
      </p:sp>
      <p:sp>
        <p:nvSpPr>
          <p:cNvPr id="42" name="Shape 40"/>
          <p:cNvSpPr/>
          <p:nvPr/>
        </p:nvSpPr>
        <p:spPr>
          <a:xfrm>
            <a:off x="182880" y="4041648"/>
            <a:ext cx="8778240" cy="640080"/>
          </a:xfrm>
          <a:prstGeom prst="rect">
            <a:avLst/>
          </a:prstGeom>
          <a:solidFill>
            <a:srgbClr val="0D2B55"/>
          </a:solidFill>
          <a:ln/>
          <a:effectLst>
            <a:outerShdw blurRad="76200" dist="25400" dir="8100000" algn="bl" rotWithShape="0">
              <a:srgbClr val="000000">
                <a:alpha val="12000"/>
              </a:srgbClr>
            </a:outerShdw>
          </a:effectLst>
        </p:spPr>
      </p:sp>
      <p:sp>
        <p:nvSpPr>
          <p:cNvPr id="43" name="Text 41"/>
          <p:cNvSpPr/>
          <p:nvPr/>
        </p:nvSpPr>
        <p:spPr>
          <a:xfrm>
            <a:off x="182880" y="4041648"/>
            <a:ext cx="877824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UNIFIED SMART DASHBOARD  —  Admin View  |  Employee View  |  Real-Time WebSocket Updates</a:t>
            </a:r>
            <a:endParaRPr lang="en-US" sz="1300" dirty="0"/>
          </a:p>
        </p:txBody>
      </p:sp>
      <p:sp>
        <p:nvSpPr>
          <p:cNvPr id="44" name="Shape 42"/>
          <p:cNvSpPr/>
          <p:nvPr/>
        </p:nvSpPr>
        <p:spPr>
          <a:xfrm>
            <a:off x="0" y="4956048"/>
            <a:ext cx="9144000" cy="192024"/>
          </a:xfrm>
          <a:prstGeom prst="rect">
            <a:avLst/>
          </a:prstGeom>
          <a:solidFill>
            <a:srgbClr val="0D2B55"/>
          </a:solidFill>
          <a:ln/>
        </p:spPr>
      </p:sp>
      <p:sp>
        <p:nvSpPr>
          <p:cNvPr id="45" name="Text 43"/>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46" name="Text 44"/>
          <p:cNvSpPr/>
          <p:nvPr/>
        </p:nvSpPr>
        <p:spPr>
          <a:xfrm>
            <a:off x="3657600" y="4965192"/>
            <a:ext cx="3657600" cy="173736"/>
          </a:xfrm>
          <a:prstGeom prst="rect">
            <a:avLst/>
          </a:prstGeom>
          <a:noFill/>
          <a:ln/>
        </p:spPr>
        <p:txBody>
          <a:bodyPr wrap="square" rtlCol="0" anchor="ctr"/>
          <a:lstStyle/>
          <a:p>
            <a:pPr marL="0" indent="0" algn="ctr">
              <a:buNone/>
            </a:pPr>
            <a:endParaRPr lang="en-US" sz="800" dirty="0"/>
          </a:p>
        </p:txBody>
      </p:sp>
      <p:sp>
        <p:nvSpPr>
          <p:cNvPr id="47" name="Text 45"/>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B55"/>
          </a:solidFill>
          <a:ln/>
        </p:spPr>
      </p:sp>
      <p:sp>
        <p:nvSpPr>
          <p:cNvPr id="3" name="Shape 1"/>
          <p:cNvSpPr/>
          <p:nvPr/>
        </p:nvSpPr>
        <p:spPr>
          <a:xfrm>
            <a:off x="0" y="0"/>
            <a:ext cx="73152" cy="822960"/>
          </a:xfrm>
          <a:prstGeom prst="rect">
            <a:avLst/>
          </a:prstGeom>
          <a:solidFill>
            <a:srgbClr val="1E88E5"/>
          </a:solidFill>
          <a:ln/>
        </p:spPr>
      </p:sp>
      <p:sp>
        <p:nvSpPr>
          <p:cNvPr id="4" name="Text 2"/>
          <p:cNvSpPr/>
          <p:nvPr/>
        </p:nvSpPr>
        <p:spPr>
          <a:xfrm>
            <a:off x="182880" y="73152"/>
            <a:ext cx="82296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Dynamic Bandwidth Allocator</a:t>
            </a:r>
            <a:endParaRPr lang="en-US" sz="2000" dirty="0"/>
          </a:p>
        </p:txBody>
      </p:sp>
      <p:sp>
        <p:nvSpPr>
          <p:cNvPr id="5" name="Text 3"/>
          <p:cNvSpPr/>
          <p:nvPr/>
        </p:nvSpPr>
        <p:spPr>
          <a:xfrm>
            <a:off x="182880" y="475488"/>
            <a:ext cx="8229600" cy="292608"/>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Component 1  |  Shaethayine. R  |  IT22315700</a:t>
            </a:r>
            <a:endParaRPr lang="en-US" sz="1100" dirty="0"/>
          </a:p>
        </p:txBody>
      </p:sp>
      <p:sp>
        <p:nvSpPr>
          <p:cNvPr id="6" name="Text 4"/>
          <p:cNvSpPr/>
          <p:nvPr/>
        </p:nvSpPr>
        <p:spPr>
          <a:xfrm>
            <a:off x="5943600" y="0"/>
            <a:ext cx="3108960" cy="384048"/>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AI &amp; IoT Smart Office System  |  SLIIT</a:t>
            </a:r>
            <a:endParaRPr lang="en-US" sz="800" dirty="0"/>
          </a:p>
        </p:txBody>
      </p:sp>
      <p:sp>
        <p:nvSpPr>
          <p:cNvPr id="7" name="Shape 5"/>
          <p:cNvSpPr/>
          <p:nvPr/>
        </p:nvSpPr>
        <p:spPr>
          <a:xfrm>
            <a:off x="182880" y="932688"/>
            <a:ext cx="1572768" cy="566928"/>
          </a:xfrm>
          <a:prstGeom prst="roundRect">
            <a:avLst>
              <a:gd name="adj" fmla="val 11290"/>
            </a:avLst>
          </a:prstGeom>
          <a:solidFill>
            <a:srgbClr val="E3F2FD"/>
          </a:solidFill>
          <a:ln w="12700">
            <a:solidFill>
              <a:srgbClr val="1565C0"/>
            </a:solidFill>
            <a:prstDash val="solid"/>
          </a:ln>
        </p:spPr>
      </p:sp>
      <p:sp>
        <p:nvSpPr>
          <p:cNvPr id="8" name="Shape 6"/>
          <p:cNvSpPr/>
          <p:nvPr/>
        </p:nvSpPr>
        <p:spPr>
          <a:xfrm>
            <a:off x="182880" y="932688"/>
            <a:ext cx="1572768" cy="64008"/>
          </a:xfrm>
          <a:prstGeom prst="rect">
            <a:avLst/>
          </a:prstGeom>
          <a:solidFill>
            <a:srgbClr val="1565C0"/>
          </a:solidFill>
          <a:ln/>
        </p:spPr>
      </p:sp>
      <p:sp>
        <p:nvSpPr>
          <p:cNvPr id="9" name="Text 7"/>
          <p:cNvSpPr/>
          <p:nvPr/>
        </p:nvSpPr>
        <p:spPr>
          <a:xfrm>
            <a:off x="182880" y="932688"/>
            <a:ext cx="1572768" cy="566928"/>
          </a:xfrm>
          <a:prstGeom prst="rect">
            <a:avLst/>
          </a:prstGeom>
          <a:noFill/>
          <a:ln/>
        </p:spPr>
        <p:txBody>
          <a:bodyPr wrap="square" rtlCol="0" anchor="ctr"/>
          <a:lstStyle/>
          <a:p>
            <a:pPr marL="0" indent="0" algn="ctr">
              <a:buNone/>
            </a:pPr>
            <a:r>
              <a:rPr lang="en-US" sz="1000" b="1" dirty="0">
                <a:solidFill>
                  <a:srgbClr val="0D2B55"/>
                </a:solidFill>
                <a:latin typeface="Calibri" pitchFamily="34" charset="0"/>
                <a:ea typeface="Calibri" pitchFamily="34" charset="-122"/>
                <a:cs typeface="Calibri" pitchFamily="34" charset="-120"/>
              </a:rPr>
              <a:t>Workload</a:t>
            </a:r>
            <a:endParaRPr lang="en-US" sz="1000" dirty="0"/>
          </a:p>
          <a:p>
            <a:pPr marL="0" indent="0" algn="ctr">
              <a:buNone/>
            </a:pPr>
            <a:r>
              <a:rPr lang="en-US" sz="1000" b="1" dirty="0">
                <a:solidFill>
                  <a:srgbClr val="0D2B55"/>
                </a:solidFill>
                <a:latin typeface="Calibri" pitchFamily="34" charset="0"/>
                <a:ea typeface="Calibri" pitchFamily="34" charset="-122"/>
                <a:cs typeface="Calibri" pitchFamily="34" charset="-120"/>
              </a:rPr>
              <a:t>Monitor</a:t>
            </a:r>
            <a:endParaRPr lang="en-US" sz="1000" dirty="0"/>
          </a:p>
        </p:txBody>
      </p:sp>
      <p:sp>
        <p:nvSpPr>
          <p:cNvPr id="10" name="Shape 8"/>
          <p:cNvSpPr/>
          <p:nvPr/>
        </p:nvSpPr>
        <p:spPr>
          <a:xfrm>
            <a:off x="1755648" y="1216152"/>
            <a:ext cx="182880" cy="0"/>
          </a:xfrm>
          <a:prstGeom prst="line">
            <a:avLst/>
          </a:prstGeom>
          <a:noFill/>
          <a:ln w="19050">
            <a:solidFill>
              <a:srgbClr val="1565C0"/>
            </a:solidFill>
            <a:prstDash val="solid"/>
          </a:ln>
        </p:spPr>
      </p:sp>
      <p:sp>
        <p:nvSpPr>
          <p:cNvPr id="11" name="Shape 9"/>
          <p:cNvSpPr/>
          <p:nvPr/>
        </p:nvSpPr>
        <p:spPr>
          <a:xfrm>
            <a:off x="1938528" y="932688"/>
            <a:ext cx="1572768" cy="566928"/>
          </a:xfrm>
          <a:prstGeom prst="roundRect">
            <a:avLst>
              <a:gd name="adj" fmla="val 11290"/>
            </a:avLst>
          </a:prstGeom>
          <a:solidFill>
            <a:srgbClr val="E3F2FD"/>
          </a:solidFill>
          <a:ln w="12700">
            <a:solidFill>
              <a:srgbClr val="1565C0"/>
            </a:solidFill>
            <a:prstDash val="solid"/>
          </a:ln>
        </p:spPr>
      </p:sp>
      <p:sp>
        <p:nvSpPr>
          <p:cNvPr id="12" name="Shape 10"/>
          <p:cNvSpPr/>
          <p:nvPr/>
        </p:nvSpPr>
        <p:spPr>
          <a:xfrm>
            <a:off x="1938528" y="932688"/>
            <a:ext cx="1572768" cy="64008"/>
          </a:xfrm>
          <a:prstGeom prst="rect">
            <a:avLst/>
          </a:prstGeom>
          <a:solidFill>
            <a:srgbClr val="1565C0"/>
          </a:solidFill>
          <a:ln/>
        </p:spPr>
      </p:sp>
      <p:sp>
        <p:nvSpPr>
          <p:cNvPr id="13" name="Text 11"/>
          <p:cNvSpPr/>
          <p:nvPr/>
        </p:nvSpPr>
        <p:spPr>
          <a:xfrm>
            <a:off x="1938528" y="932688"/>
            <a:ext cx="1572768" cy="566928"/>
          </a:xfrm>
          <a:prstGeom prst="rect">
            <a:avLst/>
          </a:prstGeom>
          <a:noFill/>
          <a:ln/>
        </p:spPr>
        <p:txBody>
          <a:bodyPr wrap="square" rtlCol="0" anchor="ctr"/>
          <a:lstStyle/>
          <a:p>
            <a:pPr marL="0" indent="0" algn="ctr">
              <a:buNone/>
            </a:pPr>
            <a:r>
              <a:rPr lang="en-US" sz="1000" b="1" dirty="0">
                <a:solidFill>
                  <a:srgbClr val="0D2B55"/>
                </a:solidFill>
                <a:latin typeface="Calibri" pitchFamily="34" charset="0"/>
                <a:ea typeface="Calibri" pitchFamily="34" charset="-122"/>
                <a:cs typeface="Calibri" pitchFamily="34" charset="-120"/>
              </a:rPr>
              <a:t>Feature</a:t>
            </a:r>
            <a:endParaRPr lang="en-US" sz="1000" dirty="0"/>
          </a:p>
          <a:p>
            <a:pPr marL="0" indent="0" algn="ctr">
              <a:buNone/>
            </a:pPr>
            <a:r>
              <a:rPr lang="en-US" sz="1000" b="1" dirty="0">
                <a:solidFill>
                  <a:srgbClr val="0D2B55"/>
                </a:solidFill>
                <a:latin typeface="Calibri" pitchFamily="34" charset="0"/>
                <a:ea typeface="Calibri" pitchFamily="34" charset="-122"/>
                <a:cs typeface="Calibri" pitchFamily="34" charset="-120"/>
              </a:rPr>
              <a:t>Engineering</a:t>
            </a:r>
            <a:endParaRPr lang="en-US" sz="1000" dirty="0"/>
          </a:p>
        </p:txBody>
      </p:sp>
      <p:sp>
        <p:nvSpPr>
          <p:cNvPr id="14" name="Shape 12"/>
          <p:cNvSpPr/>
          <p:nvPr/>
        </p:nvSpPr>
        <p:spPr>
          <a:xfrm>
            <a:off x="3511296" y="1216152"/>
            <a:ext cx="182880" cy="0"/>
          </a:xfrm>
          <a:prstGeom prst="line">
            <a:avLst/>
          </a:prstGeom>
          <a:noFill/>
          <a:ln w="19050">
            <a:solidFill>
              <a:srgbClr val="1565C0"/>
            </a:solidFill>
            <a:prstDash val="solid"/>
          </a:ln>
        </p:spPr>
      </p:sp>
      <p:sp>
        <p:nvSpPr>
          <p:cNvPr id="15" name="Shape 13"/>
          <p:cNvSpPr/>
          <p:nvPr/>
        </p:nvSpPr>
        <p:spPr>
          <a:xfrm>
            <a:off x="3694176" y="932688"/>
            <a:ext cx="1572768" cy="566928"/>
          </a:xfrm>
          <a:prstGeom prst="roundRect">
            <a:avLst>
              <a:gd name="adj" fmla="val 11290"/>
            </a:avLst>
          </a:prstGeom>
          <a:solidFill>
            <a:srgbClr val="E3F2FD"/>
          </a:solidFill>
          <a:ln w="12700">
            <a:solidFill>
              <a:srgbClr val="1565C0"/>
            </a:solidFill>
            <a:prstDash val="solid"/>
          </a:ln>
        </p:spPr>
      </p:sp>
      <p:sp>
        <p:nvSpPr>
          <p:cNvPr id="16" name="Shape 14"/>
          <p:cNvSpPr/>
          <p:nvPr/>
        </p:nvSpPr>
        <p:spPr>
          <a:xfrm>
            <a:off x="3694176" y="932688"/>
            <a:ext cx="1572768" cy="64008"/>
          </a:xfrm>
          <a:prstGeom prst="rect">
            <a:avLst/>
          </a:prstGeom>
          <a:solidFill>
            <a:srgbClr val="1565C0"/>
          </a:solidFill>
          <a:ln/>
        </p:spPr>
      </p:sp>
      <p:sp>
        <p:nvSpPr>
          <p:cNvPr id="17" name="Text 15"/>
          <p:cNvSpPr/>
          <p:nvPr/>
        </p:nvSpPr>
        <p:spPr>
          <a:xfrm>
            <a:off x="3694176" y="932688"/>
            <a:ext cx="1572768" cy="566928"/>
          </a:xfrm>
          <a:prstGeom prst="rect">
            <a:avLst/>
          </a:prstGeom>
          <a:noFill/>
          <a:ln/>
        </p:spPr>
        <p:txBody>
          <a:bodyPr wrap="square" rtlCol="0" anchor="ctr"/>
          <a:lstStyle/>
          <a:p>
            <a:pPr marL="0" indent="0" algn="ctr">
              <a:buNone/>
            </a:pPr>
            <a:r>
              <a:rPr lang="en-US" sz="1000" b="1" dirty="0">
                <a:solidFill>
                  <a:srgbClr val="0D2B55"/>
                </a:solidFill>
                <a:latin typeface="Calibri" pitchFamily="34" charset="0"/>
                <a:ea typeface="Calibri" pitchFamily="34" charset="-122"/>
                <a:cs typeface="Calibri" pitchFamily="34" charset="-120"/>
              </a:rPr>
              <a:t>RF Workload</a:t>
            </a:r>
            <a:endParaRPr lang="en-US" sz="1000" dirty="0"/>
          </a:p>
          <a:p>
            <a:pPr marL="0" indent="0" algn="ctr">
              <a:buNone/>
            </a:pPr>
            <a:r>
              <a:rPr lang="en-US" sz="1000" b="1" dirty="0">
                <a:solidFill>
                  <a:srgbClr val="0D2B55"/>
                </a:solidFill>
                <a:latin typeface="Calibri" pitchFamily="34" charset="0"/>
                <a:ea typeface="Calibri" pitchFamily="34" charset="-122"/>
                <a:cs typeface="Calibri" pitchFamily="34" charset="-120"/>
              </a:rPr>
              <a:t>Classifier , Regressor</a:t>
            </a:r>
            <a:endParaRPr lang="en-US" sz="1000" dirty="0"/>
          </a:p>
        </p:txBody>
      </p:sp>
      <p:sp>
        <p:nvSpPr>
          <p:cNvPr id="18" name="Shape 16"/>
          <p:cNvSpPr/>
          <p:nvPr/>
        </p:nvSpPr>
        <p:spPr>
          <a:xfrm>
            <a:off x="5266944" y="1216152"/>
            <a:ext cx="182880" cy="0"/>
          </a:xfrm>
          <a:prstGeom prst="line">
            <a:avLst/>
          </a:prstGeom>
          <a:noFill/>
          <a:ln w="19050">
            <a:solidFill>
              <a:srgbClr val="1565C0"/>
            </a:solidFill>
            <a:prstDash val="solid"/>
          </a:ln>
        </p:spPr>
      </p:sp>
      <p:sp>
        <p:nvSpPr>
          <p:cNvPr id="19" name="Shape 17"/>
          <p:cNvSpPr/>
          <p:nvPr/>
        </p:nvSpPr>
        <p:spPr>
          <a:xfrm>
            <a:off x="5449824" y="932688"/>
            <a:ext cx="1572768" cy="566928"/>
          </a:xfrm>
          <a:prstGeom prst="roundRect">
            <a:avLst>
              <a:gd name="adj" fmla="val 11290"/>
            </a:avLst>
          </a:prstGeom>
          <a:solidFill>
            <a:srgbClr val="E3F2FD"/>
          </a:solidFill>
          <a:ln w="12700">
            <a:solidFill>
              <a:srgbClr val="1565C0"/>
            </a:solidFill>
            <a:prstDash val="solid"/>
          </a:ln>
        </p:spPr>
      </p:sp>
      <p:sp>
        <p:nvSpPr>
          <p:cNvPr id="20" name="Shape 18"/>
          <p:cNvSpPr/>
          <p:nvPr/>
        </p:nvSpPr>
        <p:spPr>
          <a:xfrm>
            <a:off x="5449824" y="932688"/>
            <a:ext cx="1572768" cy="64008"/>
          </a:xfrm>
          <a:prstGeom prst="rect">
            <a:avLst/>
          </a:prstGeom>
          <a:solidFill>
            <a:srgbClr val="1565C0"/>
          </a:solidFill>
          <a:ln/>
        </p:spPr>
      </p:sp>
      <p:sp>
        <p:nvSpPr>
          <p:cNvPr id="21" name="Text 19"/>
          <p:cNvSpPr/>
          <p:nvPr/>
        </p:nvSpPr>
        <p:spPr>
          <a:xfrm>
            <a:off x="5449824" y="932688"/>
            <a:ext cx="1572768" cy="566928"/>
          </a:xfrm>
          <a:prstGeom prst="rect">
            <a:avLst/>
          </a:prstGeom>
          <a:noFill/>
          <a:ln/>
        </p:spPr>
        <p:txBody>
          <a:bodyPr wrap="square" rtlCol="0" anchor="ctr"/>
          <a:lstStyle/>
          <a:p>
            <a:pPr marL="0" indent="0" algn="ctr">
              <a:buNone/>
            </a:pPr>
            <a:r>
              <a:rPr lang="en-US" sz="1000" b="1" dirty="0">
                <a:solidFill>
                  <a:srgbClr val="0D2B55"/>
                </a:solidFill>
                <a:latin typeface="Calibri" pitchFamily="34" charset="0"/>
                <a:ea typeface="Calibri" pitchFamily="34" charset="-122"/>
                <a:cs typeface="Calibri" pitchFamily="34" charset="-120"/>
              </a:rPr>
              <a:t>QoS</a:t>
            </a:r>
            <a:endParaRPr lang="en-US" sz="1000" dirty="0"/>
          </a:p>
          <a:p>
            <a:pPr marL="0" indent="0" algn="ctr">
              <a:buNone/>
            </a:pPr>
            <a:r>
              <a:rPr lang="en-US" sz="1000" b="1" dirty="0">
                <a:solidFill>
                  <a:srgbClr val="0D2B55"/>
                </a:solidFill>
                <a:latin typeface="Calibri" pitchFamily="34" charset="0"/>
                <a:ea typeface="Calibri" pitchFamily="34" charset="-122"/>
                <a:cs typeface="Calibri" pitchFamily="34" charset="-120"/>
              </a:rPr>
              <a:t>Policy Engine</a:t>
            </a:r>
            <a:endParaRPr lang="en-US" sz="1000" dirty="0"/>
          </a:p>
        </p:txBody>
      </p:sp>
      <p:sp>
        <p:nvSpPr>
          <p:cNvPr id="22" name="Shape 20"/>
          <p:cNvSpPr/>
          <p:nvPr/>
        </p:nvSpPr>
        <p:spPr>
          <a:xfrm>
            <a:off x="7022592" y="1216152"/>
            <a:ext cx="182880" cy="0"/>
          </a:xfrm>
          <a:prstGeom prst="line">
            <a:avLst/>
          </a:prstGeom>
          <a:noFill/>
          <a:ln w="19050">
            <a:solidFill>
              <a:srgbClr val="1565C0"/>
            </a:solidFill>
            <a:prstDash val="solid"/>
          </a:ln>
        </p:spPr>
      </p:sp>
      <p:sp>
        <p:nvSpPr>
          <p:cNvPr id="23" name="Shape 21"/>
          <p:cNvSpPr/>
          <p:nvPr/>
        </p:nvSpPr>
        <p:spPr>
          <a:xfrm>
            <a:off x="7205472" y="932688"/>
            <a:ext cx="1572768" cy="566928"/>
          </a:xfrm>
          <a:prstGeom prst="roundRect">
            <a:avLst>
              <a:gd name="adj" fmla="val 11290"/>
            </a:avLst>
          </a:prstGeom>
          <a:solidFill>
            <a:srgbClr val="E3F2FD"/>
          </a:solidFill>
          <a:ln w="12700">
            <a:solidFill>
              <a:srgbClr val="1565C0"/>
            </a:solidFill>
            <a:prstDash val="solid"/>
          </a:ln>
        </p:spPr>
      </p:sp>
      <p:sp>
        <p:nvSpPr>
          <p:cNvPr id="24" name="Shape 22"/>
          <p:cNvSpPr/>
          <p:nvPr/>
        </p:nvSpPr>
        <p:spPr>
          <a:xfrm>
            <a:off x="7205472" y="932688"/>
            <a:ext cx="1572768" cy="64008"/>
          </a:xfrm>
          <a:prstGeom prst="rect">
            <a:avLst/>
          </a:prstGeom>
          <a:solidFill>
            <a:srgbClr val="1565C0"/>
          </a:solidFill>
          <a:ln/>
        </p:spPr>
      </p:sp>
      <p:sp>
        <p:nvSpPr>
          <p:cNvPr id="25" name="Text 23"/>
          <p:cNvSpPr/>
          <p:nvPr/>
        </p:nvSpPr>
        <p:spPr>
          <a:xfrm>
            <a:off x="7205472" y="932688"/>
            <a:ext cx="1572768" cy="566928"/>
          </a:xfrm>
          <a:prstGeom prst="rect">
            <a:avLst/>
          </a:prstGeom>
          <a:noFill/>
          <a:ln/>
        </p:spPr>
        <p:txBody>
          <a:bodyPr wrap="square" rtlCol="0" anchor="ctr"/>
          <a:lstStyle/>
          <a:p>
            <a:pPr marL="0" indent="0" algn="ctr">
              <a:buNone/>
            </a:pPr>
            <a:r>
              <a:rPr lang="en-US" sz="1000" b="1" dirty="0">
                <a:solidFill>
                  <a:srgbClr val="0D2B55"/>
                </a:solidFill>
                <a:latin typeface="Calibri" pitchFamily="34" charset="0"/>
                <a:ea typeface="Calibri" pitchFamily="34" charset="-122"/>
                <a:cs typeface="Calibri" pitchFamily="34" charset="-120"/>
              </a:rPr>
              <a:t>Linux TC</a:t>
            </a:r>
            <a:endParaRPr lang="en-US" sz="1000" dirty="0"/>
          </a:p>
          <a:p>
            <a:pPr marL="0" indent="0" algn="ctr">
              <a:buNone/>
            </a:pPr>
            <a:r>
              <a:rPr lang="en-US" sz="1000" b="1" dirty="0">
                <a:solidFill>
                  <a:srgbClr val="0D2B55"/>
                </a:solidFill>
                <a:latin typeface="Calibri" pitchFamily="34" charset="0"/>
                <a:ea typeface="Calibri" pitchFamily="34" charset="-122"/>
                <a:cs typeface="Calibri" pitchFamily="34" charset="-120"/>
              </a:rPr>
              <a:t>Enforcement</a:t>
            </a:r>
            <a:endParaRPr lang="en-US" sz="1000" dirty="0"/>
          </a:p>
        </p:txBody>
      </p:sp>
      <p:sp>
        <p:nvSpPr>
          <p:cNvPr id="26" name="Shape 24"/>
          <p:cNvSpPr/>
          <p:nvPr/>
        </p:nvSpPr>
        <p:spPr>
          <a:xfrm>
            <a:off x="182880" y="1600200"/>
            <a:ext cx="4297680" cy="3200400"/>
          </a:xfrm>
          <a:prstGeom prst="rect">
            <a:avLst/>
          </a:prstGeom>
          <a:solidFill>
            <a:srgbClr val="E3F2FD"/>
          </a:solidFill>
          <a:ln w="6350">
            <a:solidFill>
              <a:srgbClr val="0D2B55"/>
            </a:solidFill>
            <a:prstDash val="solid"/>
          </a:ln>
          <a:effectLst>
            <a:outerShdw blurRad="76200" dist="25400" dir="8100000" algn="bl" rotWithShape="0">
              <a:srgbClr val="000000">
                <a:alpha val="12000"/>
              </a:srgbClr>
            </a:outerShdw>
          </a:effectLst>
        </p:spPr>
      </p:sp>
      <p:sp>
        <p:nvSpPr>
          <p:cNvPr id="27" name="Shape 25"/>
          <p:cNvSpPr/>
          <p:nvPr/>
        </p:nvSpPr>
        <p:spPr>
          <a:xfrm>
            <a:off x="182880" y="1600200"/>
            <a:ext cx="4297680" cy="256032"/>
          </a:xfrm>
          <a:prstGeom prst="rect">
            <a:avLst/>
          </a:prstGeom>
          <a:solidFill>
            <a:srgbClr val="0D2B55"/>
          </a:solidFill>
          <a:ln/>
        </p:spPr>
      </p:sp>
      <p:sp>
        <p:nvSpPr>
          <p:cNvPr id="28" name="Text 26"/>
          <p:cNvSpPr/>
          <p:nvPr/>
        </p:nvSpPr>
        <p:spPr>
          <a:xfrm>
            <a:off x="274320" y="1600200"/>
            <a:ext cx="420624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How It Works</a:t>
            </a:r>
            <a:endParaRPr lang="en-US" sz="1000" dirty="0"/>
          </a:p>
        </p:txBody>
      </p:sp>
      <p:sp>
        <p:nvSpPr>
          <p:cNvPr id="29" name="Text 27"/>
          <p:cNvSpPr/>
          <p:nvPr/>
        </p:nvSpPr>
        <p:spPr>
          <a:xfrm>
            <a:off x="320040" y="1920240"/>
            <a:ext cx="4069080" cy="228600"/>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Data Collected per Employee:</a:t>
            </a:r>
            <a:endParaRPr lang="en-US" sz="1100" dirty="0"/>
          </a:p>
        </p:txBody>
      </p:sp>
      <p:sp>
        <p:nvSpPr>
          <p:cNvPr id="30" name="Text 28"/>
          <p:cNvSpPr/>
          <p:nvPr/>
        </p:nvSpPr>
        <p:spPr>
          <a:xfrm>
            <a:off x="320040" y="2148840"/>
            <a:ext cx="4069080" cy="960120"/>
          </a:xfrm>
          <a:prstGeom prst="rect">
            <a:avLst/>
          </a:prstGeom>
          <a:noFill/>
          <a:ln/>
        </p:spPr>
        <p:txBody>
          <a:bodyPr wrap="square" rtlCol="0" anchor="t"/>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CPU usage (%), RAM usage (%), Disk I/O</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Network I/O — upload &amp; download bytes</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Active applications count</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Stress level (received from Smart Office API)</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Time of day, day of week context</a:t>
            </a:r>
            <a:endParaRPr lang="en-US" sz="1000" dirty="0"/>
          </a:p>
        </p:txBody>
      </p:sp>
      <p:sp>
        <p:nvSpPr>
          <p:cNvPr id="31" name="Shape 29"/>
          <p:cNvSpPr/>
          <p:nvPr/>
        </p:nvSpPr>
        <p:spPr>
          <a:xfrm>
            <a:off x="320040" y="3154680"/>
            <a:ext cx="4069080" cy="27432"/>
          </a:xfrm>
          <a:prstGeom prst="rect">
            <a:avLst/>
          </a:prstGeom>
          <a:solidFill>
            <a:srgbClr val="90CAF9"/>
          </a:solidFill>
          <a:ln/>
        </p:spPr>
      </p:sp>
      <p:sp>
        <p:nvSpPr>
          <p:cNvPr id="32" name="Text 30"/>
          <p:cNvSpPr/>
          <p:nvPr/>
        </p:nvSpPr>
        <p:spPr>
          <a:xfrm>
            <a:off x="320040" y="3227832"/>
            <a:ext cx="4069080" cy="228600"/>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QoS Bandwidth Policy:</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20040" y="3493008"/>
          <a:ext cx="4069080" cy="1170432"/>
        </p:xfrm>
        <a:graphic>
          <a:graphicData uri="http://schemas.openxmlformats.org/drawingml/2006/table">
            <a:tbl>
              <a:tblPr/>
              <a:tblGrid>
                <a:gridCol w="1356360">
                  <a:extLst>
                    <a:ext uri="{9D8B030D-6E8A-4147-A177-3AD203B41FA5}">
                      <a16:colId xmlns:a16="http://schemas.microsoft.com/office/drawing/2014/main" val="20000"/>
                    </a:ext>
                  </a:extLst>
                </a:gridCol>
                <a:gridCol w="1356360">
                  <a:extLst>
                    <a:ext uri="{9D8B030D-6E8A-4147-A177-3AD203B41FA5}">
                      <a16:colId xmlns:a16="http://schemas.microsoft.com/office/drawing/2014/main" val="20001"/>
                    </a:ext>
                  </a:extLst>
                </a:gridCol>
                <a:gridCol w="1356360">
                  <a:extLst>
                    <a:ext uri="{9D8B030D-6E8A-4147-A177-3AD203B41FA5}">
                      <a16:colId xmlns:a16="http://schemas.microsoft.com/office/drawing/2014/main" val="20002"/>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Workload</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5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Bandwidth</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5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Priority</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55"/>
                    </a:solidFill>
                  </a:tcPr>
                </a:tc>
                <a:extLst>
                  <a:ext uri="{0D108BD9-81ED-4DB2-BD59-A6C34878D82A}">
                    <a16:rowId xmlns:a16="http://schemas.microsoft.com/office/drawing/2014/main" val="10000"/>
                  </a:ext>
                </a:extLst>
              </a:tr>
              <a:tr h="292608">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25 – 50 Mbps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Highest (1)</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1"/>
                  </a:ext>
                </a:extLst>
              </a:tr>
              <a:tr h="292608">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10 – 25 Mbps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Normal (2)</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2"/>
                  </a:ext>
                </a:extLst>
              </a:tr>
              <a:tr h="292608">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 – 10 Mbps</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Low (3)</a:t>
                      </a:r>
                      <a:endParaRPr lang="en-US" sz="11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3"/>
                  </a:ext>
                </a:extLst>
              </a:tr>
            </a:tbl>
          </a:graphicData>
        </a:graphic>
      </p:graphicFrame>
      <p:sp>
        <p:nvSpPr>
          <p:cNvPr id="34" name="Shape 31"/>
          <p:cNvSpPr/>
          <p:nvPr/>
        </p:nvSpPr>
        <p:spPr>
          <a:xfrm>
            <a:off x="4663440" y="1600200"/>
            <a:ext cx="4297680" cy="1508760"/>
          </a:xfrm>
          <a:prstGeom prst="rect">
            <a:avLst/>
          </a:prstGeom>
          <a:solidFill>
            <a:srgbClr val="E3F2FD"/>
          </a:solidFill>
          <a:ln w="6350">
            <a:solidFill>
              <a:srgbClr val="1E88E5"/>
            </a:solidFill>
            <a:prstDash val="solid"/>
          </a:ln>
          <a:effectLst>
            <a:outerShdw blurRad="76200" dist="25400" dir="8100000" algn="bl" rotWithShape="0">
              <a:srgbClr val="000000">
                <a:alpha val="12000"/>
              </a:srgbClr>
            </a:outerShdw>
          </a:effectLst>
        </p:spPr>
      </p:sp>
      <p:sp>
        <p:nvSpPr>
          <p:cNvPr id="35" name="Shape 32"/>
          <p:cNvSpPr/>
          <p:nvPr/>
        </p:nvSpPr>
        <p:spPr>
          <a:xfrm>
            <a:off x="4663440" y="1600200"/>
            <a:ext cx="4297680" cy="256032"/>
          </a:xfrm>
          <a:prstGeom prst="rect">
            <a:avLst/>
          </a:prstGeom>
          <a:solidFill>
            <a:srgbClr val="1E88E5"/>
          </a:solidFill>
          <a:ln/>
        </p:spPr>
      </p:sp>
      <p:sp>
        <p:nvSpPr>
          <p:cNvPr id="36" name="Text 33"/>
          <p:cNvSpPr/>
          <p:nvPr/>
        </p:nvSpPr>
        <p:spPr>
          <a:xfrm>
            <a:off x="4754880" y="1600200"/>
            <a:ext cx="420624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Tech Stack</a:t>
            </a:r>
            <a:endParaRPr lang="en-US" sz="1000" dirty="0"/>
          </a:p>
        </p:txBody>
      </p:sp>
      <p:sp>
        <p:nvSpPr>
          <p:cNvPr id="37" name="Text 34"/>
          <p:cNvSpPr/>
          <p:nvPr/>
        </p:nvSpPr>
        <p:spPr>
          <a:xfrm>
            <a:off x="4773168" y="1920240"/>
            <a:ext cx="4096512" cy="1115568"/>
          </a:xfrm>
          <a:prstGeom prst="rect">
            <a:avLst/>
          </a:prstGeom>
          <a:noFill/>
          <a:ln/>
        </p:spPr>
        <p:txBody>
          <a:bodyPr wrap="square" rtlCol="0" anchor="t"/>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Flask + Flask-SocketIO (backend REST API)</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Random Forest Classifier + Linear Regressor</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scikit-learn + NumPy + Pandas + joblib</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SQLite database (bandwidth.db)</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Linux Traffic Control (tc) for QoS</a:t>
            </a:r>
            <a:endParaRPr lang="en-US" sz="1000" dirty="0"/>
          </a:p>
        </p:txBody>
      </p:sp>
      <p:sp>
        <p:nvSpPr>
          <p:cNvPr id="38" name="Shape 35"/>
          <p:cNvSpPr/>
          <p:nvPr/>
        </p:nvSpPr>
        <p:spPr>
          <a:xfrm>
            <a:off x="4663440" y="3218688"/>
            <a:ext cx="4297680" cy="1581912"/>
          </a:xfrm>
          <a:prstGeom prst="rect">
            <a:avLst/>
          </a:prstGeom>
          <a:solidFill>
            <a:srgbClr val="E3F2FD"/>
          </a:solidFill>
          <a:ln w="6350">
            <a:solidFill>
              <a:srgbClr val="00ACC1"/>
            </a:solidFill>
            <a:prstDash val="solid"/>
          </a:ln>
          <a:effectLst>
            <a:outerShdw blurRad="76200" dist="25400" dir="8100000" algn="bl" rotWithShape="0">
              <a:srgbClr val="000000">
                <a:alpha val="12000"/>
              </a:srgbClr>
            </a:outerShdw>
          </a:effectLst>
        </p:spPr>
      </p:sp>
      <p:sp>
        <p:nvSpPr>
          <p:cNvPr id="39" name="Shape 36"/>
          <p:cNvSpPr/>
          <p:nvPr/>
        </p:nvSpPr>
        <p:spPr>
          <a:xfrm>
            <a:off x="4663440" y="3218688"/>
            <a:ext cx="4297680" cy="256032"/>
          </a:xfrm>
          <a:prstGeom prst="rect">
            <a:avLst/>
          </a:prstGeom>
          <a:solidFill>
            <a:srgbClr val="00ACC1"/>
          </a:solidFill>
          <a:ln/>
        </p:spPr>
      </p:sp>
      <p:sp>
        <p:nvSpPr>
          <p:cNvPr id="40" name="Text 37"/>
          <p:cNvSpPr/>
          <p:nvPr/>
        </p:nvSpPr>
        <p:spPr>
          <a:xfrm>
            <a:off x="4754880" y="3218688"/>
            <a:ext cx="420624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Partner Integration</a:t>
            </a:r>
            <a:endParaRPr lang="en-US" sz="1000" dirty="0"/>
          </a:p>
        </p:txBody>
      </p:sp>
      <p:sp>
        <p:nvSpPr>
          <p:cNvPr id="41" name="Text 38"/>
          <p:cNvSpPr/>
          <p:nvPr/>
        </p:nvSpPr>
        <p:spPr>
          <a:xfrm>
            <a:off x="4773168" y="3538728"/>
            <a:ext cx="4096512" cy="228600"/>
          </a:xfrm>
          <a:prstGeom prst="rect">
            <a:avLst/>
          </a:prstGeom>
          <a:noFill/>
          <a:ln/>
        </p:spPr>
        <p:txBody>
          <a:bodyPr wrap="square" rtlCol="0" anchor="ctr"/>
          <a:lstStyle/>
          <a:p>
            <a:pPr marL="0" indent="0">
              <a:buNone/>
            </a:pPr>
            <a:r>
              <a:rPr lang="en-US" sz="1000" b="1" dirty="0">
                <a:solidFill>
                  <a:srgbClr val="0D2B55"/>
                </a:solidFill>
                <a:latin typeface="Calibri" pitchFamily="34" charset="0"/>
                <a:ea typeface="Calibri" pitchFamily="34" charset="-122"/>
                <a:cs typeface="Calibri" pitchFamily="34" charset="-120"/>
              </a:rPr>
              <a:t>Receives stress level from Smart Office module:</a:t>
            </a:r>
            <a:endParaRPr lang="en-US" sz="1000" dirty="0"/>
          </a:p>
        </p:txBody>
      </p:sp>
      <p:sp>
        <p:nvSpPr>
          <p:cNvPr id="42" name="Text 39"/>
          <p:cNvSpPr/>
          <p:nvPr/>
        </p:nvSpPr>
        <p:spPr>
          <a:xfrm>
            <a:off x="4773168" y="3767328"/>
            <a:ext cx="4096512" cy="411480"/>
          </a:xfrm>
          <a:prstGeom prst="rect">
            <a:avLst/>
          </a:prstGeom>
          <a:solidFill>
            <a:srgbClr val="EEF6FF"/>
          </a:solidFill>
          <a:ln/>
        </p:spPr>
        <p:txBody>
          <a:bodyPr wrap="square" rtlCol="0" anchor="ctr"/>
          <a:lstStyle/>
          <a:p>
            <a:pPr marL="0" indent="0">
              <a:buNone/>
            </a:pPr>
            <a:r>
              <a:rPr lang="en-US" sz="900" dirty="0">
                <a:solidFill>
                  <a:srgbClr val="1A1A2E"/>
                </a:solidFill>
                <a:latin typeface="Courier New" pitchFamily="34" charset="0"/>
                <a:ea typeface="Courier New" pitchFamily="34" charset="-122"/>
                <a:cs typeface="Courier New" pitchFamily="34" charset="-120"/>
              </a:rPr>
              <a:t>POST /api/stress_input</a:t>
            </a:r>
            <a:endParaRPr lang="en-US" sz="900" dirty="0"/>
          </a:p>
          <a:p>
            <a:pPr marL="0" indent="0">
              <a:buNone/>
            </a:pPr>
            <a:r>
              <a:rPr lang="en-US" sz="900" dirty="0">
                <a:solidFill>
                  <a:srgbClr val="1A1A2E"/>
                </a:solidFill>
                <a:latin typeface="Courier New" pitchFamily="34" charset="0"/>
                <a:ea typeface="Courier New" pitchFamily="34" charset="-122"/>
                <a:cs typeface="Courier New" pitchFamily="34" charset="-120"/>
              </a:rPr>
              <a:t>{ "employee_id": "EMP001", "stress_level": 78 }</a:t>
            </a:r>
            <a:endParaRPr lang="en-US" sz="900" dirty="0"/>
          </a:p>
        </p:txBody>
      </p:sp>
      <p:sp>
        <p:nvSpPr>
          <p:cNvPr id="43" name="Text 40"/>
          <p:cNvSpPr/>
          <p:nvPr/>
        </p:nvSpPr>
        <p:spPr>
          <a:xfrm>
            <a:off x="4773168" y="4224528"/>
            <a:ext cx="4096512" cy="457200"/>
          </a:xfrm>
          <a:prstGeom prst="rect">
            <a:avLst/>
          </a:prstGeom>
          <a:noFill/>
          <a:ln/>
        </p:spPr>
        <p:txBody>
          <a:bodyPr wrap="square" rtlCol="0" anchor="ctr"/>
          <a:lstStyle/>
          <a:p>
            <a:pPr marL="0" indent="0">
              <a:buNone/>
            </a:pPr>
            <a:r>
              <a:rPr lang="en-US" sz="900" dirty="0">
                <a:solidFill>
                  <a:srgbClr val="546E7A"/>
                </a:solidFill>
                <a:latin typeface="Calibri" pitchFamily="34" charset="0"/>
                <a:ea typeface="Calibri" pitchFamily="34" charset="-122"/>
                <a:cs typeface="Calibri" pitchFamily="34" charset="-120"/>
              </a:rPr>
              <a:t>API Endpoints: /api/employees  |  /api/predict  |  /api/simulate_tick  |  /api/stats</a:t>
            </a:r>
            <a:endParaRPr lang="en-US" sz="900" dirty="0"/>
          </a:p>
        </p:txBody>
      </p:sp>
      <p:sp>
        <p:nvSpPr>
          <p:cNvPr id="44" name="Shape 41"/>
          <p:cNvSpPr/>
          <p:nvPr/>
        </p:nvSpPr>
        <p:spPr>
          <a:xfrm>
            <a:off x="0" y="4956048"/>
            <a:ext cx="9144000" cy="192024"/>
          </a:xfrm>
          <a:prstGeom prst="rect">
            <a:avLst/>
          </a:prstGeom>
          <a:solidFill>
            <a:srgbClr val="0D2B55"/>
          </a:solidFill>
          <a:ln/>
        </p:spPr>
      </p:sp>
      <p:sp>
        <p:nvSpPr>
          <p:cNvPr id="45" name="Text 42"/>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46" name="Text 43"/>
          <p:cNvSpPr/>
          <p:nvPr/>
        </p:nvSpPr>
        <p:spPr>
          <a:xfrm>
            <a:off x="3657600" y="4965192"/>
            <a:ext cx="3657600" cy="173736"/>
          </a:xfrm>
          <a:prstGeom prst="rect">
            <a:avLst/>
          </a:prstGeom>
          <a:noFill/>
          <a:ln/>
        </p:spPr>
        <p:txBody>
          <a:bodyPr wrap="square" rtlCol="0" anchor="ctr"/>
          <a:lstStyle/>
          <a:p>
            <a:pPr marL="0" indent="0" algn="ctr">
              <a:buNone/>
            </a:pPr>
            <a:r>
              <a:rPr lang="en-US" sz="800" dirty="0">
                <a:solidFill>
                  <a:srgbClr val="90CAF9"/>
                </a:solidFill>
                <a:latin typeface="Calibri" pitchFamily="34" charset="0"/>
                <a:ea typeface="Calibri" pitchFamily="34" charset="-122"/>
                <a:cs typeface="Calibri" pitchFamily="34" charset="-120"/>
              </a:rPr>
              <a:t>IT22315700  |  Shaethayine. R</a:t>
            </a:r>
            <a:endParaRPr lang="en-US" sz="800" dirty="0"/>
          </a:p>
        </p:txBody>
      </p:sp>
      <p:sp>
        <p:nvSpPr>
          <p:cNvPr id="47" name="Text 44"/>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B55"/>
          </a:solidFill>
          <a:ln/>
        </p:spPr>
      </p:sp>
      <p:sp>
        <p:nvSpPr>
          <p:cNvPr id="3" name="Shape 1"/>
          <p:cNvSpPr/>
          <p:nvPr/>
        </p:nvSpPr>
        <p:spPr>
          <a:xfrm>
            <a:off x="0" y="0"/>
            <a:ext cx="73152" cy="822960"/>
          </a:xfrm>
          <a:prstGeom prst="rect">
            <a:avLst/>
          </a:prstGeom>
          <a:solidFill>
            <a:srgbClr val="1E88E5"/>
          </a:solidFill>
          <a:ln/>
        </p:spPr>
      </p:sp>
      <p:sp>
        <p:nvSpPr>
          <p:cNvPr id="4" name="Text 2"/>
          <p:cNvSpPr/>
          <p:nvPr/>
        </p:nvSpPr>
        <p:spPr>
          <a:xfrm>
            <a:off x="182880" y="73152"/>
            <a:ext cx="82296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Workload Classification — Results &amp; Analysis</a:t>
            </a:r>
            <a:endParaRPr lang="en-US" sz="2000" dirty="0"/>
          </a:p>
        </p:txBody>
      </p:sp>
      <p:sp>
        <p:nvSpPr>
          <p:cNvPr id="5" name="Text 3"/>
          <p:cNvSpPr/>
          <p:nvPr/>
        </p:nvSpPr>
        <p:spPr>
          <a:xfrm>
            <a:off x="182880" y="475488"/>
            <a:ext cx="8229600" cy="292608"/>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Random Forest Workload Classifier  |  42,240 training samples  |  20 employees × 30 days</a:t>
            </a:r>
            <a:endParaRPr lang="en-US" sz="1100" dirty="0"/>
          </a:p>
        </p:txBody>
      </p:sp>
      <p:sp>
        <p:nvSpPr>
          <p:cNvPr id="6" name="Text 4"/>
          <p:cNvSpPr/>
          <p:nvPr/>
        </p:nvSpPr>
        <p:spPr>
          <a:xfrm>
            <a:off x="5943600" y="0"/>
            <a:ext cx="3108960" cy="384048"/>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AI &amp; IoT Smart Office System  |  SLIIT</a:t>
            </a:r>
            <a:endParaRPr lang="en-US" sz="800" dirty="0"/>
          </a:p>
        </p:txBody>
      </p:sp>
      <p:sp>
        <p:nvSpPr>
          <p:cNvPr id="7" name="Shape 5"/>
          <p:cNvSpPr/>
          <p:nvPr/>
        </p:nvSpPr>
        <p:spPr>
          <a:xfrm>
            <a:off x="182880" y="932688"/>
            <a:ext cx="1371600" cy="530352"/>
          </a:xfrm>
          <a:prstGeom prst="roundRect">
            <a:avLst>
              <a:gd name="adj" fmla="val 10345"/>
            </a:avLst>
          </a:prstGeom>
          <a:solidFill>
            <a:srgbClr val="E3F2FD"/>
          </a:solidFill>
          <a:ln w="6350">
            <a:solidFill>
              <a:srgbClr val="1565C0"/>
            </a:solidFill>
            <a:prstDash val="solid"/>
          </a:ln>
        </p:spPr>
      </p:sp>
      <p:sp>
        <p:nvSpPr>
          <p:cNvPr id="8" name="Text 6"/>
          <p:cNvSpPr/>
          <p:nvPr/>
        </p:nvSpPr>
        <p:spPr>
          <a:xfrm>
            <a:off x="182880" y="950976"/>
            <a:ext cx="1371600" cy="201168"/>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Train Accuracy</a:t>
            </a:r>
            <a:endParaRPr lang="en-US" sz="800" dirty="0"/>
          </a:p>
        </p:txBody>
      </p:sp>
      <p:sp>
        <p:nvSpPr>
          <p:cNvPr id="9" name="Text 7"/>
          <p:cNvSpPr/>
          <p:nvPr/>
        </p:nvSpPr>
        <p:spPr>
          <a:xfrm>
            <a:off x="182880" y="1143000"/>
            <a:ext cx="1371600" cy="274320"/>
          </a:xfrm>
          <a:prstGeom prst="rect">
            <a:avLst/>
          </a:prstGeom>
          <a:noFill/>
          <a:ln/>
        </p:spPr>
        <p:txBody>
          <a:bodyPr wrap="square" rtlCol="0" anchor="ctr"/>
          <a:lstStyle/>
          <a:p>
            <a:pPr marL="0" indent="0" algn="ctr">
              <a:buNone/>
            </a:pPr>
            <a:r>
              <a:rPr lang="en-US" sz="1600" b="1" dirty="0">
                <a:solidFill>
                  <a:srgbClr val="0D2B55"/>
                </a:solidFill>
                <a:latin typeface="Calibri" pitchFamily="34" charset="0"/>
                <a:ea typeface="Calibri" pitchFamily="34" charset="-122"/>
                <a:cs typeface="Calibri" pitchFamily="34" charset="-120"/>
              </a:rPr>
              <a:t>88.94%</a:t>
            </a:r>
            <a:endParaRPr lang="en-US" sz="1600" dirty="0"/>
          </a:p>
        </p:txBody>
      </p:sp>
      <p:sp>
        <p:nvSpPr>
          <p:cNvPr id="10" name="Shape 8"/>
          <p:cNvSpPr/>
          <p:nvPr/>
        </p:nvSpPr>
        <p:spPr>
          <a:xfrm>
            <a:off x="1664208" y="932688"/>
            <a:ext cx="1371600" cy="530352"/>
          </a:xfrm>
          <a:prstGeom prst="roundRect">
            <a:avLst>
              <a:gd name="adj" fmla="val 10345"/>
            </a:avLst>
          </a:prstGeom>
          <a:solidFill>
            <a:srgbClr val="E3F2FD"/>
          </a:solidFill>
          <a:ln w="6350">
            <a:solidFill>
              <a:srgbClr val="1565C0"/>
            </a:solidFill>
            <a:prstDash val="solid"/>
          </a:ln>
        </p:spPr>
      </p:sp>
      <p:sp>
        <p:nvSpPr>
          <p:cNvPr id="11" name="Text 9"/>
          <p:cNvSpPr/>
          <p:nvPr/>
        </p:nvSpPr>
        <p:spPr>
          <a:xfrm>
            <a:off x="1664208" y="950976"/>
            <a:ext cx="1371600" cy="201168"/>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Test Accuracy</a:t>
            </a:r>
            <a:endParaRPr lang="en-US" sz="800" dirty="0"/>
          </a:p>
        </p:txBody>
      </p:sp>
      <p:sp>
        <p:nvSpPr>
          <p:cNvPr id="12" name="Text 10"/>
          <p:cNvSpPr/>
          <p:nvPr/>
        </p:nvSpPr>
        <p:spPr>
          <a:xfrm>
            <a:off x="1664208" y="1143000"/>
            <a:ext cx="1371600" cy="274320"/>
          </a:xfrm>
          <a:prstGeom prst="rect">
            <a:avLst/>
          </a:prstGeom>
          <a:noFill/>
          <a:ln/>
        </p:spPr>
        <p:txBody>
          <a:bodyPr wrap="square" rtlCol="0" anchor="ctr"/>
          <a:lstStyle/>
          <a:p>
            <a:pPr marL="0" indent="0" algn="ctr">
              <a:buNone/>
            </a:pPr>
            <a:r>
              <a:rPr lang="en-US" sz="1600" b="1" dirty="0">
                <a:solidFill>
                  <a:srgbClr val="0D2B55"/>
                </a:solidFill>
                <a:latin typeface="Calibri" pitchFamily="34" charset="0"/>
                <a:ea typeface="Calibri" pitchFamily="34" charset="-122"/>
                <a:cs typeface="Calibri" pitchFamily="34" charset="-120"/>
              </a:rPr>
              <a:t>88.75%</a:t>
            </a:r>
            <a:endParaRPr lang="en-US" sz="1600" dirty="0"/>
          </a:p>
        </p:txBody>
      </p:sp>
      <p:sp>
        <p:nvSpPr>
          <p:cNvPr id="13" name="Shape 11"/>
          <p:cNvSpPr/>
          <p:nvPr/>
        </p:nvSpPr>
        <p:spPr>
          <a:xfrm>
            <a:off x="3145536" y="932688"/>
            <a:ext cx="1371600" cy="530352"/>
          </a:xfrm>
          <a:prstGeom prst="roundRect">
            <a:avLst>
              <a:gd name="adj" fmla="val 10345"/>
            </a:avLst>
          </a:prstGeom>
          <a:solidFill>
            <a:srgbClr val="E3F2FD"/>
          </a:solidFill>
          <a:ln w="6350">
            <a:solidFill>
              <a:srgbClr val="1565C0"/>
            </a:solidFill>
            <a:prstDash val="solid"/>
          </a:ln>
        </p:spPr>
      </p:sp>
      <p:sp>
        <p:nvSpPr>
          <p:cNvPr id="14" name="Text 12"/>
          <p:cNvSpPr/>
          <p:nvPr/>
        </p:nvSpPr>
        <p:spPr>
          <a:xfrm>
            <a:off x="3145536" y="950976"/>
            <a:ext cx="1371600" cy="201168"/>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Precision</a:t>
            </a:r>
            <a:endParaRPr lang="en-US" sz="800" dirty="0"/>
          </a:p>
        </p:txBody>
      </p:sp>
      <p:sp>
        <p:nvSpPr>
          <p:cNvPr id="15" name="Text 13"/>
          <p:cNvSpPr/>
          <p:nvPr/>
        </p:nvSpPr>
        <p:spPr>
          <a:xfrm>
            <a:off x="3145536" y="1143000"/>
            <a:ext cx="1371600" cy="274320"/>
          </a:xfrm>
          <a:prstGeom prst="rect">
            <a:avLst/>
          </a:prstGeom>
          <a:noFill/>
          <a:ln/>
        </p:spPr>
        <p:txBody>
          <a:bodyPr wrap="square" rtlCol="0" anchor="ctr"/>
          <a:lstStyle/>
          <a:p>
            <a:pPr marL="0" indent="0" algn="ctr">
              <a:buNone/>
            </a:pPr>
            <a:r>
              <a:rPr lang="en-US" sz="1600" b="1" dirty="0">
                <a:solidFill>
                  <a:srgbClr val="0D2B55"/>
                </a:solidFill>
                <a:latin typeface="Calibri" pitchFamily="34" charset="0"/>
                <a:ea typeface="Calibri" pitchFamily="34" charset="-122"/>
                <a:cs typeface="Calibri" pitchFamily="34" charset="-120"/>
              </a:rPr>
              <a:t>93.61%</a:t>
            </a:r>
            <a:endParaRPr lang="en-US" sz="1600" dirty="0"/>
          </a:p>
        </p:txBody>
      </p:sp>
      <p:sp>
        <p:nvSpPr>
          <p:cNvPr id="16" name="Shape 14"/>
          <p:cNvSpPr/>
          <p:nvPr/>
        </p:nvSpPr>
        <p:spPr>
          <a:xfrm>
            <a:off x="4626864" y="932688"/>
            <a:ext cx="1371600" cy="530352"/>
          </a:xfrm>
          <a:prstGeom prst="roundRect">
            <a:avLst>
              <a:gd name="adj" fmla="val 10345"/>
            </a:avLst>
          </a:prstGeom>
          <a:solidFill>
            <a:srgbClr val="E3F2FD"/>
          </a:solidFill>
          <a:ln w="6350">
            <a:solidFill>
              <a:srgbClr val="1565C0"/>
            </a:solidFill>
            <a:prstDash val="solid"/>
          </a:ln>
        </p:spPr>
      </p:sp>
      <p:sp>
        <p:nvSpPr>
          <p:cNvPr id="17" name="Text 15"/>
          <p:cNvSpPr/>
          <p:nvPr/>
        </p:nvSpPr>
        <p:spPr>
          <a:xfrm>
            <a:off x="4626864" y="950976"/>
            <a:ext cx="1371600" cy="201168"/>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Recall</a:t>
            </a:r>
            <a:endParaRPr lang="en-US" sz="800" dirty="0"/>
          </a:p>
        </p:txBody>
      </p:sp>
      <p:sp>
        <p:nvSpPr>
          <p:cNvPr id="18" name="Text 16"/>
          <p:cNvSpPr/>
          <p:nvPr/>
        </p:nvSpPr>
        <p:spPr>
          <a:xfrm>
            <a:off x="4626864" y="1143000"/>
            <a:ext cx="1371600" cy="274320"/>
          </a:xfrm>
          <a:prstGeom prst="rect">
            <a:avLst/>
          </a:prstGeom>
          <a:noFill/>
          <a:ln/>
        </p:spPr>
        <p:txBody>
          <a:bodyPr wrap="square" rtlCol="0" anchor="ctr"/>
          <a:lstStyle/>
          <a:p>
            <a:pPr marL="0" indent="0" algn="ctr">
              <a:buNone/>
            </a:pPr>
            <a:r>
              <a:rPr lang="en-US" sz="1600" b="1" dirty="0">
                <a:solidFill>
                  <a:srgbClr val="0D2B55"/>
                </a:solidFill>
                <a:latin typeface="Calibri" pitchFamily="34" charset="0"/>
                <a:ea typeface="Calibri" pitchFamily="34" charset="-122"/>
                <a:cs typeface="Calibri" pitchFamily="34" charset="-120"/>
              </a:rPr>
              <a:t>88.75%</a:t>
            </a:r>
            <a:endParaRPr lang="en-US" sz="1600" dirty="0"/>
          </a:p>
        </p:txBody>
      </p:sp>
      <p:sp>
        <p:nvSpPr>
          <p:cNvPr id="19" name="Shape 17"/>
          <p:cNvSpPr/>
          <p:nvPr/>
        </p:nvSpPr>
        <p:spPr>
          <a:xfrm>
            <a:off x="6108192" y="932688"/>
            <a:ext cx="1371600" cy="530352"/>
          </a:xfrm>
          <a:prstGeom prst="roundRect">
            <a:avLst>
              <a:gd name="adj" fmla="val 10345"/>
            </a:avLst>
          </a:prstGeom>
          <a:solidFill>
            <a:srgbClr val="E3F2FD"/>
          </a:solidFill>
          <a:ln w="6350">
            <a:solidFill>
              <a:srgbClr val="1565C0"/>
            </a:solidFill>
            <a:prstDash val="solid"/>
          </a:ln>
        </p:spPr>
      </p:sp>
      <p:sp>
        <p:nvSpPr>
          <p:cNvPr id="20" name="Text 18"/>
          <p:cNvSpPr/>
          <p:nvPr/>
        </p:nvSpPr>
        <p:spPr>
          <a:xfrm>
            <a:off x="6108192" y="950976"/>
            <a:ext cx="1371600" cy="201168"/>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F1 Score</a:t>
            </a:r>
            <a:endParaRPr lang="en-US" sz="800" dirty="0"/>
          </a:p>
        </p:txBody>
      </p:sp>
      <p:sp>
        <p:nvSpPr>
          <p:cNvPr id="21" name="Text 19"/>
          <p:cNvSpPr/>
          <p:nvPr/>
        </p:nvSpPr>
        <p:spPr>
          <a:xfrm>
            <a:off x="6108192" y="1143000"/>
            <a:ext cx="1371600" cy="274320"/>
          </a:xfrm>
          <a:prstGeom prst="rect">
            <a:avLst/>
          </a:prstGeom>
          <a:noFill/>
          <a:ln/>
        </p:spPr>
        <p:txBody>
          <a:bodyPr wrap="square" rtlCol="0" anchor="ctr"/>
          <a:lstStyle/>
          <a:p>
            <a:pPr marL="0" indent="0" algn="ctr">
              <a:buNone/>
            </a:pPr>
            <a:r>
              <a:rPr lang="en-US" sz="1600" b="1" dirty="0">
                <a:solidFill>
                  <a:srgbClr val="0D2B55"/>
                </a:solidFill>
                <a:latin typeface="Calibri" pitchFamily="34" charset="0"/>
                <a:ea typeface="Calibri" pitchFamily="34" charset="-122"/>
                <a:cs typeface="Calibri" pitchFamily="34" charset="-120"/>
              </a:rPr>
              <a:t>89.95%</a:t>
            </a:r>
            <a:endParaRPr lang="en-US" sz="1600" dirty="0"/>
          </a:p>
        </p:txBody>
      </p:sp>
      <p:sp>
        <p:nvSpPr>
          <p:cNvPr id="22" name="Shape 20"/>
          <p:cNvSpPr/>
          <p:nvPr/>
        </p:nvSpPr>
        <p:spPr>
          <a:xfrm>
            <a:off x="7589520" y="932688"/>
            <a:ext cx="1371600" cy="530352"/>
          </a:xfrm>
          <a:prstGeom prst="roundRect">
            <a:avLst>
              <a:gd name="adj" fmla="val 10345"/>
            </a:avLst>
          </a:prstGeom>
          <a:solidFill>
            <a:srgbClr val="E3F2FD"/>
          </a:solidFill>
          <a:ln w="6350">
            <a:solidFill>
              <a:srgbClr val="1565C0"/>
            </a:solidFill>
            <a:prstDash val="solid"/>
          </a:ln>
        </p:spPr>
      </p:sp>
      <p:sp>
        <p:nvSpPr>
          <p:cNvPr id="23" name="Text 21"/>
          <p:cNvSpPr/>
          <p:nvPr/>
        </p:nvSpPr>
        <p:spPr>
          <a:xfrm>
            <a:off x="7589520" y="950976"/>
            <a:ext cx="1371600" cy="201168"/>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Accuracy Gap</a:t>
            </a:r>
            <a:endParaRPr lang="en-US" sz="800" dirty="0"/>
          </a:p>
        </p:txBody>
      </p:sp>
      <p:sp>
        <p:nvSpPr>
          <p:cNvPr id="24" name="Text 22"/>
          <p:cNvSpPr/>
          <p:nvPr/>
        </p:nvSpPr>
        <p:spPr>
          <a:xfrm>
            <a:off x="7589520" y="1143000"/>
            <a:ext cx="1371600" cy="274320"/>
          </a:xfrm>
          <a:prstGeom prst="rect">
            <a:avLst/>
          </a:prstGeom>
          <a:noFill/>
          <a:ln/>
        </p:spPr>
        <p:txBody>
          <a:bodyPr wrap="square" rtlCol="0" anchor="ctr"/>
          <a:lstStyle/>
          <a:p>
            <a:pPr marL="0" indent="0" algn="ctr">
              <a:buNone/>
            </a:pPr>
            <a:r>
              <a:rPr lang="en-US" sz="1600" b="1" dirty="0">
                <a:solidFill>
                  <a:srgbClr val="0D2B55"/>
                </a:solidFill>
                <a:latin typeface="Calibri" pitchFamily="34" charset="0"/>
                <a:ea typeface="Calibri" pitchFamily="34" charset="-122"/>
                <a:cs typeface="Calibri" pitchFamily="34" charset="-120"/>
              </a:rPr>
              <a:t>0.19%</a:t>
            </a:r>
            <a:endParaRPr lang="en-US" sz="1600" dirty="0"/>
          </a:p>
        </p:txBody>
      </p:sp>
      <p:pic>
        <p:nvPicPr>
          <p:cNvPr id="25" name="Image 0" descr="preencoded.png"/>
          <p:cNvPicPr>
            <a:picLocks noChangeAspect="1"/>
          </p:cNvPicPr>
          <p:nvPr/>
        </p:nvPicPr>
        <p:blipFill>
          <a:blip r:embed="rId3"/>
          <a:stretch>
            <a:fillRect/>
          </a:stretch>
        </p:blipFill>
        <p:spPr>
          <a:xfrm>
            <a:off x="394854" y="1537144"/>
            <a:ext cx="2285361" cy="1680413"/>
          </a:xfrm>
          <a:prstGeom prst="rect">
            <a:avLst/>
          </a:prstGeom>
        </p:spPr>
      </p:pic>
      <p:sp>
        <p:nvSpPr>
          <p:cNvPr id="26" name="Text 23"/>
          <p:cNvSpPr/>
          <p:nvPr/>
        </p:nvSpPr>
        <p:spPr>
          <a:xfrm>
            <a:off x="-124370" y="3235845"/>
            <a:ext cx="3108960" cy="182880"/>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Workload Classifier Confusion Matrix</a:t>
            </a:r>
            <a:endParaRPr lang="en-US" sz="800" dirty="0"/>
          </a:p>
        </p:txBody>
      </p:sp>
      <p:pic>
        <p:nvPicPr>
          <p:cNvPr id="27" name="Image 1" descr="preencoded.png"/>
          <p:cNvPicPr>
            <a:picLocks noChangeAspect="1"/>
          </p:cNvPicPr>
          <p:nvPr/>
        </p:nvPicPr>
        <p:blipFill>
          <a:blip r:embed="rId4"/>
          <a:stretch>
            <a:fillRect/>
          </a:stretch>
        </p:blipFill>
        <p:spPr>
          <a:xfrm>
            <a:off x="3157718" y="1545880"/>
            <a:ext cx="1868285" cy="1668111"/>
          </a:xfrm>
          <a:prstGeom prst="rect">
            <a:avLst/>
          </a:prstGeom>
        </p:spPr>
      </p:pic>
      <p:sp>
        <p:nvSpPr>
          <p:cNvPr id="28" name="Text 24"/>
          <p:cNvSpPr/>
          <p:nvPr/>
        </p:nvSpPr>
        <p:spPr>
          <a:xfrm>
            <a:off x="2811700" y="3232279"/>
            <a:ext cx="2560320" cy="182880"/>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Train vs Test Accuracy</a:t>
            </a:r>
            <a:endParaRPr lang="en-US" sz="800" dirty="0"/>
          </a:p>
        </p:txBody>
      </p:sp>
      <p:sp>
        <p:nvSpPr>
          <p:cNvPr id="29" name="Shape 25"/>
          <p:cNvSpPr/>
          <p:nvPr/>
        </p:nvSpPr>
        <p:spPr>
          <a:xfrm>
            <a:off x="6126480" y="1572768"/>
            <a:ext cx="2834640" cy="2651760"/>
          </a:xfrm>
          <a:prstGeom prst="rect">
            <a:avLst/>
          </a:prstGeom>
          <a:solidFill>
            <a:srgbClr val="E3F2FD"/>
          </a:solidFill>
          <a:ln w="6350">
            <a:solidFill>
              <a:srgbClr val="0D2B55"/>
            </a:solidFill>
            <a:prstDash val="solid"/>
          </a:ln>
          <a:effectLst>
            <a:outerShdw blurRad="76200" dist="25400" dir="8100000" algn="bl" rotWithShape="0">
              <a:srgbClr val="000000">
                <a:alpha val="12000"/>
              </a:srgbClr>
            </a:outerShdw>
          </a:effectLst>
        </p:spPr>
      </p:sp>
      <p:sp>
        <p:nvSpPr>
          <p:cNvPr id="30" name="Shape 26"/>
          <p:cNvSpPr/>
          <p:nvPr/>
        </p:nvSpPr>
        <p:spPr>
          <a:xfrm>
            <a:off x="6126480" y="1572768"/>
            <a:ext cx="2834640" cy="256032"/>
          </a:xfrm>
          <a:prstGeom prst="rect">
            <a:avLst/>
          </a:prstGeom>
          <a:solidFill>
            <a:srgbClr val="0D2B55"/>
          </a:solidFill>
          <a:ln/>
        </p:spPr>
      </p:sp>
      <p:sp>
        <p:nvSpPr>
          <p:cNvPr id="31" name="Text 27"/>
          <p:cNvSpPr/>
          <p:nvPr/>
        </p:nvSpPr>
        <p:spPr>
          <a:xfrm>
            <a:off x="6217920" y="1572768"/>
            <a:ext cx="274320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Key Observations</a:t>
            </a:r>
            <a:endParaRPr lang="en-US" sz="1000" dirty="0"/>
          </a:p>
        </p:txBody>
      </p:sp>
      <p:sp>
        <p:nvSpPr>
          <p:cNvPr id="32" name="Text 28"/>
          <p:cNvSpPr/>
          <p:nvPr/>
        </p:nvSpPr>
        <p:spPr>
          <a:xfrm>
            <a:off x="6236208" y="1892808"/>
            <a:ext cx="2633472" cy="2258568"/>
          </a:xfrm>
          <a:prstGeom prst="rect">
            <a:avLst/>
          </a:prstGeom>
          <a:noFill/>
          <a:ln/>
        </p:spPr>
        <p:txBody>
          <a:bodyPr wrap="square" rtlCol="0" anchor="t"/>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No significant overfitting (gap = 0.19%, within 5% threshold)</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Low class: 4551/4606 correctly classified (excellent)</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High class: slight confusion with Medium (309 samples vs 4606 Low — class imbalance)</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Weighted avg F1 = 0.90 confirms overall strong performance</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Winner: Random Forest (over LinearSVC, DT, GB, XGBoost, LR)</a:t>
            </a:r>
            <a:endParaRPr lang="en-US" sz="1000" dirty="0"/>
          </a:p>
        </p:txBody>
      </p:sp>
      <p:pic>
        <p:nvPicPr>
          <p:cNvPr id="33" name="Image 2" descr="preencoded.png"/>
          <p:cNvPicPr>
            <a:picLocks noChangeAspect="1"/>
          </p:cNvPicPr>
          <p:nvPr/>
        </p:nvPicPr>
        <p:blipFill>
          <a:blip r:embed="rId5"/>
          <a:stretch>
            <a:fillRect/>
          </a:stretch>
        </p:blipFill>
        <p:spPr>
          <a:xfrm>
            <a:off x="182880" y="3415160"/>
            <a:ext cx="5760720" cy="1449734"/>
          </a:xfrm>
          <a:prstGeom prst="rect">
            <a:avLst/>
          </a:prstGeom>
        </p:spPr>
      </p:pic>
      <p:sp>
        <p:nvSpPr>
          <p:cNvPr id="35" name="Shape 30"/>
          <p:cNvSpPr/>
          <p:nvPr/>
        </p:nvSpPr>
        <p:spPr>
          <a:xfrm>
            <a:off x="6126480" y="4343400"/>
            <a:ext cx="2834640" cy="411480"/>
          </a:xfrm>
          <a:prstGeom prst="rect">
            <a:avLst/>
          </a:prstGeom>
          <a:solidFill>
            <a:srgbClr val="EBF5FB"/>
          </a:solidFill>
          <a:ln w="6350">
            <a:solidFill>
              <a:srgbClr val="1E88E5"/>
            </a:solidFill>
            <a:prstDash val="solid"/>
          </a:ln>
          <a:effectLst>
            <a:outerShdw blurRad="76200" dist="25400" dir="8100000" algn="bl" rotWithShape="0">
              <a:srgbClr val="000000">
                <a:alpha val="12000"/>
              </a:srgbClr>
            </a:outerShdw>
          </a:effectLst>
        </p:spPr>
      </p:sp>
      <p:sp>
        <p:nvSpPr>
          <p:cNvPr id="36" name="Text 31"/>
          <p:cNvSpPr/>
          <p:nvPr/>
        </p:nvSpPr>
        <p:spPr>
          <a:xfrm>
            <a:off x="6172200" y="4379976"/>
            <a:ext cx="2743200" cy="347472"/>
          </a:xfrm>
          <a:prstGeom prst="rect">
            <a:avLst/>
          </a:prstGeom>
          <a:noFill/>
          <a:ln/>
        </p:spPr>
        <p:txBody>
          <a:bodyPr wrap="square" rtlCol="0" anchor="ctr"/>
          <a:lstStyle/>
          <a:p>
            <a:pPr marL="0" indent="0" algn="ctr">
              <a:buNone/>
            </a:pPr>
            <a:r>
              <a:rPr lang="en-US" sz="900" b="1" dirty="0">
                <a:solidFill>
                  <a:srgbClr val="0D2B55"/>
                </a:solidFill>
                <a:latin typeface="Calibri" pitchFamily="34" charset="0"/>
                <a:ea typeface="Calibri" pitchFamily="34" charset="-122"/>
                <a:cs typeface="Calibri" pitchFamily="34" charset="-120"/>
              </a:rPr>
              <a:t>★ Final Winner: Random Forest  |  Test Acc: 88.75%  |  F1: 89.95%</a:t>
            </a:r>
            <a:endParaRPr lang="en-US" sz="900" dirty="0"/>
          </a:p>
        </p:txBody>
      </p:sp>
      <p:sp>
        <p:nvSpPr>
          <p:cNvPr id="37" name="Shape 32"/>
          <p:cNvSpPr/>
          <p:nvPr/>
        </p:nvSpPr>
        <p:spPr>
          <a:xfrm>
            <a:off x="0" y="4956048"/>
            <a:ext cx="9144000" cy="192024"/>
          </a:xfrm>
          <a:prstGeom prst="rect">
            <a:avLst/>
          </a:prstGeom>
          <a:solidFill>
            <a:srgbClr val="0D2B55"/>
          </a:solidFill>
          <a:ln/>
        </p:spPr>
      </p:sp>
      <p:sp>
        <p:nvSpPr>
          <p:cNvPr id="38" name="Text 33"/>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39" name="Text 34"/>
          <p:cNvSpPr/>
          <p:nvPr/>
        </p:nvSpPr>
        <p:spPr>
          <a:xfrm>
            <a:off x="3657600" y="4965192"/>
            <a:ext cx="3657600" cy="173736"/>
          </a:xfrm>
          <a:prstGeom prst="rect">
            <a:avLst/>
          </a:prstGeom>
          <a:noFill/>
          <a:ln/>
        </p:spPr>
        <p:txBody>
          <a:bodyPr wrap="square" rtlCol="0" anchor="ctr"/>
          <a:lstStyle/>
          <a:p>
            <a:pPr marL="0" indent="0" algn="ctr">
              <a:buNone/>
            </a:pPr>
            <a:r>
              <a:rPr lang="en-US" sz="800" dirty="0">
                <a:solidFill>
                  <a:srgbClr val="90CAF9"/>
                </a:solidFill>
                <a:latin typeface="Calibri" pitchFamily="34" charset="0"/>
                <a:ea typeface="Calibri" pitchFamily="34" charset="-122"/>
                <a:cs typeface="Calibri" pitchFamily="34" charset="-120"/>
              </a:rPr>
              <a:t>IT22315700  |  Shaethayine. R</a:t>
            </a:r>
            <a:endParaRPr lang="en-US" sz="800" dirty="0"/>
          </a:p>
        </p:txBody>
      </p:sp>
      <p:sp>
        <p:nvSpPr>
          <p:cNvPr id="40" name="Text 35"/>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B55"/>
          </a:solidFill>
          <a:ln/>
        </p:spPr>
      </p:sp>
      <p:sp>
        <p:nvSpPr>
          <p:cNvPr id="3" name="Shape 1"/>
          <p:cNvSpPr/>
          <p:nvPr/>
        </p:nvSpPr>
        <p:spPr>
          <a:xfrm>
            <a:off x="0" y="0"/>
            <a:ext cx="73152" cy="822960"/>
          </a:xfrm>
          <a:prstGeom prst="rect">
            <a:avLst/>
          </a:prstGeom>
          <a:solidFill>
            <a:srgbClr val="1E88E5"/>
          </a:solidFill>
          <a:ln/>
        </p:spPr>
      </p:sp>
      <p:sp>
        <p:nvSpPr>
          <p:cNvPr id="4" name="Text 2"/>
          <p:cNvSpPr/>
          <p:nvPr/>
        </p:nvSpPr>
        <p:spPr>
          <a:xfrm>
            <a:off x="182880" y="73152"/>
            <a:ext cx="82296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Bandwidth Regressor — Results &amp; Analysis</a:t>
            </a:r>
            <a:endParaRPr lang="en-US" sz="2000" dirty="0"/>
          </a:p>
        </p:txBody>
      </p:sp>
      <p:sp>
        <p:nvSpPr>
          <p:cNvPr id="5" name="Text 3"/>
          <p:cNvSpPr/>
          <p:nvPr/>
        </p:nvSpPr>
        <p:spPr>
          <a:xfrm>
            <a:off x="182880" y="475488"/>
            <a:ext cx="8229600" cy="292608"/>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Predicts exact Mbps allocation per employee based on workload features</a:t>
            </a:r>
            <a:endParaRPr lang="en-US" sz="1100" dirty="0"/>
          </a:p>
        </p:txBody>
      </p:sp>
      <p:sp>
        <p:nvSpPr>
          <p:cNvPr id="6" name="Text 4"/>
          <p:cNvSpPr/>
          <p:nvPr/>
        </p:nvSpPr>
        <p:spPr>
          <a:xfrm>
            <a:off x="5943600" y="0"/>
            <a:ext cx="3108960" cy="384048"/>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AI &amp; IoT Smart Office System  |  SLIIT</a:t>
            </a:r>
            <a:endParaRPr lang="en-US" sz="800" dirty="0"/>
          </a:p>
        </p:txBody>
      </p:sp>
      <p:sp>
        <p:nvSpPr>
          <p:cNvPr id="7" name="Shape 5"/>
          <p:cNvSpPr/>
          <p:nvPr/>
        </p:nvSpPr>
        <p:spPr>
          <a:xfrm>
            <a:off x="182880" y="932688"/>
            <a:ext cx="1371600" cy="530352"/>
          </a:xfrm>
          <a:prstGeom prst="roundRect">
            <a:avLst>
              <a:gd name="adj" fmla="val 10345"/>
            </a:avLst>
          </a:prstGeom>
          <a:solidFill>
            <a:srgbClr val="E3F2FD"/>
          </a:solidFill>
          <a:ln w="6350">
            <a:solidFill>
              <a:srgbClr val="1E88E5"/>
            </a:solidFill>
            <a:prstDash val="solid"/>
          </a:ln>
        </p:spPr>
      </p:sp>
      <p:sp>
        <p:nvSpPr>
          <p:cNvPr id="8" name="Text 6"/>
          <p:cNvSpPr/>
          <p:nvPr/>
        </p:nvSpPr>
        <p:spPr>
          <a:xfrm>
            <a:off x="182880" y="950976"/>
            <a:ext cx="1371600" cy="201168"/>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Train MAE</a:t>
            </a:r>
            <a:endParaRPr lang="en-US" sz="800" dirty="0"/>
          </a:p>
        </p:txBody>
      </p:sp>
      <p:sp>
        <p:nvSpPr>
          <p:cNvPr id="9" name="Text 7"/>
          <p:cNvSpPr/>
          <p:nvPr/>
        </p:nvSpPr>
        <p:spPr>
          <a:xfrm>
            <a:off x="182880" y="1143000"/>
            <a:ext cx="1371600" cy="274320"/>
          </a:xfrm>
          <a:prstGeom prst="rect">
            <a:avLst/>
          </a:prstGeom>
          <a:noFill/>
          <a:ln/>
        </p:spPr>
        <p:txBody>
          <a:bodyPr wrap="square" rtlCol="0" anchor="ctr"/>
          <a:lstStyle/>
          <a:p>
            <a:pPr marL="0" indent="0" algn="ctr">
              <a:buNone/>
            </a:pPr>
            <a:r>
              <a:rPr lang="en-US" sz="1500" b="1" dirty="0">
                <a:solidFill>
                  <a:srgbClr val="0D2B55"/>
                </a:solidFill>
                <a:latin typeface="Calibri" pitchFamily="34" charset="0"/>
                <a:ea typeface="Calibri" pitchFamily="34" charset="-122"/>
                <a:cs typeface="Calibri" pitchFamily="34" charset="-120"/>
              </a:rPr>
              <a:t>2.83 Mbps</a:t>
            </a:r>
            <a:endParaRPr lang="en-US" sz="1500" dirty="0"/>
          </a:p>
        </p:txBody>
      </p:sp>
      <p:sp>
        <p:nvSpPr>
          <p:cNvPr id="10" name="Shape 8"/>
          <p:cNvSpPr/>
          <p:nvPr/>
        </p:nvSpPr>
        <p:spPr>
          <a:xfrm>
            <a:off x="1664208" y="932688"/>
            <a:ext cx="1371600" cy="530352"/>
          </a:xfrm>
          <a:prstGeom prst="roundRect">
            <a:avLst>
              <a:gd name="adj" fmla="val 10345"/>
            </a:avLst>
          </a:prstGeom>
          <a:solidFill>
            <a:srgbClr val="E3F2FD"/>
          </a:solidFill>
          <a:ln w="6350">
            <a:solidFill>
              <a:srgbClr val="1E88E5"/>
            </a:solidFill>
            <a:prstDash val="solid"/>
          </a:ln>
        </p:spPr>
      </p:sp>
      <p:sp>
        <p:nvSpPr>
          <p:cNvPr id="11" name="Text 9"/>
          <p:cNvSpPr/>
          <p:nvPr/>
        </p:nvSpPr>
        <p:spPr>
          <a:xfrm>
            <a:off x="1664208" y="950976"/>
            <a:ext cx="1371600" cy="201168"/>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Test MAE</a:t>
            </a:r>
            <a:endParaRPr lang="en-US" sz="800" dirty="0"/>
          </a:p>
        </p:txBody>
      </p:sp>
      <p:sp>
        <p:nvSpPr>
          <p:cNvPr id="12" name="Text 10"/>
          <p:cNvSpPr/>
          <p:nvPr/>
        </p:nvSpPr>
        <p:spPr>
          <a:xfrm>
            <a:off x="1664208" y="1143000"/>
            <a:ext cx="1371600" cy="274320"/>
          </a:xfrm>
          <a:prstGeom prst="rect">
            <a:avLst/>
          </a:prstGeom>
          <a:noFill/>
          <a:ln/>
        </p:spPr>
        <p:txBody>
          <a:bodyPr wrap="square" rtlCol="0" anchor="ctr"/>
          <a:lstStyle/>
          <a:p>
            <a:pPr marL="0" indent="0" algn="ctr">
              <a:buNone/>
            </a:pPr>
            <a:r>
              <a:rPr lang="en-US" sz="1500" b="1" dirty="0">
                <a:solidFill>
                  <a:srgbClr val="0D2B55"/>
                </a:solidFill>
                <a:latin typeface="Calibri" pitchFamily="34" charset="0"/>
                <a:ea typeface="Calibri" pitchFamily="34" charset="-122"/>
                <a:cs typeface="Calibri" pitchFamily="34" charset="-120"/>
              </a:rPr>
              <a:t>3.09 Mbps</a:t>
            </a:r>
            <a:endParaRPr lang="en-US" sz="1500" dirty="0"/>
          </a:p>
        </p:txBody>
      </p:sp>
      <p:sp>
        <p:nvSpPr>
          <p:cNvPr id="13" name="Shape 11"/>
          <p:cNvSpPr/>
          <p:nvPr/>
        </p:nvSpPr>
        <p:spPr>
          <a:xfrm>
            <a:off x="3145536" y="932688"/>
            <a:ext cx="1371600" cy="530352"/>
          </a:xfrm>
          <a:prstGeom prst="roundRect">
            <a:avLst>
              <a:gd name="adj" fmla="val 10345"/>
            </a:avLst>
          </a:prstGeom>
          <a:solidFill>
            <a:srgbClr val="E3F2FD"/>
          </a:solidFill>
          <a:ln w="6350">
            <a:solidFill>
              <a:srgbClr val="1E88E5"/>
            </a:solidFill>
            <a:prstDash val="solid"/>
          </a:ln>
        </p:spPr>
      </p:sp>
      <p:sp>
        <p:nvSpPr>
          <p:cNvPr id="14" name="Text 12"/>
          <p:cNvSpPr/>
          <p:nvPr/>
        </p:nvSpPr>
        <p:spPr>
          <a:xfrm>
            <a:off x="3145536" y="950976"/>
            <a:ext cx="1371600" cy="201168"/>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Train RMSE</a:t>
            </a:r>
            <a:endParaRPr lang="en-US" sz="800" dirty="0"/>
          </a:p>
        </p:txBody>
      </p:sp>
      <p:sp>
        <p:nvSpPr>
          <p:cNvPr id="15" name="Text 13"/>
          <p:cNvSpPr/>
          <p:nvPr/>
        </p:nvSpPr>
        <p:spPr>
          <a:xfrm>
            <a:off x="3145536" y="1143000"/>
            <a:ext cx="1371600" cy="274320"/>
          </a:xfrm>
          <a:prstGeom prst="rect">
            <a:avLst/>
          </a:prstGeom>
          <a:noFill/>
          <a:ln/>
        </p:spPr>
        <p:txBody>
          <a:bodyPr wrap="square" rtlCol="0" anchor="ctr"/>
          <a:lstStyle/>
          <a:p>
            <a:pPr marL="0" indent="0" algn="ctr">
              <a:buNone/>
            </a:pPr>
            <a:r>
              <a:rPr lang="en-US" sz="1500" b="1" dirty="0">
                <a:solidFill>
                  <a:srgbClr val="0D2B55"/>
                </a:solidFill>
                <a:latin typeface="Calibri" pitchFamily="34" charset="0"/>
                <a:ea typeface="Calibri" pitchFamily="34" charset="-122"/>
                <a:cs typeface="Calibri" pitchFamily="34" charset="-120"/>
              </a:rPr>
              <a:t>3.51 Mbps</a:t>
            </a:r>
            <a:endParaRPr lang="en-US" sz="1500" dirty="0"/>
          </a:p>
        </p:txBody>
      </p:sp>
      <p:sp>
        <p:nvSpPr>
          <p:cNvPr id="16" name="Shape 14"/>
          <p:cNvSpPr/>
          <p:nvPr/>
        </p:nvSpPr>
        <p:spPr>
          <a:xfrm>
            <a:off x="4626864" y="932688"/>
            <a:ext cx="1371600" cy="530352"/>
          </a:xfrm>
          <a:prstGeom prst="roundRect">
            <a:avLst>
              <a:gd name="adj" fmla="val 10345"/>
            </a:avLst>
          </a:prstGeom>
          <a:solidFill>
            <a:srgbClr val="E3F2FD"/>
          </a:solidFill>
          <a:ln w="6350">
            <a:solidFill>
              <a:srgbClr val="1E88E5"/>
            </a:solidFill>
            <a:prstDash val="solid"/>
          </a:ln>
        </p:spPr>
      </p:sp>
      <p:sp>
        <p:nvSpPr>
          <p:cNvPr id="17" name="Text 15"/>
          <p:cNvSpPr/>
          <p:nvPr/>
        </p:nvSpPr>
        <p:spPr>
          <a:xfrm>
            <a:off x="4626864" y="950976"/>
            <a:ext cx="1371600" cy="201168"/>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Test RMSE</a:t>
            </a:r>
            <a:endParaRPr lang="en-US" sz="800" dirty="0"/>
          </a:p>
        </p:txBody>
      </p:sp>
      <p:sp>
        <p:nvSpPr>
          <p:cNvPr id="18" name="Text 16"/>
          <p:cNvSpPr/>
          <p:nvPr/>
        </p:nvSpPr>
        <p:spPr>
          <a:xfrm>
            <a:off x="4626864" y="1143000"/>
            <a:ext cx="1371600" cy="274320"/>
          </a:xfrm>
          <a:prstGeom prst="rect">
            <a:avLst/>
          </a:prstGeom>
          <a:noFill/>
          <a:ln/>
        </p:spPr>
        <p:txBody>
          <a:bodyPr wrap="square" rtlCol="0" anchor="ctr"/>
          <a:lstStyle/>
          <a:p>
            <a:pPr marL="0" indent="0" algn="ctr">
              <a:buNone/>
            </a:pPr>
            <a:r>
              <a:rPr lang="en-US" sz="1500" b="1" dirty="0">
                <a:solidFill>
                  <a:srgbClr val="0D2B55"/>
                </a:solidFill>
                <a:latin typeface="Calibri" pitchFamily="34" charset="0"/>
                <a:ea typeface="Calibri" pitchFamily="34" charset="-122"/>
                <a:cs typeface="Calibri" pitchFamily="34" charset="-120"/>
              </a:rPr>
              <a:t>4.01 Mbps</a:t>
            </a:r>
            <a:endParaRPr lang="en-US" sz="1500" dirty="0"/>
          </a:p>
        </p:txBody>
      </p:sp>
      <p:sp>
        <p:nvSpPr>
          <p:cNvPr id="19" name="Shape 17"/>
          <p:cNvSpPr/>
          <p:nvPr/>
        </p:nvSpPr>
        <p:spPr>
          <a:xfrm>
            <a:off x="6108192" y="932688"/>
            <a:ext cx="1371600" cy="530352"/>
          </a:xfrm>
          <a:prstGeom prst="roundRect">
            <a:avLst>
              <a:gd name="adj" fmla="val 10345"/>
            </a:avLst>
          </a:prstGeom>
          <a:solidFill>
            <a:srgbClr val="E3F2FD"/>
          </a:solidFill>
          <a:ln w="6350">
            <a:solidFill>
              <a:srgbClr val="1E88E5"/>
            </a:solidFill>
            <a:prstDash val="solid"/>
          </a:ln>
        </p:spPr>
      </p:sp>
      <p:sp>
        <p:nvSpPr>
          <p:cNvPr id="20" name="Text 18"/>
          <p:cNvSpPr/>
          <p:nvPr/>
        </p:nvSpPr>
        <p:spPr>
          <a:xfrm>
            <a:off x="6108192" y="950976"/>
            <a:ext cx="1371600" cy="201168"/>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Train R²</a:t>
            </a:r>
            <a:endParaRPr lang="en-US" sz="800" dirty="0"/>
          </a:p>
        </p:txBody>
      </p:sp>
      <p:sp>
        <p:nvSpPr>
          <p:cNvPr id="21" name="Text 19"/>
          <p:cNvSpPr/>
          <p:nvPr/>
        </p:nvSpPr>
        <p:spPr>
          <a:xfrm>
            <a:off x="6108192" y="1143000"/>
            <a:ext cx="1371600" cy="274320"/>
          </a:xfrm>
          <a:prstGeom prst="rect">
            <a:avLst/>
          </a:prstGeom>
          <a:noFill/>
          <a:ln/>
        </p:spPr>
        <p:txBody>
          <a:bodyPr wrap="square" rtlCol="0" anchor="ctr"/>
          <a:lstStyle/>
          <a:p>
            <a:pPr marL="0" indent="0" algn="ctr">
              <a:buNone/>
            </a:pPr>
            <a:r>
              <a:rPr lang="en-US" sz="1500" b="1" dirty="0">
                <a:solidFill>
                  <a:srgbClr val="0D2B55"/>
                </a:solidFill>
                <a:latin typeface="Calibri" pitchFamily="34" charset="0"/>
                <a:ea typeface="Calibri" pitchFamily="34" charset="-122"/>
                <a:cs typeface="Calibri" pitchFamily="34" charset="-120"/>
              </a:rPr>
              <a:t>0.8201</a:t>
            </a:r>
            <a:endParaRPr lang="en-US" sz="1500" dirty="0"/>
          </a:p>
        </p:txBody>
      </p:sp>
      <p:sp>
        <p:nvSpPr>
          <p:cNvPr id="22" name="Shape 20"/>
          <p:cNvSpPr/>
          <p:nvPr/>
        </p:nvSpPr>
        <p:spPr>
          <a:xfrm>
            <a:off x="7589520" y="932688"/>
            <a:ext cx="1371600" cy="530352"/>
          </a:xfrm>
          <a:prstGeom prst="roundRect">
            <a:avLst>
              <a:gd name="adj" fmla="val 10345"/>
            </a:avLst>
          </a:prstGeom>
          <a:solidFill>
            <a:srgbClr val="E3F2FD"/>
          </a:solidFill>
          <a:ln w="6350">
            <a:solidFill>
              <a:srgbClr val="1E88E5"/>
            </a:solidFill>
            <a:prstDash val="solid"/>
          </a:ln>
        </p:spPr>
      </p:sp>
      <p:sp>
        <p:nvSpPr>
          <p:cNvPr id="23" name="Text 21"/>
          <p:cNvSpPr/>
          <p:nvPr/>
        </p:nvSpPr>
        <p:spPr>
          <a:xfrm>
            <a:off x="7589520" y="950976"/>
            <a:ext cx="1371600" cy="201168"/>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Test R²</a:t>
            </a:r>
            <a:endParaRPr lang="en-US" sz="800" dirty="0"/>
          </a:p>
        </p:txBody>
      </p:sp>
      <p:sp>
        <p:nvSpPr>
          <p:cNvPr id="24" name="Text 22"/>
          <p:cNvSpPr/>
          <p:nvPr/>
        </p:nvSpPr>
        <p:spPr>
          <a:xfrm>
            <a:off x="7589520" y="1143000"/>
            <a:ext cx="1371600" cy="274320"/>
          </a:xfrm>
          <a:prstGeom prst="rect">
            <a:avLst/>
          </a:prstGeom>
          <a:noFill/>
          <a:ln/>
        </p:spPr>
        <p:txBody>
          <a:bodyPr wrap="square" rtlCol="0" anchor="ctr"/>
          <a:lstStyle/>
          <a:p>
            <a:pPr marL="0" indent="0" algn="ctr">
              <a:buNone/>
            </a:pPr>
            <a:r>
              <a:rPr lang="en-US" sz="1500" b="1" dirty="0">
                <a:solidFill>
                  <a:srgbClr val="0D2B55"/>
                </a:solidFill>
                <a:latin typeface="Calibri" pitchFamily="34" charset="0"/>
                <a:ea typeface="Calibri" pitchFamily="34" charset="-122"/>
                <a:cs typeface="Calibri" pitchFamily="34" charset="-120"/>
              </a:rPr>
              <a:t>0.7608</a:t>
            </a:r>
            <a:endParaRPr lang="en-US" sz="1500" dirty="0"/>
          </a:p>
        </p:txBody>
      </p:sp>
      <p:pic>
        <p:nvPicPr>
          <p:cNvPr id="25" name="Image 0" descr="preencoded.png"/>
          <p:cNvPicPr>
            <a:picLocks noChangeAspect="1"/>
          </p:cNvPicPr>
          <p:nvPr/>
        </p:nvPicPr>
        <p:blipFill>
          <a:blip r:embed="rId3"/>
          <a:stretch>
            <a:fillRect/>
          </a:stretch>
        </p:blipFill>
        <p:spPr>
          <a:xfrm>
            <a:off x="182880" y="1600200"/>
            <a:ext cx="5029200" cy="3154680"/>
          </a:xfrm>
          <a:prstGeom prst="rect">
            <a:avLst/>
          </a:prstGeom>
        </p:spPr>
      </p:pic>
      <p:sp>
        <p:nvSpPr>
          <p:cNvPr id="26" name="Text 23"/>
          <p:cNvSpPr/>
          <p:nvPr/>
        </p:nvSpPr>
        <p:spPr>
          <a:xfrm>
            <a:off x="182880" y="4754880"/>
            <a:ext cx="5029200" cy="182880"/>
          </a:xfrm>
          <a:prstGeom prst="rect">
            <a:avLst/>
          </a:prstGeom>
          <a:noFill/>
          <a:ln/>
        </p:spPr>
        <p:txBody>
          <a:bodyPr wrap="square" rtlCol="0" anchor="ctr"/>
          <a:lstStyle/>
          <a:p>
            <a:pPr marL="0" indent="0" algn="ctr">
              <a:buNone/>
            </a:pPr>
            <a:r>
              <a:rPr lang="en-US" sz="800" dirty="0">
                <a:solidFill>
                  <a:srgbClr val="546E7A"/>
                </a:solidFill>
                <a:latin typeface="Calibri" pitchFamily="34" charset="0"/>
                <a:ea typeface="Calibri" pitchFamily="34" charset="-122"/>
                <a:cs typeface="Calibri" pitchFamily="34" charset="-120"/>
              </a:rPr>
              <a:t>Bandwidth Regressor: Actual vs Predicted Mbps</a:t>
            </a:r>
            <a:endParaRPr lang="en-US" sz="800" dirty="0"/>
          </a:p>
        </p:txBody>
      </p:sp>
      <p:sp>
        <p:nvSpPr>
          <p:cNvPr id="27" name="Shape 24"/>
          <p:cNvSpPr/>
          <p:nvPr/>
        </p:nvSpPr>
        <p:spPr>
          <a:xfrm>
            <a:off x="5394960" y="1600200"/>
            <a:ext cx="3566160" cy="3246120"/>
          </a:xfrm>
          <a:prstGeom prst="rect">
            <a:avLst/>
          </a:prstGeom>
          <a:solidFill>
            <a:srgbClr val="E3F2FD"/>
          </a:solidFill>
          <a:ln w="6350">
            <a:solidFill>
              <a:srgbClr val="0D2B55"/>
            </a:solidFill>
            <a:prstDash val="solid"/>
          </a:ln>
          <a:effectLst>
            <a:outerShdw blurRad="76200" dist="25400" dir="8100000" algn="bl" rotWithShape="0">
              <a:srgbClr val="000000">
                <a:alpha val="12000"/>
              </a:srgbClr>
            </a:outerShdw>
          </a:effectLst>
        </p:spPr>
      </p:sp>
      <p:sp>
        <p:nvSpPr>
          <p:cNvPr id="28" name="Shape 25"/>
          <p:cNvSpPr/>
          <p:nvPr/>
        </p:nvSpPr>
        <p:spPr>
          <a:xfrm>
            <a:off x="5394960" y="1600200"/>
            <a:ext cx="3566160" cy="256032"/>
          </a:xfrm>
          <a:prstGeom prst="rect">
            <a:avLst/>
          </a:prstGeom>
          <a:solidFill>
            <a:srgbClr val="0D2B55"/>
          </a:solidFill>
          <a:ln/>
        </p:spPr>
      </p:sp>
      <p:sp>
        <p:nvSpPr>
          <p:cNvPr id="29" name="Text 26"/>
          <p:cNvSpPr/>
          <p:nvPr/>
        </p:nvSpPr>
        <p:spPr>
          <a:xfrm>
            <a:off x="5486400" y="1600200"/>
            <a:ext cx="347472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Analysis &amp; Notes</a:t>
            </a:r>
            <a:endParaRPr lang="en-US" sz="1000" dirty="0"/>
          </a:p>
        </p:txBody>
      </p:sp>
      <p:sp>
        <p:nvSpPr>
          <p:cNvPr id="30" name="Text 27"/>
          <p:cNvSpPr/>
          <p:nvPr/>
        </p:nvSpPr>
        <p:spPr>
          <a:xfrm>
            <a:off x="5532120" y="1920240"/>
            <a:ext cx="3337560" cy="228600"/>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R² Interpretation:</a:t>
            </a:r>
            <a:endParaRPr lang="en-US" sz="1100" dirty="0"/>
          </a:p>
        </p:txBody>
      </p:sp>
      <p:sp>
        <p:nvSpPr>
          <p:cNvPr id="31" name="Text 28"/>
          <p:cNvSpPr/>
          <p:nvPr/>
        </p:nvSpPr>
        <p:spPr>
          <a:xfrm>
            <a:off x="5532120" y="2176272"/>
            <a:ext cx="3337560" cy="822960"/>
          </a:xfrm>
          <a:prstGeom prst="rect">
            <a:avLst/>
          </a:prstGeom>
          <a:noFill/>
          <a:ln/>
        </p:spPr>
        <p:txBody>
          <a:bodyPr wrap="square" rtlCol="0" anchor="t"/>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Train R² = 0.82 → model explains 82% of variance in training data</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Test R² = 0.76 → generalises well to unseen data</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Test MAE of 3.09 Mbps is acceptable given 2–50 Mbps range</a:t>
            </a:r>
            <a:endParaRPr lang="en-US" sz="1000" dirty="0"/>
          </a:p>
        </p:txBody>
      </p:sp>
      <p:sp>
        <p:nvSpPr>
          <p:cNvPr id="32" name="Shape 29"/>
          <p:cNvSpPr/>
          <p:nvPr/>
        </p:nvSpPr>
        <p:spPr>
          <a:xfrm>
            <a:off x="5532120" y="3035808"/>
            <a:ext cx="3337560" cy="27432"/>
          </a:xfrm>
          <a:prstGeom prst="rect">
            <a:avLst/>
          </a:prstGeom>
          <a:solidFill>
            <a:srgbClr val="90CAF9"/>
          </a:solidFill>
          <a:ln/>
        </p:spPr>
      </p:sp>
      <p:sp>
        <p:nvSpPr>
          <p:cNvPr id="33" name="Text 30"/>
          <p:cNvSpPr/>
          <p:nvPr/>
        </p:nvSpPr>
        <p:spPr>
          <a:xfrm>
            <a:off x="5532120" y="3108960"/>
            <a:ext cx="3337560" cy="228600"/>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Scatter Plot Interpretation:</a:t>
            </a:r>
            <a:endParaRPr lang="en-US" sz="1100" dirty="0"/>
          </a:p>
        </p:txBody>
      </p:sp>
      <p:sp>
        <p:nvSpPr>
          <p:cNvPr id="34" name="Text 31"/>
          <p:cNvSpPr/>
          <p:nvPr/>
        </p:nvSpPr>
        <p:spPr>
          <a:xfrm>
            <a:off x="5532120" y="3364992"/>
            <a:ext cx="3337560" cy="1143000"/>
          </a:xfrm>
          <a:prstGeom prst="rect">
            <a:avLst/>
          </a:prstGeom>
          <a:noFill/>
          <a:ln/>
        </p:spPr>
        <p:txBody>
          <a:bodyPr wrap="square" rtlCol="0" anchor="t"/>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Points near dashed line = accurate predictions</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Clusters at 2–10 Mbps (Low) and 10–25 Mbps (Medium) are tight → good fit</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Some spread at 25–50 Mbps (High) — fewer High samples</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Model performs best for Low workload employees (majority class)</a:t>
            </a:r>
            <a:endParaRPr lang="en-US" sz="1000" dirty="0"/>
          </a:p>
        </p:txBody>
      </p:sp>
      <p:sp>
        <p:nvSpPr>
          <p:cNvPr id="35" name="Shape 32"/>
          <p:cNvSpPr/>
          <p:nvPr/>
        </p:nvSpPr>
        <p:spPr>
          <a:xfrm>
            <a:off x="0" y="4956048"/>
            <a:ext cx="9144000" cy="192024"/>
          </a:xfrm>
          <a:prstGeom prst="rect">
            <a:avLst/>
          </a:prstGeom>
          <a:solidFill>
            <a:srgbClr val="0D2B55"/>
          </a:solidFill>
          <a:ln/>
        </p:spPr>
      </p:sp>
      <p:sp>
        <p:nvSpPr>
          <p:cNvPr id="36" name="Text 33"/>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37" name="Text 34"/>
          <p:cNvSpPr/>
          <p:nvPr/>
        </p:nvSpPr>
        <p:spPr>
          <a:xfrm>
            <a:off x="3657600" y="4965192"/>
            <a:ext cx="3657600" cy="173736"/>
          </a:xfrm>
          <a:prstGeom prst="rect">
            <a:avLst/>
          </a:prstGeom>
          <a:noFill/>
          <a:ln/>
        </p:spPr>
        <p:txBody>
          <a:bodyPr wrap="square" rtlCol="0" anchor="ctr"/>
          <a:lstStyle/>
          <a:p>
            <a:pPr marL="0" indent="0" algn="ctr">
              <a:buNone/>
            </a:pPr>
            <a:r>
              <a:rPr lang="en-US" sz="800" dirty="0">
                <a:solidFill>
                  <a:srgbClr val="90CAF9"/>
                </a:solidFill>
                <a:latin typeface="Calibri" pitchFamily="34" charset="0"/>
                <a:ea typeface="Calibri" pitchFamily="34" charset="-122"/>
                <a:cs typeface="Calibri" pitchFamily="34" charset="-120"/>
              </a:rPr>
              <a:t>IT22315700  |  Shaethayine. R</a:t>
            </a:r>
            <a:endParaRPr lang="en-US" sz="800" dirty="0"/>
          </a:p>
        </p:txBody>
      </p:sp>
      <p:sp>
        <p:nvSpPr>
          <p:cNvPr id="38" name="Text 35"/>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B55"/>
          </a:solidFill>
          <a:ln/>
        </p:spPr>
      </p:sp>
      <p:sp>
        <p:nvSpPr>
          <p:cNvPr id="3" name="Shape 1"/>
          <p:cNvSpPr/>
          <p:nvPr/>
        </p:nvSpPr>
        <p:spPr>
          <a:xfrm>
            <a:off x="0" y="0"/>
            <a:ext cx="73152" cy="822960"/>
          </a:xfrm>
          <a:prstGeom prst="rect">
            <a:avLst/>
          </a:prstGeom>
          <a:solidFill>
            <a:srgbClr val="1E88E5"/>
          </a:solidFill>
          <a:ln/>
        </p:spPr>
      </p:sp>
      <p:sp>
        <p:nvSpPr>
          <p:cNvPr id="4" name="Text 2"/>
          <p:cNvSpPr/>
          <p:nvPr/>
        </p:nvSpPr>
        <p:spPr>
          <a:xfrm>
            <a:off x="182880" y="73152"/>
            <a:ext cx="82296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Office Energy Optimizer</a:t>
            </a:r>
            <a:endParaRPr lang="en-US" sz="2000" dirty="0"/>
          </a:p>
        </p:txBody>
      </p:sp>
      <p:sp>
        <p:nvSpPr>
          <p:cNvPr id="5" name="Text 3"/>
          <p:cNvSpPr/>
          <p:nvPr/>
        </p:nvSpPr>
        <p:spPr>
          <a:xfrm>
            <a:off x="182880" y="475488"/>
            <a:ext cx="8229600" cy="292608"/>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Component 2  |  Shaethayine.R  | IT22315700 | IoT + ML Anomaly Detection</a:t>
            </a:r>
            <a:endParaRPr lang="en-US" sz="1100" dirty="0"/>
          </a:p>
        </p:txBody>
      </p:sp>
      <p:sp>
        <p:nvSpPr>
          <p:cNvPr id="6" name="Text 4"/>
          <p:cNvSpPr/>
          <p:nvPr/>
        </p:nvSpPr>
        <p:spPr>
          <a:xfrm>
            <a:off x="5943600" y="0"/>
            <a:ext cx="3108960" cy="384048"/>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AI &amp; IoT Smart Office System  |  SLIIT</a:t>
            </a:r>
            <a:endParaRPr lang="en-US" sz="800" dirty="0"/>
          </a:p>
        </p:txBody>
      </p:sp>
      <p:sp>
        <p:nvSpPr>
          <p:cNvPr id="7" name="Shape 5"/>
          <p:cNvSpPr/>
          <p:nvPr/>
        </p:nvSpPr>
        <p:spPr>
          <a:xfrm>
            <a:off x="164592" y="932688"/>
            <a:ext cx="1325880" cy="548640"/>
          </a:xfrm>
          <a:prstGeom prst="roundRect">
            <a:avLst>
              <a:gd name="adj" fmla="val 10000"/>
            </a:avLst>
          </a:prstGeom>
          <a:solidFill>
            <a:srgbClr val="E3F2FD"/>
          </a:solidFill>
          <a:ln w="10160">
            <a:solidFill>
              <a:srgbClr val="00ACC1"/>
            </a:solidFill>
            <a:prstDash val="solid"/>
          </a:ln>
        </p:spPr>
      </p:sp>
      <p:sp>
        <p:nvSpPr>
          <p:cNvPr id="8" name="Shape 6"/>
          <p:cNvSpPr/>
          <p:nvPr/>
        </p:nvSpPr>
        <p:spPr>
          <a:xfrm>
            <a:off x="164592" y="932688"/>
            <a:ext cx="1325880" cy="54864"/>
          </a:xfrm>
          <a:prstGeom prst="rect">
            <a:avLst/>
          </a:prstGeom>
          <a:solidFill>
            <a:srgbClr val="00ACC1"/>
          </a:solidFill>
          <a:ln/>
        </p:spPr>
      </p:sp>
      <p:sp>
        <p:nvSpPr>
          <p:cNvPr id="9" name="Text 7"/>
          <p:cNvSpPr/>
          <p:nvPr/>
        </p:nvSpPr>
        <p:spPr>
          <a:xfrm>
            <a:off x="164592" y="932688"/>
            <a:ext cx="1325880" cy="54864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ESP32</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Sensors</a:t>
            </a:r>
            <a:endParaRPr lang="en-US" sz="1000" dirty="0"/>
          </a:p>
        </p:txBody>
      </p:sp>
      <p:sp>
        <p:nvSpPr>
          <p:cNvPr id="10" name="Shape 8"/>
          <p:cNvSpPr/>
          <p:nvPr/>
        </p:nvSpPr>
        <p:spPr>
          <a:xfrm>
            <a:off x="1490472" y="1207008"/>
            <a:ext cx="137160" cy="0"/>
          </a:xfrm>
          <a:prstGeom prst="line">
            <a:avLst/>
          </a:prstGeom>
          <a:noFill/>
          <a:ln w="19050">
            <a:solidFill>
              <a:srgbClr val="00ACC1"/>
            </a:solidFill>
            <a:prstDash val="solid"/>
          </a:ln>
        </p:spPr>
      </p:sp>
      <p:sp>
        <p:nvSpPr>
          <p:cNvPr id="11" name="Shape 9"/>
          <p:cNvSpPr/>
          <p:nvPr/>
        </p:nvSpPr>
        <p:spPr>
          <a:xfrm>
            <a:off x="1627632" y="932688"/>
            <a:ext cx="1325880" cy="548640"/>
          </a:xfrm>
          <a:prstGeom prst="roundRect">
            <a:avLst>
              <a:gd name="adj" fmla="val 10000"/>
            </a:avLst>
          </a:prstGeom>
          <a:solidFill>
            <a:srgbClr val="E3F2FD"/>
          </a:solidFill>
          <a:ln w="10160">
            <a:solidFill>
              <a:srgbClr val="00ACC1"/>
            </a:solidFill>
            <a:prstDash val="solid"/>
          </a:ln>
        </p:spPr>
      </p:sp>
      <p:sp>
        <p:nvSpPr>
          <p:cNvPr id="12" name="Shape 10"/>
          <p:cNvSpPr/>
          <p:nvPr/>
        </p:nvSpPr>
        <p:spPr>
          <a:xfrm>
            <a:off x="1627632" y="932688"/>
            <a:ext cx="1325880" cy="54864"/>
          </a:xfrm>
          <a:prstGeom prst="rect">
            <a:avLst/>
          </a:prstGeom>
          <a:solidFill>
            <a:srgbClr val="00ACC1"/>
          </a:solidFill>
          <a:ln/>
        </p:spPr>
      </p:sp>
      <p:sp>
        <p:nvSpPr>
          <p:cNvPr id="13" name="Text 11"/>
          <p:cNvSpPr/>
          <p:nvPr/>
        </p:nvSpPr>
        <p:spPr>
          <a:xfrm>
            <a:off x="1627632" y="932688"/>
            <a:ext cx="1325880" cy="54864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HiveMQ</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MQTT/TLS</a:t>
            </a:r>
            <a:endParaRPr lang="en-US" sz="1000" dirty="0"/>
          </a:p>
        </p:txBody>
      </p:sp>
      <p:sp>
        <p:nvSpPr>
          <p:cNvPr id="14" name="Shape 12"/>
          <p:cNvSpPr/>
          <p:nvPr/>
        </p:nvSpPr>
        <p:spPr>
          <a:xfrm>
            <a:off x="2953512" y="1207008"/>
            <a:ext cx="137160" cy="0"/>
          </a:xfrm>
          <a:prstGeom prst="line">
            <a:avLst/>
          </a:prstGeom>
          <a:noFill/>
          <a:ln w="19050">
            <a:solidFill>
              <a:srgbClr val="00ACC1"/>
            </a:solidFill>
            <a:prstDash val="solid"/>
          </a:ln>
        </p:spPr>
      </p:sp>
      <p:sp>
        <p:nvSpPr>
          <p:cNvPr id="15" name="Shape 13"/>
          <p:cNvSpPr/>
          <p:nvPr/>
        </p:nvSpPr>
        <p:spPr>
          <a:xfrm>
            <a:off x="3090672" y="932688"/>
            <a:ext cx="1325880" cy="548640"/>
          </a:xfrm>
          <a:prstGeom prst="roundRect">
            <a:avLst>
              <a:gd name="adj" fmla="val 10000"/>
            </a:avLst>
          </a:prstGeom>
          <a:solidFill>
            <a:srgbClr val="E3F2FD"/>
          </a:solidFill>
          <a:ln w="10160">
            <a:solidFill>
              <a:srgbClr val="00ACC1"/>
            </a:solidFill>
            <a:prstDash val="solid"/>
          </a:ln>
        </p:spPr>
      </p:sp>
      <p:sp>
        <p:nvSpPr>
          <p:cNvPr id="16" name="Shape 14"/>
          <p:cNvSpPr/>
          <p:nvPr/>
        </p:nvSpPr>
        <p:spPr>
          <a:xfrm>
            <a:off x="3090672" y="932688"/>
            <a:ext cx="1325880" cy="54864"/>
          </a:xfrm>
          <a:prstGeom prst="rect">
            <a:avLst/>
          </a:prstGeom>
          <a:solidFill>
            <a:srgbClr val="00ACC1"/>
          </a:solidFill>
          <a:ln/>
        </p:spPr>
      </p:sp>
      <p:sp>
        <p:nvSpPr>
          <p:cNvPr id="17" name="Text 15"/>
          <p:cNvSpPr/>
          <p:nvPr/>
        </p:nvSpPr>
        <p:spPr>
          <a:xfrm>
            <a:off x="3090672" y="932688"/>
            <a:ext cx="1325880" cy="54864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Flask</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Backend</a:t>
            </a:r>
            <a:endParaRPr lang="en-US" sz="1000" dirty="0"/>
          </a:p>
        </p:txBody>
      </p:sp>
      <p:sp>
        <p:nvSpPr>
          <p:cNvPr id="18" name="Shape 16"/>
          <p:cNvSpPr/>
          <p:nvPr/>
        </p:nvSpPr>
        <p:spPr>
          <a:xfrm>
            <a:off x="4416552" y="1207008"/>
            <a:ext cx="137160" cy="0"/>
          </a:xfrm>
          <a:prstGeom prst="line">
            <a:avLst/>
          </a:prstGeom>
          <a:noFill/>
          <a:ln w="19050">
            <a:solidFill>
              <a:srgbClr val="00ACC1"/>
            </a:solidFill>
            <a:prstDash val="solid"/>
          </a:ln>
        </p:spPr>
      </p:sp>
      <p:sp>
        <p:nvSpPr>
          <p:cNvPr id="19" name="Shape 17"/>
          <p:cNvSpPr/>
          <p:nvPr/>
        </p:nvSpPr>
        <p:spPr>
          <a:xfrm>
            <a:off x="4553712" y="932688"/>
            <a:ext cx="1325880" cy="548640"/>
          </a:xfrm>
          <a:prstGeom prst="roundRect">
            <a:avLst>
              <a:gd name="adj" fmla="val 10000"/>
            </a:avLst>
          </a:prstGeom>
          <a:solidFill>
            <a:srgbClr val="E3F2FD"/>
          </a:solidFill>
          <a:ln w="10160">
            <a:solidFill>
              <a:srgbClr val="00ACC1"/>
            </a:solidFill>
            <a:prstDash val="solid"/>
          </a:ln>
        </p:spPr>
      </p:sp>
      <p:sp>
        <p:nvSpPr>
          <p:cNvPr id="20" name="Shape 18"/>
          <p:cNvSpPr/>
          <p:nvPr/>
        </p:nvSpPr>
        <p:spPr>
          <a:xfrm>
            <a:off x="4553712" y="932688"/>
            <a:ext cx="1325880" cy="54864"/>
          </a:xfrm>
          <a:prstGeom prst="rect">
            <a:avLst/>
          </a:prstGeom>
          <a:solidFill>
            <a:srgbClr val="00ACC1"/>
          </a:solidFill>
          <a:ln/>
        </p:spPr>
      </p:sp>
      <p:sp>
        <p:nvSpPr>
          <p:cNvPr id="21" name="Text 19"/>
          <p:cNvSpPr/>
          <p:nvPr/>
        </p:nvSpPr>
        <p:spPr>
          <a:xfrm>
            <a:off x="4553712" y="932688"/>
            <a:ext cx="1325880" cy="54864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ML</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Models</a:t>
            </a:r>
            <a:endParaRPr lang="en-US" sz="1000" dirty="0"/>
          </a:p>
        </p:txBody>
      </p:sp>
      <p:sp>
        <p:nvSpPr>
          <p:cNvPr id="22" name="Shape 20"/>
          <p:cNvSpPr/>
          <p:nvPr/>
        </p:nvSpPr>
        <p:spPr>
          <a:xfrm>
            <a:off x="5879592" y="1207008"/>
            <a:ext cx="137160" cy="0"/>
          </a:xfrm>
          <a:prstGeom prst="line">
            <a:avLst/>
          </a:prstGeom>
          <a:noFill/>
          <a:ln w="19050">
            <a:solidFill>
              <a:srgbClr val="00ACC1"/>
            </a:solidFill>
            <a:prstDash val="solid"/>
          </a:ln>
        </p:spPr>
      </p:sp>
      <p:sp>
        <p:nvSpPr>
          <p:cNvPr id="23" name="Shape 21"/>
          <p:cNvSpPr/>
          <p:nvPr/>
        </p:nvSpPr>
        <p:spPr>
          <a:xfrm>
            <a:off x="6016752" y="932688"/>
            <a:ext cx="1325880" cy="548640"/>
          </a:xfrm>
          <a:prstGeom prst="roundRect">
            <a:avLst>
              <a:gd name="adj" fmla="val 10000"/>
            </a:avLst>
          </a:prstGeom>
          <a:solidFill>
            <a:srgbClr val="E3F2FD"/>
          </a:solidFill>
          <a:ln w="10160">
            <a:solidFill>
              <a:srgbClr val="00ACC1"/>
            </a:solidFill>
            <a:prstDash val="solid"/>
          </a:ln>
        </p:spPr>
      </p:sp>
      <p:sp>
        <p:nvSpPr>
          <p:cNvPr id="24" name="Shape 22"/>
          <p:cNvSpPr/>
          <p:nvPr/>
        </p:nvSpPr>
        <p:spPr>
          <a:xfrm>
            <a:off x="6016752" y="932688"/>
            <a:ext cx="1325880" cy="54864"/>
          </a:xfrm>
          <a:prstGeom prst="rect">
            <a:avLst/>
          </a:prstGeom>
          <a:solidFill>
            <a:srgbClr val="00ACC1"/>
          </a:solidFill>
          <a:ln/>
        </p:spPr>
      </p:sp>
      <p:sp>
        <p:nvSpPr>
          <p:cNvPr id="25" name="Text 23"/>
          <p:cNvSpPr/>
          <p:nvPr/>
        </p:nvSpPr>
        <p:spPr>
          <a:xfrm>
            <a:off x="6016752" y="932688"/>
            <a:ext cx="1325880" cy="54864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Alert</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Engine</a:t>
            </a:r>
            <a:endParaRPr lang="en-US" sz="1000" dirty="0"/>
          </a:p>
        </p:txBody>
      </p:sp>
      <p:sp>
        <p:nvSpPr>
          <p:cNvPr id="26" name="Shape 24"/>
          <p:cNvSpPr/>
          <p:nvPr/>
        </p:nvSpPr>
        <p:spPr>
          <a:xfrm>
            <a:off x="7342632" y="1207008"/>
            <a:ext cx="137160" cy="0"/>
          </a:xfrm>
          <a:prstGeom prst="line">
            <a:avLst/>
          </a:prstGeom>
          <a:noFill/>
          <a:ln w="19050">
            <a:solidFill>
              <a:srgbClr val="00ACC1"/>
            </a:solidFill>
            <a:prstDash val="solid"/>
          </a:ln>
        </p:spPr>
      </p:sp>
      <p:sp>
        <p:nvSpPr>
          <p:cNvPr id="27" name="Shape 25"/>
          <p:cNvSpPr/>
          <p:nvPr/>
        </p:nvSpPr>
        <p:spPr>
          <a:xfrm>
            <a:off x="7479792" y="932688"/>
            <a:ext cx="1325880" cy="548640"/>
          </a:xfrm>
          <a:prstGeom prst="roundRect">
            <a:avLst>
              <a:gd name="adj" fmla="val 10000"/>
            </a:avLst>
          </a:prstGeom>
          <a:solidFill>
            <a:srgbClr val="E3F2FD"/>
          </a:solidFill>
          <a:ln w="10160">
            <a:solidFill>
              <a:srgbClr val="00ACC1"/>
            </a:solidFill>
            <a:prstDash val="solid"/>
          </a:ln>
        </p:spPr>
      </p:sp>
      <p:sp>
        <p:nvSpPr>
          <p:cNvPr id="28" name="Shape 26"/>
          <p:cNvSpPr/>
          <p:nvPr/>
        </p:nvSpPr>
        <p:spPr>
          <a:xfrm>
            <a:off x="7479792" y="932688"/>
            <a:ext cx="1325880" cy="54864"/>
          </a:xfrm>
          <a:prstGeom prst="rect">
            <a:avLst/>
          </a:prstGeom>
          <a:solidFill>
            <a:srgbClr val="00ACC1"/>
          </a:solidFill>
          <a:ln/>
        </p:spPr>
      </p:sp>
      <p:sp>
        <p:nvSpPr>
          <p:cNvPr id="29" name="Text 27"/>
          <p:cNvSpPr/>
          <p:nvPr/>
        </p:nvSpPr>
        <p:spPr>
          <a:xfrm>
            <a:off x="7479792" y="932688"/>
            <a:ext cx="1325880" cy="54864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SMS +</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Dashboard</a:t>
            </a:r>
            <a:endParaRPr lang="en-US" sz="1000" dirty="0"/>
          </a:p>
        </p:txBody>
      </p:sp>
      <p:sp>
        <p:nvSpPr>
          <p:cNvPr id="30" name="Shape 28"/>
          <p:cNvSpPr/>
          <p:nvPr/>
        </p:nvSpPr>
        <p:spPr>
          <a:xfrm>
            <a:off x="182880" y="1600200"/>
            <a:ext cx="4251960" cy="1554480"/>
          </a:xfrm>
          <a:prstGeom prst="rect">
            <a:avLst/>
          </a:prstGeom>
          <a:solidFill>
            <a:srgbClr val="E3F2FD"/>
          </a:solidFill>
          <a:ln w="6350">
            <a:solidFill>
              <a:srgbClr val="0D2B55"/>
            </a:solidFill>
            <a:prstDash val="solid"/>
          </a:ln>
          <a:effectLst>
            <a:outerShdw blurRad="76200" dist="25400" dir="8100000" algn="bl" rotWithShape="0">
              <a:srgbClr val="000000">
                <a:alpha val="12000"/>
              </a:srgbClr>
            </a:outerShdw>
          </a:effectLst>
        </p:spPr>
      </p:sp>
      <p:sp>
        <p:nvSpPr>
          <p:cNvPr id="31" name="Shape 29"/>
          <p:cNvSpPr/>
          <p:nvPr/>
        </p:nvSpPr>
        <p:spPr>
          <a:xfrm>
            <a:off x="182880" y="1600200"/>
            <a:ext cx="4251960" cy="256032"/>
          </a:xfrm>
          <a:prstGeom prst="rect">
            <a:avLst/>
          </a:prstGeom>
          <a:solidFill>
            <a:srgbClr val="0D2B55"/>
          </a:solidFill>
          <a:ln/>
        </p:spPr>
      </p:sp>
      <p:sp>
        <p:nvSpPr>
          <p:cNvPr id="32" name="Text 30"/>
          <p:cNvSpPr/>
          <p:nvPr/>
        </p:nvSpPr>
        <p:spPr>
          <a:xfrm>
            <a:off x="274320" y="1600200"/>
            <a:ext cx="416052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Hardware &amp; Communication</a:t>
            </a:r>
            <a:endParaRPr lang="en-US" sz="1000" dirty="0"/>
          </a:p>
        </p:txBody>
      </p:sp>
      <p:sp>
        <p:nvSpPr>
          <p:cNvPr id="33" name="Text 31"/>
          <p:cNvSpPr/>
          <p:nvPr/>
        </p:nvSpPr>
        <p:spPr>
          <a:xfrm>
            <a:off x="320040" y="1920240"/>
            <a:ext cx="4023360" cy="1161288"/>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ESP32 microcontroller (32-bit, WiFi-enabled)</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PZEM-004T — voltage, current, power, frequency measurement</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DHT22 — temperature &amp; humidity sensor</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MQ2 — gas sensor (smoke, LPG detection)</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HiveMQ Cloud — MQTT over TLS (secure IoT messaging)</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Multi-floor deployment: SensorDevice01 (Floor 1) + SensorDevice02 (Floor 2)</a:t>
            </a:r>
            <a:endParaRPr lang="en-US" sz="950" dirty="0"/>
          </a:p>
        </p:txBody>
      </p:sp>
      <p:sp>
        <p:nvSpPr>
          <p:cNvPr id="34" name="Shape 32"/>
          <p:cNvSpPr/>
          <p:nvPr/>
        </p:nvSpPr>
        <p:spPr>
          <a:xfrm>
            <a:off x="182880" y="3246120"/>
            <a:ext cx="4251960" cy="1554480"/>
          </a:xfrm>
          <a:prstGeom prst="rect">
            <a:avLst/>
          </a:prstGeom>
          <a:solidFill>
            <a:srgbClr val="E3F2FD"/>
          </a:solidFill>
          <a:ln w="6350">
            <a:solidFill>
              <a:srgbClr val="1E88E5"/>
            </a:solidFill>
            <a:prstDash val="solid"/>
          </a:ln>
          <a:effectLst>
            <a:outerShdw blurRad="76200" dist="25400" dir="8100000" algn="bl" rotWithShape="0">
              <a:srgbClr val="000000">
                <a:alpha val="12000"/>
              </a:srgbClr>
            </a:outerShdw>
          </a:effectLst>
        </p:spPr>
      </p:sp>
      <p:sp>
        <p:nvSpPr>
          <p:cNvPr id="35" name="Shape 33"/>
          <p:cNvSpPr/>
          <p:nvPr/>
        </p:nvSpPr>
        <p:spPr>
          <a:xfrm>
            <a:off x="182880" y="3246120"/>
            <a:ext cx="4251960" cy="256032"/>
          </a:xfrm>
          <a:prstGeom prst="rect">
            <a:avLst/>
          </a:prstGeom>
          <a:solidFill>
            <a:srgbClr val="1E88E5"/>
          </a:solidFill>
          <a:ln/>
        </p:spPr>
      </p:sp>
      <p:sp>
        <p:nvSpPr>
          <p:cNvPr id="36" name="Text 34"/>
          <p:cNvSpPr/>
          <p:nvPr/>
        </p:nvSpPr>
        <p:spPr>
          <a:xfrm>
            <a:off x="274320" y="3246120"/>
            <a:ext cx="416052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ML Models</a:t>
            </a:r>
            <a:endParaRPr lang="en-US" sz="1000" dirty="0"/>
          </a:p>
        </p:txBody>
      </p:sp>
      <p:sp>
        <p:nvSpPr>
          <p:cNvPr id="37" name="Text 35"/>
          <p:cNvSpPr/>
          <p:nvPr/>
        </p:nvSpPr>
        <p:spPr>
          <a:xfrm>
            <a:off x="320040" y="3566160"/>
            <a:ext cx="4023360" cy="201168"/>
          </a:xfrm>
          <a:prstGeom prst="rect">
            <a:avLst/>
          </a:prstGeom>
          <a:noFill/>
          <a:ln/>
        </p:spPr>
        <p:txBody>
          <a:bodyPr wrap="square" rtlCol="0" anchor="ctr"/>
          <a:lstStyle/>
          <a:p>
            <a:pPr marL="0" indent="0">
              <a:buNone/>
            </a:pPr>
            <a:r>
              <a:rPr lang="en-US" sz="1000" b="1" dirty="0">
                <a:solidFill>
                  <a:srgbClr val="0D2B55"/>
                </a:solidFill>
                <a:latin typeface="Calibri" pitchFamily="34" charset="0"/>
                <a:ea typeface="Calibri" pitchFamily="34" charset="-122"/>
                <a:cs typeface="Calibri" pitchFamily="34" charset="-120"/>
              </a:rPr>
              <a:t>Power Model (Random Forest):</a:t>
            </a:r>
            <a:endParaRPr lang="en-US" sz="1000" dirty="0"/>
          </a:p>
        </p:txBody>
      </p:sp>
      <p:sp>
        <p:nvSpPr>
          <p:cNvPr id="38" name="Text 36"/>
          <p:cNvSpPr/>
          <p:nvPr/>
        </p:nvSpPr>
        <p:spPr>
          <a:xfrm>
            <a:off x="320040" y="3767328"/>
            <a:ext cx="4023360" cy="457200"/>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Trained on 40,320 real sensor readings</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6 classes: normal, idle_waste, standby_loss, abnormal_drop, overload_risk, voltage_issue</a:t>
            </a:r>
            <a:endParaRPr lang="en-US" sz="950" dirty="0"/>
          </a:p>
        </p:txBody>
      </p:sp>
      <p:sp>
        <p:nvSpPr>
          <p:cNvPr id="39" name="Text 37"/>
          <p:cNvSpPr/>
          <p:nvPr/>
        </p:nvSpPr>
        <p:spPr>
          <a:xfrm>
            <a:off x="320040" y="4251960"/>
            <a:ext cx="4023360" cy="201168"/>
          </a:xfrm>
          <a:prstGeom prst="rect">
            <a:avLst/>
          </a:prstGeom>
          <a:noFill/>
          <a:ln/>
        </p:spPr>
        <p:txBody>
          <a:bodyPr wrap="square" rtlCol="0" anchor="ctr"/>
          <a:lstStyle/>
          <a:p>
            <a:pPr marL="0" indent="0">
              <a:buNone/>
            </a:pPr>
            <a:r>
              <a:rPr lang="en-US" sz="1000" b="1" dirty="0">
                <a:solidFill>
                  <a:srgbClr val="0D2B55"/>
                </a:solidFill>
                <a:latin typeface="Calibri" pitchFamily="34" charset="0"/>
                <a:ea typeface="Calibri" pitchFamily="34" charset="-122"/>
                <a:cs typeface="Calibri" pitchFamily="34" charset="-120"/>
              </a:rPr>
              <a:t>Air Safety Model (RF + Isolation Forest):</a:t>
            </a:r>
            <a:endParaRPr lang="en-US" sz="1000" dirty="0"/>
          </a:p>
        </p:txBody>
      </p:sp>
      <p:sp>
        <p:nvSpPr>
          <p:cNvPr id="40" name="Text 38"/>
          <p:cNvSpPr/>
          <p:nvPr/>
        </p:nvSpPr>
        <p:spPr>
          <a:xfrm>
            <a:off x="320040" y="4453128"/>
            <a:ext cx="4023360" cy="347472"/>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7 classes: normal, heat_risk, humidity_risk, air_quality_warning, smoke_suspected, combined_risk, combined_environment_risk</a:t>
            </a:r>
            <a:endParaRPr lang="en-US" sz="950" dirty="0"/>
          </a:p>
        </p:txBody>
      </p:sp>
      <p:sp>
        <p:nvSpPr>
          <p:cNvPr id="41" name="Shape 39"/>
          <p:cNvSpPr/>
          <p:nvPr/>
        </p:nvSpPr>
        <p:spPr>
          <a:xfrm>
            <a:off x="4617720" y="1600200"/>
            <a:ext cx="4343400" cy="1554480"/>
          </a:xfrm>
          <a:prstGeom prst="rect">
            <a:avLst/>
          </a:prstGeom>
          <a:solidFill>
            <a:srgbClr val="E3F2FD"/>
          </a:solidFill>
          <a:ln w="6350">
            <a:solidFill>
              <a:srgbClr val="00ACC1"/>
            </a:solidFill>
            <a:prstDash val="solid"/>
          </a:ln>
          <a:effectLst>
            <a:outerShdw blurRad="76200" dist="25400" dir="8100000" algn="bl" rotWithShape="0">
              <a:srgbClr val="000000">
                <a:alpha val="12000"/>
              </a:srgbClr>
            </a:outerShdw>
          </a:effectLst>
        </p:spPr>
      </p:sp>
      <p:sp>
        <p:nvSpPr>
          <p:cNvPr id="42" name="Shape 40"/>
          <p:cNvSpPr/>
          <p:nvPr/>
        </p:nvSpPr>
        <p:spPr>
          <a:xfrm>
            <a:off x="4617720" y="1600200"/>
            <a:ext cx="4343400" cy="256032"/>
          </a:xfrm>
          <a:prstGeom prst="rect">
            <a:avLst/>
          </a:prstGeom>
          <a:solidFill>
            <a:srgbClr val="00ACC1"/>
          </a:solidFill>
          <a:ln/>
        </p:spPr>
      </p:sp>
      <p:sp>
        <p:nvSpPr>
          <p:cNvPr id="43" name="Text 41"/>
          <p:cNvSpPr/>
          <p:nvPr/>
        </p:nvSpPr>
        <p:spPr>
          <a:xfrm>
            <a:off x="4709160" y="1600200"/>
            <a:ext cx="425196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Alert System</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688745927"/>
              </p:ext>
            </p:extLst>
          </p:nvPr>
        </p:nvGraphicFramePr>
        <p:xfrm>
          <a:off x="4709160" y="1920240"/>
          <a:ext cx="4160520" cy="1371600"/>
        </p:xfrm>
        <a:graphic>
          <a:graphicData uri="http://schemas.openxmlformats.org/drawingml/2006/table">
            <a:tbl>
              <a:tblPr/>
              <a:tblGrid>
                <a:gridCol w="1386840">
                  <a:extLst>
                    <a:ext uri="{9D8B030D-6E8A-4147-A177-3AD203B41FA5}">
                      <a16:colId xmlns:a16="http://schemas.microsoft.com/office/drawing/2014/main" val="20000"/>
                    </a:ext>
                  </a:extLst>
                </a:gridCol>
                <a:gridCol w="1386840">
                  <a:extLst>
                    <a:ext uri="{9D8B030D-6E8A-4147-A177-3AD203B41FA5}">
                      <a16:colId xmlns:a16="http://schemas.microsoft.com/office/drawing/2014/main" val="20001"/>
                    </a:ext>
                  </a:extLst>
                </a:gridCol>
                <a:gridCol w="1386840">
                  <a:extLst>
                    <a:ext uri="{9D8B030D-6E8A-4147-A177-3AD203B41FA5}">
                      <a16:colId xmlns:a16="http://schemas.microsoft.com/office/drawing/2014/main" val="20002"/>
                    </a:ext>
                  </a:extLst>
                </a:gridCol>
              </a:tblGrid>
              <a:tr h="19507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Alert Type</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ACC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Severity</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ACC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SMS?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ACC1"/>
                    </a:solidFill>
                  </a:tcPr>
                </a:tc>
                <a:extLst>
                  <a:ext uri="{0D108BD9-81ED-4DB2-BD59-A6C34878D82A}">
                    <a16:rowId xmlns:a16="http://schemas.microsoft.com/office/drawing/2014/main" val="10000"/>
                  </a:ext>
                </a:extLst>
              </a:tr>
              <a:tr h="195072">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overload_risk</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Critical</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 Yes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1"/>
                  </a:ext>
                </a:extLst>
              </a:tr>
              <a:tr h="195072">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smoke_suspected</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Critical</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 Yes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2"/>
                  </a:ext>
                </a:extLst>
              </a:tr>
              <a:tr h="195072">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combined_risk</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Critical</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 Yes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3"/>
                  </a:ext>
                </a:extLst>
              </a:tr>
              <a:tr h="195072">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heat_risk / voltage_issue</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4"/>
                  </a:ext>
                </a:extLst>
              </a:tr>
              <a:tr h="195072">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idle_waste / standby_loss</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Warning</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00" dirty="0">
                          <a:solidFill>
                            <a:srgbClr val="1A1A2E"/>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5"/>
                  </a:ext>
                </a:extLst>
              </a:tr>
            </a:tbl>
          </a:graphicData>
        </a:graphic>
      </p:graphicFrame>
      <p:sp>
        <p:nvSpPr>
          <p:cNvPr id="45" name="Shape 42"/>
          <p:cNvSpPr/>
          <p:nvPr/>
        </p:nvSpPr>
        <p:spPr>
          <a:xfrm>
            <a:off x="4617720" y="3246120"/>
            <a:ext cx="4343400" cy="1554480"/>
          </a:xfrm>
          <a:prstGeom prst="rect">
            <a:avLst/>
          </a:prstGeom>
          <a:solidFill>
            <a:srgbClr val="E3F2FD"/>
          </a:solidFill>
          <a:ln w="6350">
            <a:solidFill>
              <a:srgbClr val="0D2B55"/>
            </a:solidFill>
            <a:prstDash val="solid"/>
          </a:ln>
          <a:effectLst>
            <a:outerShdw blurRad="76200" dist="25400" dir="8100000" algn="bl" rotWithShape="0">
              <a:srgbClr val="000000">
                <a:alpha val="12000"/>
              </a:srgbClr>
            </a:outerShdw>
          </a:effectLst>
        </p:spPr>
      </p:sp>
      <p:sp>
        <p:nvSpPr>
          <p:cNvPr id="46" name="Shape 43"/>
          <p:cNvSpPr/>
          <p:nvPr/>
        </p:nvSpPr>
        <p:spPr>
          <a:xfrm>
            <a:off x="4617720" y="3246120"/>
            <a:ext cx="4343400" cy="256032"/>
          </a:xfrm>
          <a:prstGeom prst="rect">
            <a:avLst/>
          </a:prstGeom>
          <a:solidFill>
            <a:srgbClr val="0D2B55"/>
          </a:solidFill>
          <a:ln/>
        </p:spPr>
      </p:sp>
      <p:sp>
        <p:nvSpPr>
          <p:cNvPr id="47" name="Text 44"/>
          <p:cNvSpPr/>
          <p:nvPr/>
        </p:nvSpPr>
        <p:spPr>
          <a:xfrm>
            <a:off x="4709160" y="3246120"/>
            <a:ext cx="425196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Threshold Profiles</a:t>
            </a:r>
            <a:endParaRPr lang="en-US" sz="1000" dirty="0"/>
          </a:p>
        </p:txBody>
      </p:sp>
      <p:sp>
        <p:nvSpPr>
          <p:cNvPr id="48" name="Text 45"/>
          <p:cNvSpPr/>
          <p:nvPr/>
        </p:nvSpPr>
        <p:spPr>
          <a:xfrm>
            <a:off x="4754880" y="3566160"/>
            <a:ext cx="4114800" cy="1161288"/>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Demo Profile: SensorDevice01 (2.2–6W normal, &gt;40W overload alert)</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Demo Profile: SensorDevice02 (43–64W normal, &gt;65W overload alert)</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Production: Sigma-3 baseline for overload detection</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Production: Relative MQ2 baseline for gas detection</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n8n workflow: alert escalation → voice call → WhatsApp → email</a:t>
            </a:r>
            <a:endParaRPr lang="en-US" sz="950" dirty="0"/>
          </a:p>
        </p:txBody>
      </p:sp>
      <p:sp>
        <p:nvSpPr>
          <p:cNvPr id="49" name="Shape 46"/>
          <p:cNvSpPr/>
          <p:nvPr/>
        </p:nvSpPr>
        <p:spPr>
          <a:xfrm>
            <a:off x="0" y="4956048"/>
            <a:ext cx="9144000" cy="192024"/>
          </a:xfrm>
          <a:prstGeom prst="rect">
            <a:avLst/>
          </a:prstGeom>
          <a:solidFill>
            <a:srgbClr val="0D2B55"/>
          </a:solidFill>
          <a:ln/>
        </p:spPr>
      </p:sp>
      <p:sp>
        <p:nvSpPr>
          <p:cNvPr id="50" name="Text 47"/>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51" name="Text 48"/>
          <p:cNvSpPr/>
          <p:nvPr/>
        </p:nvSpPr>
        <p:spPr>
          <a:xfrm>
            <a:off x="3657600" y="4965192"/>
            <a:ext cx="3657600" cy="173736"/>
          </a:xfrm>
          <a:prstGeom prst="rect">
            <a:avLst/>
          </a:prstGeom>
          <a:noFill/>
          <a:ln/>
        </p:spPr>
        <p:txBody>
          <a:bodyPr wrap="square" rtlCol="0" anchor="ctr"/>
          <a:lstStyle/>
          <a:p>
            <a:pPr marL="0" indent="0" algn="ctr">
              <a:buNone/>
            </a:pPr>
            <a:r>
              <a:rPr lang="en-US" sz="800" dirty="0">
                <a:solidFill>
                  <a:srgbClr val="90CAF9"/>
                </a:solidFill>
                <a:latin typeface="Calibri" pitchFamily="34" charset="0"/>
                <a:ea typeface="Calibri" pitchFamily="34" charset="-122"/>
                <a:cs typeface="Calibri" pitchFamily="34" charset="-120"/>
              </a:rPr>
              <a:t>IT22315700  |  Shaethayine.R</a:t>
            </a:r>
            <a:endParaRPr lang="en-US" sz="800" dirty="0"/>
          </a:p>
        </p:txBody>
      </p:sp>
      <p:sp>
        <p:nvSpPr>
          <p:cNvPr id="52" name="Text 49"/>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B55"/>
          </a:solidFill>
          <a:ln/>
        </p:spPr>
      </p:sp>
      <p:sp>
        <p:nvSpPr>
          <p:cNvPr id="3" name="Shape 1"/>
          <p:cNvSpPr/>
          <p:nvPr/>
        </p:nvSpPr>
        <p:spPr>
          <a:xfrm>
            <a:off x="0" y="0"/>
            <a:ext cx="73152" cy="822960"/>
          </a:xfrm>
          <a:prstGeom prst="rect">
            <a:avLst/>
          </a:prstGeom>
          <a:solidFill>
            <a:srgbClr val="1E88E5"/>
          </a:solidFill>
          <a:ln/>
        </p:spPr>
      </p:sp>
      <p:sp>
        <p:nvSpPr>
          <p:cNvPr id="4" name="Text 2"/>
          <p:cNvSpPr/>
          <p:nvPr/>
        </p:nvSpPr>
        <p:spPr>
          <a:xfrm>
            <a:off x="182880" y="73152"/>
            <a:ext cx="82296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Energy Optimizer — ML Results &amp; Analysis</a:t>
            </a:r>
            <a:endParaRPr lang="en-US" sz="2000" dirty="0"/>
          </a:p>
        </p:txBody>
      </p:sp>
      <p:sp>
        <p:nvSpPr>
          <p:cNvPr id="5" name="Text 3"/>
          <p:cNvSpPr/>
          <p:nvPr/>
        </p:nvSpPr>
        <p:spPr>
          <a:xfrm>
            <a:off x="182880" y="475488"/>
            <a:ext cx="8229600" cy="292608"/>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Power Model + Air Safety Model performance evaluation</a:t>
            </a:r>
            <a:endParaRPr lang="en-US" sz="1100" dirty="0"/>
          </a:p>
        </p:txBody>
      </p:sp>
      <p:sp>
        <p:nvSpPr>
          <p:cNvPr id="6" name="Text 4"/>
          <p:cNvSpPr/>
          <p:nvPr/>
        </p:nvSpPr>
        <p:spPr>
          <a:xfrm>
            <a:off x="5943600" y="0"/>
            <a:ext cx="3108960" cy="384048"/>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AI &amp; IoT Smart Office System  |  SLIIT</a:t>
            </a:r>
            <a:endParaRPr lang="en-US" sz="800" dirty="0"/>
          </a:p>
        </p:txBody>
      </p:sp>
      <p:sp>
        <p:nvSpPr>
          <p:cNvPr id="7" name="Text 5"/>
          <p:cNvSpPr/>
          <p:nvPr/>
        </p:nvSpPr>
        <p:spPr>
          <a:xfrm>
            <a:off x="182880" y="932688"/>
            <a:ext cx="4206240" cy="256032"/>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Power Model — Algorithm Comparison</a:t>
            </a:r>
            <a:endParaRPr lang="en-US" sz="1100" dirty="0"/>
          </a:p>
        </p:txBody>
      </p:sp>
      <p:pic>
        <p:nvPicPr>
          <p:cNvPr id="8" name="Image 0" descr="preencoded.png"/>
          <p:cNvPicPr>
            <a:picLocks noChangeAspect="1"/>
          </p:cNvPicPr>
          <p:nvPr/>
        </p:nvPicPr>
        <p:blipFill>
          <a:blip r:embed="rId3"/>
          <a:stretch>
            <a:fillRect/>
          </a:stretch>
        </p:blipFill>
        <p:spPr>
          <a:xfrm>
            <a:off x="182880" y="1216152"/>
            <a:ext cx="4206240" cy="1417320"/>
          </a:xfrm>
          <a:prstGeom prst="rect">
            <a:avLst/>
          </a:prstGeom>
        </p:spPr>
      </p:pic>
      <p:sp>
        <p:nvSpPr>
          <p:cNvPr id="9" name="Text 6"/>
          <p:cNvSpPr/>
          <p:nvPr/>
        </p:nvSpPr>
        <p:spPr>
          <a:xfrm>
            <a:off x="182880" y="2651760"/>
            <a:ext cx="4206240" cy="201168"/>
          </a:xfrm>
          <a:prstGeom prst="rect">
            <a:avLst/>
          </a:prstGeom>
          <a:noFill/>
          <a:ln/>
        </p:spPr>
        <p:txBody>
          <a:bodyPr wrap="square" rtlCol="0" anchor="ctr"/>
          <a:lstStyle/>
          <a:p>
            <a:pPr marL="0" indent="0" algn="ctr">
              <a:buNone/>
            </a:pPr>
            <a:r>
              <a:rPr lang="en-US" sz="900" b="1" dirty="0">
                <a:solidFill>
                  <a:srgbClr val="2E7D32"/>
                </a:solidFill>
                <a:latin typeface="Calibri" pitchFamily="34" charset="0"/>
                <a:ea typeface="Calibri" pitchFamily="34" charset="-122"/>
                <a:cs typeface="Calibri" pitchFamily="34" charset="-120"/>
              </a:rPr>
              <a:t>★ Winner: Random Forest  |  Acc=0.9999  |  F1=0.9999  |  CV F1=0.9999</a:t>
            </a:r>
            <a:endParaRPr lang="en-US" sz="900" dirty="0"/>
          </a:p>
        </p:txBody>
      </p:sp>
      <p:sp>
        <p:nvSpPr>
          <p:cNvPr id="10" name="Text 7"/>
          <p:cNvSpPr/>
          <p:nvPr/>
        </p:nvSpPr>
        <p:spPr>
          <a:xfrm>
            <a:off x="4663440" y="932688"/>
            <a:ext cx="4297680" cy="256032"/>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Air Safety Model — Algorithm Comparison</a:t>
            </a:r>
            <a:endParaRPr lang="en-US" sz="1100" dirty="0"/>
          </a:p>
        </p:txBody>
      </p:sp>
      <p:pic>
        <p:nvPicPr>
          <p:cNvPr id="11" name="Image 1" descr="preencoded.png"/>
          <p:cNvPicPr>
            <a:picLocks noChangeAspect="1"/>
          </p:cNvPicPr>
          <p:nvPr/>
        </p:nvPicPr>
        <p:blipFill>
          <a:blip r:embed="rId4"/>
          <a:stretch>
            <a:fillRect/>
          </a:stretch>
        </p:blipFill>
        <p:spPr>
          <a:xfrm>
            <a:off x="4663440" y="1216152"/>
            <a:ext cx="4297680" cy="1417320"/>
          </a:xfrm>
          <a:prstGeom prst="rect">
            <a:avLst/>
          </a:prstGeom>
        </p:spPr>
      </p:pic>
      <p:sp>
        <p:nvSpPr>
          <p:cNvPr id="12" name="Text 8"/>
          <p:cNvSpPr/>
          <p:nvPr/>
        </p:nvSpPr>
        <p:spPr>
          <a:xfrm>
            <a:off x="4663440" y="2651760"/>
            <a:ext cx="4297680" cy="201168"/>
          </a:xfrm>
          <a:prstGeom prst="rect">
            <a:avLst/>
          </a:prstGeom>
          <a:noFill/>
          <a:ln/>
        </p:spPr>
        <p:txBody>
          <a:bodyPr wrap="square" rtlCol="0" anchor="ctr"/>
          <a:lstStyle/>
          <a:p>
            <a:pPr marL="0" indent="0" algn="ctr">
              <a:buNone/>
            </a:pPr>
            <a:r>
              <a:rPr lang="en-US" sz="900" b="1" dirty="0">
                <a:solidFill>
                  <a:srgbClr val="2E7D32"/>
                </a:solidFill>
                <a:latin typeface="Calibri" pitchFamily="34" charset="0"/>
                <a:ea typeface="Calibri" pitchFamily="34" charset="-122"/>
                <a:cs typeface="Calibri" pitchFamily="34" charset="-120"/>
              </a:rPr>
              <a:t>★ Winner: Random Forest  |  Acc=0.9999  |  F1=0.9999  |  CV F1=0.9999</a:t>
            </a:r>
            <a:endParaRPr lang="en-US" sz="900" dirty="0"/>
          </a:p>
        </p:txBody>
      </p:sp>
      <p:sp>
        <p:nvSpPr>
          <p:cNvPr id="13" name="Text 9"/>
          <p:cNvSpPr/>
          <p:nvPr/>
        </p:nvSpPr>
        <p:spPr>
          <a:xfrm>
            <a:off x="182880" y="2907792"/>
            <a:ext cx="2103120" cy="228600"/>
          </a:xfrm>
          <a:prstGeom prst="rect">
            <a:avLst/>
          </a:prstGeom>
          <a:noFill/>
          <a:ln/>
        </p:spPr>
        <p:txBody>
          <a:bodyPr wrap="square" rtlCol="0" anchor="ctr"/>
          <a:lstStyle/>
          <a:p>
            <a:pPr marL="0" indent="0">
              <a:buNone/>
            </a:pPr>
            <a:r>
              <a:rPr lang="en-US" sz="1000" b="1" dirty="0">
                <a:solidFill>
                  <a:srgbClr val="0D2B55"/>
                </a:solidFill>
                <a:latin typeface="Calibri" pitchFamily="34" charset="0"/>
                <a:ea typeface="Calibri" pitchFamily="34" charset="-122"/>
                <a:cs typeface="Calibri" pitchFamily="34" charset="-120"/>
              </a:rPr>
              <a:t>Power Label Distribution (Combined)</a:t>
            </a:r>
            <a:endParaRPr lang="en-US" sz="1000" dirty="0"/>
          </a:p>
        </p:txBody>
      </p:sp>
      <p:pic>
        <p:nvPicPr>
          <p:cNvPr id="14" name="Image 2" descr="preencoded.png"/>
          <p:cNvPicPr>
            <a:picLocks noChangeAspect="1"/>
          </p:cNvPicPr>
          <p:nvPr/>
        </p:nvPicPr>
        <p:blipFill>
          <a:blip r:embed="rId5"/>
          <a:stretch>
            <a:fillRect/>
          </a:stretch>
        </p:blipFill>
        <p:spPr>
          <a:xfrm>
            <a:off x="182880" y="3163824"/>
            <a:ext cx="2103120" cy="1463040"/>
          </a:xfrm>
          <a:prstGeom prst="rect">
            <a:avLst/>
          </a:prstGeom>
        </p:spPr>
      </p:pic>
      <p:sp>
        <p:nvSpPr>
          <p:cNvPr id="15" name="Text 10"/>
          <p:cNvSpPr/>
          <p:nvPr/>
        </p:nvSpPr>
        <p:spPr>
          <a:xfrm>
            <a:off x="2423160" y="2907792"/>
            <a:ext cx="2103120" cy="228600"/>
          </a:xfrm>
          <a:prstGeom prst="rect">
            <a:avLst/>
          </a:prstGeom>
          <a:noFill/>
          <a:ln/>
        </p:spPr>
        <p:txBody>
          <a:bodyPr wrap="square" rtlCol="0" anchor="ctr"/>
          <a:lstStyle/>
          <a:p>
            <a:pPr marL="0" indent="0">
              <a:buNone/>
            </a:pPr>
            <a:r>
              <a:rPr lang="en-US" sz="1000" b="1" dirty="0">
                <a:solidFill>
                  <a:srgbClr val="0D2B55"/>
                </a:solidFill>
                <a:latin typeface="Calibri" pitchFamily="34" charset="0"/>
                <a:ea typeface="Calibri" pitchFamily="34" charset="-122"/>
                <a:cs typeface="Calibri" pitchFamily="34" charset="-120"/>
              </a:rPr>
              <a:t>Device-Wise Distribution</a:t>
            </a:r>
            <a:endParaRPr lang="en-US" sz="1000" dirty="0"/>
          </a:p>
        </p:txBody>
      </p:sp>
      <p:pic>
        <p:nvPicPr>
          <p:cNvPr id="16" name="Image 3" descr="preencoded.png"/>
          <p:cNvPicPr>
            <a:picLocks noChangeAspect="1"/>
          </p:cNvPicPr>
          <p:nvPr/>
        </p:nvPicPr>
        <p:blipFill>
          <a:blip r:embed="rId6"/>
          <a:stretch>
            <a:fillRect/>
          </a:stretch>
        </p:blipFill>
        <p:spPr>
          <a:xfrm>
            <a:off x="2423160" y="3163824"/>
            <a:ext cx="2103120" cy="1463040"/>
          </a:xfrm>
          <a:prstGeom prst="rect">
            <a:avLst/>
          </a:prstGeom>
        </p:spPr>
      </p:pic>
      <p:sp>
        <p:nvSpPr>
          <p:cNvPr id="17" name="Text 11"/>
          <p:cNvSpPr/>
          <p:nvPr/>
        </p:nvSpPr>
        <p:spPr>
          <a:xfrm>
            <a:off x="4663440" y="2907792"/>
            <a:ext cx="2148840" cy="228600"/>
          </a:xfrm>
          <a:prstGeom prst="rect">
            <a:avLst/>
          </a:prstGeom>
          <a:noFill/>
          <a:ln/>
        </p:spPr>
        <p:txBody>
          <a:bodyPr wrap="square" rtlCol="0" anchor="ctr"/>
          <a:lstStyle/>
          <a:p>
            <a:pPr marL="0" indent="0">
              <a:buNone/>
            </a:pPr>
            <a:r>
              <a:rPr lang="en-US" sz="1000" b="1" dirty="0">
                <a:solidFill>
                  <a:srgbClr val="0D2B55"/>
                </a:solidFill>
                <a:latin typeface="Calibri" pitchFamily="34" charset="0"/>
                <a:ea typeface="Calibri" pitchFamily="34" charset="-122"/>
                <a:cs typeface="Calibri" pitchFamily="34" charset="-120"/>
              </a:rPr>
              <a:t>Air Safety Confusion Matrix</a:t>
            </a:r>
            <a:endParaRPr lang="en-US" sz="1000" dirty="0"/>
          </a:p>
        </p:txBody>
      </p:sp>
      <p:pic>
        <p:nvPicPr>
          <p:cNvPr id="18" name="Image 4" descr="preencoded.png"/>
          <p:cNvPicPr>
            <a:picLocks noChangeAspect="1"/>
          </p:cNvPicPr>
          <p:nvPr/>
        </p:nvPicPr>
        <p:blipFill>
          <a:blip r:embed="rId7"/>
          <a:stretch>
            <a:fillRect/>
          </a:stretch>
        </p:blipFill>
        <p:spPr>
          <a:xfrm>
            <a:off x="4663440" y="3163824"/>
            <a:ext cx="2148840" cy="1463040"/>
          </a:xfrm>
          <a:prstGeom prst="rect">
            <a:avLst/>
          </a:prstGeom>
        </p:spPr>
      </p:pic>
      <p:sp>
        <p:nvSpPr>
          <p:cNvPr id="19" name="Text 12"/>
          <p:cNvSpPr/>
          <p:nvPr/>
        </p:nvSpPr>
        <p:spPr>
          <a:xfrm>
            <a:off x="6903720" y="2907792"/>
            <a:ext cx="2057400" cy="228600"/>
          </a:xfrm>
          <a:prstGeom prst="rect">
            <a:avLst/>
          </a:prstGeom>
          <a:noFill/>
          <a:ln/>
        </p:spPr>
        <p:txBody>
          <a:bodyPr wrap="square" rtlCol="0" anchor="ctr"/>
          <a:lstStyle/>
          <a:p>
            <a:pPr marL="0" indent="0">
              <a:buNone/>
            </a:pPr>
            <a:r>
              <a:rPr lang="en-US" sz="1000" b="1" dirty="0">
                <a:solidFill>
                  <a:srgbClr val="0D2B55"/>
                </a:solidFill>
                <a:latin typeface="Calibri" pitchFamily="34" charset="0"/>
                <a:ea typeface="Calibri" pitchFamily="34" charset="-122"/>
                <a:cs typeface="Calibri" pitchFamily="34" charset="-120"/>
              </a:rPr>
              <a:t>Isolation Forest Score</a:t>
            </a:r>
            <a:endParaRPr lang="en-US" sz="1000" dirty="0"/>
          </a:p>
        </p:txBody>
      </p:sp>
      <p:pic>
        <p:nvPicPr>
          <p:cNvPr id="20" name="Image 5" descr="preencoded.png"/>
          <p:cNvPicPr>
            <a:picLocks noChangeAspect="1"/>
          </p:cNvPicPr>
          <p:nvPr/>
        </p:nvPicPr>
        <p:blipFill>
          <a:blip r:embed="rId8"/>
          <a:stretch>
            <a:fillRect/>
          </a:stretch>
        </p:blipFill>
        <p:spPr>
          <a:xfrm>
            <a:off x="6903720" y="3163824"/>
            <a:ext cx="2057400" cy="1463040"/>
          </a:xfrm>
          <a:prstGeom prst="rect">
            <a:avLst/>
          </a:prstGeom>
        </p:spPr>
      </p:pic>
      <p:sp>
        <p:nvSpPr>
          <p:cNvPr id="21" name="Shape 13"/>
          <p:cNvSpPr/>
          <p:nvPr/>
        </p:nvSpPr>
        <p:spPr>
          <a:xfrm>
            <a:off x="0" y="4956048"/>
            <a:ext cx="9144000" cy="192024"/>
          </a:xfrm>
          <a:prstGeom prst="rect">
            <a:avLst/>
          </a:prstGeom>
          <a:solidFill>
            <a:srgbClr val="0D2B55"/>
          </a:solidFill>
          <a:ln/>
        </p:spPr>
      </p:sp>
      <p:sp>
        <p:nvSpPr>
          <p:cNvPr id="22" name="Text 14"/>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23" name="Text 15"/>
          <p:cNvSpPr/>
          <p:nvPr/>
        </p:nvSpPr>
        <p:spPr>
          <a:xfrm>
            <a:off x="3657600" y="4965192"/>
            <a:ext cx="3657600" cy="173736"/>
          </a:xfrm>
          <a:prstGeom prst="rect">
            <a:avLst/>
          </a:prstGeom>
          <a:noFill/>
          <a:ln/>
        </p:spPr>
        <p:txBody>
          <a:bodyPr wrap="square" rtlCol="0" anchor="ctr"/>
          <a:lstStyle/>
          <a:p>
            <a:pPr marL="0" indent="0" algn="ctr">
              <a:buNone/>
            </a:pPr>
            <a:r>
              <a:rPr lang="en-US" sz="800" dirty="0">
                <a:solidFill>
                  <a:srgbClr val="90CAF9"/>
                </a:solidFill>
                <a:latin typeface="Calibri" pitchFamily="34" charset="0"/>
                <a:ea typeface="Calibri" pitchFamily="34" charset="-122"/>
                <a:cs typeface="Calibri" pitchFamily="34" charset="-120"/>
              </a:rPr>
              <a:t>IT22315700  |  Shaethayine.R</a:t>
            </a:r>
            <a:endParaRPr lang="en-US" sz="800" dirty="0"/>
          </a:p>
        </p:txBody>
      </p:sp>
      <p:sp>
        <p:nvSpPr>
          <p:cNvPr id="24" name="Text 16"/>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B55"/>
          </a:solidFill>
          <a:ln/>
        </p:spPr>
      </p:sp>
      <p:sp>
        <p:nvSpPr>
          <p:cNvPr id="3" name="Shape 1"/>
          <p:cNvSpPr/>
          <p:nvPr/>
        </p:nvSpPr>
        <p:spPr>
          <a:xfrm>
            <a:off x="0" y="0"/>
            <a:ext cx="73152" cy="822960"/>
          </a:xfrm>
          <a:prstGeom prst="rect">
            <a:avLst/>
          </a:prstGeom>
          <a:solidFill>
            <a:srgbClr val="1E88E5"/>
          </a:solidFill>
          <a:ln/>
        </p:spPr>
      </p:sp>
      <p:sp>
        <p:nvSpPr>
          <p:cNvPr id="4" name="Text 2"/>
          <p:cNvSpPr/>
          <p:nvPr/>
        </p:nvSpPr>
        <p:spPr>
          <a:xfrm>
            <a:off x="182880" y="73152"/>
            <a:ext cx="82296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n8n Automation Workflows — Energy Optimizer</a:t>
            </a:r>
            <a:endParaRPr lang="en-US" sz="2000" dirty="0"/>
          </a:p>
        </p:txBody>
      </p:sp>
      <p:sp>
        <p:nvSpPr>
          <p:cNvPr id="5" name="Text 3"/>
          <p:cNvSpPr/>
          <p:nvPr/>
        </p:nvSpPr>
        <p:spPr>
          <a:xfrm>
            <a:off x="182880" y="475488"/>
            <a:ext cx="8229600" cy="292608"/>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Automated alert escalation + daily PDF reporting via n8n</a:t>
            </a:r>
            <a:endParaRPr lang="en-US" sz="1100" dirty="0"/>
          </a:p>
        </p:txBody>
      </p:sp>
      <p:sp>
        <p:nvSpPr>
          <p:cNvPr id="6" name="Text 4"/>
          <p:cNvSpPr/>
          <p:nvPr/>
        </p:nvSpPr>
        <p:spPr>
          <a:xfrm>
            <a:off x="5943600" y="0"/>
            <a:ext cx="3108960" cy="384048"/>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AI &amp; IoT Smart Office System  |  SLIIT</a:t>
            </a:r>
            <a:endParaRPr lang="en-US" sz="800" dirty="0"/>
          </a:p>
        </p:txBody>
      </p:sp>
      <p:sp>
        <p:nvSpPr>
          <p:cNvPr id="7" name="Shape 5"/>
          <p:cNvSpPr/>
          <p:nvPr/>
        </p:nvSpPr>
        <p:spPr>
          <a:xfrm>
            <a:off x="182880" y="932688"/>
            <a:ext cx="4440275" cy="274320"/>
          </a:xfrm>
          <a:prstGeom prst="rect">
            <a:avLst/>
          </a:prstGeom>
          <a:solidFill>
            <a:srgbClr val="E3F2FD"/>
          </a:solidFill>
          <a:ln w="6350">
            <a:solidFill>
              <a:srgbClr val="0D2B55"/>
            </a:solidFill>
            <a:prstDash val="solid"/>
          </a:ln>
          <a:effectLst>
            <a:outerShdw blurRad="76200" dist="25400" dir="8100000" algn="bl" rotWithShape="0">
              <a:srgbClr val="000000">
                <a:alpha val="12000"/>
              </a:srgbClr>
            </a:outerShdw>
          </a:effectLst>
        </p:spPr>
      </p:sp>
      <p:sp>
        <p:nvSpPr>
          <p:cNvPr id="8" name="Shape 6"/>
          <p:cNvSpPr/>
          <p:nvPr/>
        </p:nvSpPr>
        <p:spPr>
          <a:xfrm>
            <a:off x="182880" y="932688"/>
            <a:ext cx="8961120" cy="256032"/>
          </a:xfrm>
          <a:prstGeom prst="rect">
            <a:avLst/>
          </a:prstGeom>
          <a:solidFill>
            <a:srgbClr val="0D2B55"/>
          </a:solidFill>
          <a:ln/>
        </p:spPr>
      </p:sp>
      <p:sp>
        <p:nvSpPr>
          <p:cNvPr id="9" name="Text 7"/>
          <p:cNvSpPr/>
          <p:nvPr/>
        </p:nvSpPr>
        <p:spPr>
          <a:xfrm>
            <a:off x="274320" y="932688"/>
            <a:ext cx="868680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Workflow 1: Alert Escalation (Critical Alerts → Voice Call → WhatsApp → Email)</a:t>
            </a:r>
            <a:endParaRPr lang="en-US" sz="1000" dirty="0"/>
          </a:p>
        </p:txBody>
      </p:sp>
      <p:pic>
        <p:nvPicPr>
          <p:cNvPr id="10" name="Image 0" descr="preencoded.png"/>
          <p:cNvPicPr>
            <a:picLocks noChangeAspect="1"/>
          </p:cNvPicPr>
          <p:nvPr/>
        </p:nvPicPr>
        <p:blipFill>
          <a:blip r:embed="rId3"/>
          <a:stretch>
            <a:fillRect/>
          </a:stretch>
        </p:blipFill>
        <p:spPr>
          <a:xfrm>
            <a:off x="182880" y="1261872"/>
            <a:ext cx="4440275" cy="1801368"/>
          </a:xfrm>
          <a:prstGeom prst="rect">
            <a:avLst/>
          </a:prstGeom>
        </p:spPr>
      </p:pic>
      <p:sp>
        <p:nvSpPr>
          <p:cNvPr id="14" name="Text 11"/>
          <p:cNvSpPr/>
          <p:nvPr/>
        </p:nvSpPr>
        <p:spPr>
          <a:xfrm>
            <a:off x="4642658" y="1332058"/>
            <a:ext cx="4227022" cy="865467"/>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① Alert Webhook triggered → ② Twilio Voice Call to operator → ③ Wait 2 min → ④ Check Acknowledgement (ACK) → If still unacked: ⑤ WhatsApp Security message → Wait 2 min → ⑥ Check ACK again → If still unacked: ⑦ Email Operator  |  If acked at any stage → End</a:t>
            </a:r>
            <a:endParaRPr lang="en-US" sz="1000" dirty="0"/>
          </a:p>
        </p:txBody>
      </p:sp>
      <p:sp>
        <p:nvSpPr>
          <p:cNvPr id="16" name="Shape 13"/>
          <p:cNvSpPr/>
          <p:nvPr/>
        </p:nvSpPr>
        <p:spPr>
          <a:xfrm>
            <a:off x="182880" y="3177540"/>
            <a:ext cx="8961120" cy="256032"/>
          </a:xfrm>
          <a:prstGeom prst="rect">
            <a:avLst/>
          </a:prstGeom>
          <a:solidFill>
            <a:srgbClr val="00ACC1"/>
          </a:solidFill>
          <a:ln/>
        </p:spPr>
      </p:sp>
      <p:sp>
        <p:nvSpPr>
          <p:cNvPr id="17" name="Text 14"/>
          <p:cNvSpPr/>
          <p:nvPr/>
        </p:nvSpPr>
        <p:spPr>
          <a:xfrm>
            <a:off x="175207" y="3204972"/>
            <a:ext cx="8686800" cy="25603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Workflow 2: Daily PDF Report (Every Day 8 AM → Download PDF → Email Manager)</a:t>
            </a:r>
            <a:endParaRPr lang="en-US" sz="1000" dirty="0"/>
          </a:p>
        </p:txBody>
      </p:sp>
      <p:pic>
        <p:nvPicPr>
          <p:cNvPr id="18" name="Image 1" descr="preencoded.png"/>
          <p:cNvPicPr>
            <a:picLocks noChangeAspect="1"/>
          </p:cNvPicPr>
          <p:nvPr/>
        </p:nvPicPr>
        <p:blipFill>
          <a:blip r:embed="rId4"/>
          <a:stretch>
            <a:fillRect/>
          </a:stretch>
        </p:blipFill>
        <p:spPr>
          <a:xfrm>
            <a:off x="182880" y="3482257"/>
            <a:ext cx="4459778" cy="1245191"/>
          </a:xfrm>
          <a:prstGeom prst="rect">
            <a:avLst/>
          </a:prstGeom>
        </p:spPr>
      </p:pic>
      <p:sp>
        <p:nvSpPr>
          <p:cNvPr id="19" name="Text 15"/>
          <p:cNvSpPr/>
          <p:nvPr/>
        </p:nvSpPr>
        <p:spPr>
          <a:xfrm>
            <a:off x="4927369" y="3482257"/>
            <a:ext cx="3657600" cy="1052231"/>
          </a:xfrm>
          <a:prstGeom prst="rect">
            <a:avLst/>
          </a:prstGeom>
          <a:noFill/>
          <a:ln/>
        </p:spPr>
        <p:txBody>
          <a:bodyPr wrap="square" rtlCol="0" anchor="ctr"/>
          <a:lstStyle/>
          <a:p>
            <a:pPr marL="0" indent="0">
              <a:buNone/>
            </a:pPr>
            <a:r>
              <a:rPr lang="en-US" sz="1000" dirty="0">
                <a:latin typeface="Calibri" pitchFamily="34" charset="0"/>
                <a:ea typeface="Calibri" pitchFamily="34" charset="-122"/>
                <a:cs typeface="Calibri" pitchFamily="34" charset="-120"/>
              </a:rPr>
              <a:t>Automated daily energy summary report emailed to manager every morning at 8 AM — no manual intervention required.</a:t>
            </a:r>
            <a:endParaRPr lang="en-US" sz="1000" dirty="0"/>
          </a:p>
        </p:txBody>
      </p:sp>
      <p:sp>
        <p:nvSpPr>
          <p:cNvPr id="20" name="Shape 16"/>
          <p:cNvSpPr/>
          <p:nvPr/>
        </p:nvSpPr>
        <p:spPr>
          <a:xfrm>
            <a:off x="0" y="4956048"/>
            <a:ext cx="9144000" cy="192024"/>
          </a:xfrm>
          <a:prstGeom prst="rect">
            <a:avLst/>
          </a:prstGeom>
          <a:solidFill>
            <a:srgbClr val="0D2B55"/>
          </a:solidFill>
          <a:ln/>
        </p:spPr>
      </p:sp>
      <p:sp>
        <p:nvSpPr>
          <p:cNvPr id="21" name="Text 17"/>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22" name="Text 18"/>
          <p:cNvSpPr/>
          <p:nvPr/>
        </p:nvSpPr>
        <p:spPr>
          <a:xfrm>
            <a:off x="3657600" y="4965192"/>
            <a:ext cx="3657600" cy="173736"/>
          </a:xfrm>
          <a:prstGeom prst="rect">
            <a:avLst/>
          </a:prstGeom>
          <a:noFill/>
          <a:ln/>
        </p:spPr>
        <p:txBody>
          <a:bodyPr wrap="square" rtlCol="0" anchor="ctr"/>
          <a:lstStyle/>
          <a:p>
            <a:pPr marL="0" indent="0" algn="ctr">
              <a:buNone/>
            </a:pPr>
            <a:r>
              <a:rPr lang="en-US" sz="800" dirty="0">
                <a:solidFill>
                  <a:srgbClr val="90CAF9"/>
                </a:solidFill>
                <a:latin typeface="Calibri" pitchFamily="34" charset="0"/>
                <a:ea typeface="Calibri" pitchFamily="34" charset="-122"/>
                <a:cs typeface="Calibri" pitchFamily="34" charset="-120"/>
              </a:rPr>
              <a:t>IT22315700  |  Shaethayine.R</a:t>
            </a:r>
            <a:endParaRPr lang="en-US" sz="800" dirty="0"/>
          </a:p>
        </p:txBody>
      </p:sp>
      <p:sp>
        <p:nvSpPr>
          <p:cNvPr id="23" name="Text 19"/>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B55"/>
          </a:solidFill>
          <a:ln/>
        </p:spPr>
      </p:sp>
      <p:sp>
        <p:nvSpPr>
          <p:cNvPr id="3" name="Shape 1"/>
          <p:cNvSpPr/>
          <p:nvPr/>
        </p:nvSpPr>
        <p:spPr>
          <a:xfrm>
            <a:off x="0" y="0"/>
            <a:ext cx="73152" cy="822960"/>
          </a:xfrm>
          <a:prstGeom prst="rect">
            <a:avLst/>
          </a:prstGeom>
          <a:solidFill>
            <a:srgbClr val="1E88E5"/>
          </a:solidFill>
          <a:ln/>
        </p:spPr>
      </p:sp>
      <p:sp>
        <p:nvSpPr>
          <p:cNvPr id="4" name="Text 2"/>
          <p:cNvSpPr/>
          <p:nvPr/>
        </p:nvSpPr>
        <p:spPr>
          <a:xfrm>
            <a:off x="182880" y="73152"/>
            <a:ext cx="82296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Smart Office Intelligence Platform</a:t>
            </a:r>
            <a:endParaRPr lang="en-US" sz="2000" dirty="0"/>
          </a:p>
        </p:txBody>
      </p:sp>
      <p:sp>
        <p:nvSpPr>
          <p:cNvPr id="5" name="Text 3"/>
          <p:cNvSpPr/>
          <p:nvPr/>
        </p:nvSpPr>
        <p:spPr>
          <a:xfrm>
            <a:off x="182880" y="475488"/>
            <a:ext cx="8229600" cy="292608"/>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Component 3  |  M.A.H.S. Thathsarani  |  IT22564672</a:t>
            </a:r>
            <a:endParaRPr lang="en-US" sz="1100" dirty="0"/>
          </a:p>
        </p:txBody>
      </p:sp>
      <p:sp>
        <p:nvSpPr>
          <p:cNvPr id="6" name="Text 4"/>
          <p:cNvSpPr/>
          <p:nvPr/>
        </p:nvSpPr>
        <p:spPr>
          <a:xfrm>
            <a:off x="5943600" y="0"/>
            <a:ext cx="3108960" cy="384048"/>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AI &amp; IoT Smart Office System  |  SLIIT</a:t>
            </a:r>
            <a:endParaRPr lang="en-US" sz="800" dirty="0"/>
          </a:p>
        </p:txBody>
      </p:sp>
      <p:sp>
        <p:nvSpPr>
          <p:cNvPr id="7" name="Shape 5"/>
          <p:cNvSpPr/>
          <p:nvPr/>
        </p:nvSpPr>
        <p:spPr>
          <a:xfrm>
            <a:off x="164592" y="932688"/>
            <a:ext cx="1353312" cy="548640"/>
          </a:xfrm>
          <a:prstGeom prst="roundRect">
            <a:avLst>
              <a:gd name="adj" fmla="val 10000"/>
            </a:avLst>
          </a:prstGeom>
          <a:solidFill>
            <a:srgbClr val="E3F2FD"/>
          </a:solidFill>
          <a:ln w="10160">
            <a:solidFill>
              <a:srgbClr val="1E88E5"/>
            </a:solidFill>
            <a:prstDash val="solid"/>
          </a:ln>
        </p:spPr>
      </p:sp>
      <p:sp>
        <p:nvSpPr>
          <p:cNvPr id="8" name="Shape 6"/>
          <p:cNvSpPr/>
          <p:nvPr/>
        </p:nvSpPr>
        <p:spPr>
          <a:xfrm>
            <a:off x="164592" y="932688"/>
            <a:ext cx="1353312" cy="54864"/>
          </a:xfrm>
          <a:prstGeom prst="rect">
            <a:avLst/>
          </a:prstGeom>
          <a:solidFill>
            <a:srgbClr val="1E88E5"/>
          </a:solidFill>
          <a:ln/>
        </p:spPr>
      </p:sp>
      <p:sp>
        <p:nvSpPr>
          <p:cNvPr id="9" name="Text 7"/>
          <p:cNvSpPr/>
          <p:nvPr/>
        </p:nvSpPr>
        <p:spPr>
          <a:xfrm>
            <a:off x="164592" y="932688"/>
            <a:ext cx="1353312" cy="54864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Webcam</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Input</a:t>
            </a:r>
            <a:endParaRPr lang="en-US" sz="1000" dirty="0"/>
          </a:p>
        </p:txBody>
      </p:sp>
      <p:sp>
        <p:nvSpPr>
          <p:cNvPr id="10" name="Shape 8"/>
          <p:cNvSpPr/>
          <p:nvPr/>
        </p:nvSpPr>
        <p:spPr>
          <a:xfrm>
            <a:off x="1517904" y="1207008"/>
            <a:ext cx="128016" cy="0"/>
          </a:xfrm>
          <a:prstGeom prst="line">
            <a:avLst/>
          </a:prstGeom>
          <a:noFill/>
          <a:ln w="19050">
            <a:solidFill>
              <a:srgbClr val="1E88E5"/>
            </a:solidFill>
            <a:prstDash val="solid"/>
          </a:ln>
        </p:spPr>
      </p:sp>
      <p:sp>
        <p:nvSpPr>
          <p:cNvPr id="11" name="Shape 9"/>
          <p:cNvSpPr/>
          <p:nvPr/>
        </p:nvSpPr>
        <p:spPr>
          <a:xfrm>
            <a:off x="1645920" y="932688"/>
            <a:ext cx="1353312" cy="548640"/>
          </a:xfrm>
          <a:prstGeom prst="roundRect">
            <a:avLst>
              <a:gd name="adj" fmla="val 10000"/>
            </a:avLst>
          </a:prstGeom>
          <a:solidFill>
            <a:srgbClr val="E3F2FD"/>
          </a:solidFill>
          <a:ln w="10160">
            <a:solidFill>
              <a:srgbClr val="1E88E5"/>
            </a:solidFill>
            <a:prstDash val="solid"/>
          </a:ln>
        </p:spPr>
      </p:sp>
      <p:sp>
        <p:nvSpPr>
          <p:cNvPr id="12" name="Shape 10"/>
          <p:cNvSpPr/>
          <p:nvPr/>
        </p:nvSpPr>
        <p:spPr>
          <a:xfrm>
            <a:off x="1645920" y="932688"/>
            <a:ext cx="1353312" cy="54864"/>
          </a:xfrm>
          <a:prstGeom prst="rect">
            <a:avLst/>
          </a:prstGeom>
          <a:solidFill>
            <a:srgbClr val="1E88E5"/>
          </a:solidFill>
          <a:ln/>
        </p:spPr>
      </p:sp>
      <p:sp>
        <p:nvSpPr>
          <p:cNvPr id="13" name="Text 11"/>
          <p:cNvSpPr/>
          <p:nvPr/>
        </p:nvSpPr>
        <p:spPr>
          <a:xfrm>
            <a:off x="1645920" y="932688"/>
            <a:ext cx="1353312" cy="54864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FastAPI</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Backend</a:t>
            </a:r>
            <a:endParaRPr lang="en-US" sz="1000" dirty="0"/>
          </a:p>
        </p:txBody>
      </p:sp>
      <p:sp>
        <p:nvSpPr>
          <p:cNvPr id="14" name="Shape 12"/>
          <p:cNvSpPr/>
          <p:nvPr/>
        </p:nvSpPr>
        <p:spPr>
          <a:xfrm>
            <a:off x="2999232" y="1207008"/>
            <a:ext cx="128016" cy="0"/>
          </a:xfrm>
          <a:prstGeom prst="line">
            <a:avLst/>
          </a:prstGeom>
          <a:noFill/>
          <a:ln w="19050">
            <a:solidFill>
              <a:srgbClr val="1E88E5"/>
            </a:solidFill>
            <a:prstDash val="solid"/>
          </a:ln>
        </p:spPr>
      </p:sp>
      <p:sp>
        <p:nvSpPr>
          <p:cNvPr id="15" name="Shape 13"/>
          <p:cNvSpPr/>
          <p:nvPr/>
        </p:nvSpPr>
        <p:spPr>
          <a:xfrm>
            <a:off x="3127248" y="932688"/>
            <a:ext cx="1353312" cy="548640"/>
          </a:xfrm>
          <a:prstGeom prst="roundRect">
            <a:avLst>
              <a:gd name="adj" fmla="val 10000"/>
            </a:avLst>
          </a:prstGeom>
          <a:solidFill>
            <a:srgbClr val="E3F2FD"/>
          </a:solidFill>
          <a:ln w="10160">
            <a:solidFill>
              <a:srgbClr val="1E88E5"/>
            </a:solidFill>
            <a:prstDash val="solid"/>
          </a:ln>
        </p:spPr>
      </p:sp>
      <p:sp>
        <p:nvSpPr>
          <p:cNvPr id="16" name="Shape 14"/>
          <p:cNvSpPr/>
          <p:nvPr/>
        </p:nvSpPr>
        <p:spPr>
          <a:xfrm>
            <a:off x="3127248" y="932688"/>
            <a:ext cx="1353312" cy="54864"/>
          </a:xfrm>
          <a:prstGeom prst="rect">
            <a:avLst/>
          </a:prstGeom>
          <a:solidFill>
            <a:srgbClr val="1E88E5"/>
          </a:solidFill>
          <a:ln/>
        </p:spPr>
      </p:sp>
      <p:sp>
        <p:nvSpPr>
          <p:cNvPr id="17" name="Text 15"/>
          <p:cNvSpPr/>
          <p:nvPr/>
        </p:nvSpPr>
        <p:spPr>
          <a:xfrm>
            <a:off x="3127248" y="932688"/>
            <a:ext cx="1353312" cy="54864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Stress</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ML Model</a:t>
            </a:r>
            <a:endParaRPr lang="en-US" sz="1000" dirty="0"/>
          </a:p>
        </p:txBody>
      </p:sp>
      <p:sp>
        <p:nvSpPr>
          <p:cNvPr id="18" name="Shape 16"/>
          <p:cNvSpPr/>
          <p:nvPr/>
        </p:nvSpPr>
        <p:spPr>
          <a:xfrm>
            <a:off x="4480560" y="1207008"/>
            <a:ext cx="128016" cy="0"/>
          </a:xfrm>
          <a:prstGeom prst="line">
            <a:avLst/>
          </a:prstGeom>
          <a:noFill/>
          <a:ln w="19050">
            <a:solidFill>
              <a:srgbClr val="1E88E5"/>
            </a:solidFill>
            <a:prstDash val="solid"/>
          </a:ln>
        </p:spPr>
      </p:sp>
      <p:sp>
        <p:nvSpPr>
          <p:cNvPr id="19" name="Shape 17"/>
          <p:cNvSpPr/>
          <p:nvPr/>
        </p:nvSpPr>
        <p:spPr>
          <a:xfrm>
            <a:off x="4608576" y="932688"/>
            <a:ext cx="1353312" cy="548640"/>
          </a:xfrm>
          <a:prstGeom prst="roundRect">
            <a:avLst>
              <a:gd name="adj" fmla="val 10000"/>
            </a:avLst>
          </a:prstGeom>
          <a:solidFill>
            <a:srgbClr val="E3F2FD"/>
          </a:solidFill>
          <a:ln w="10160">
            <a:solidFill>
              <a:srgbClr val="1E88E5"/>
            </a:solidFill>
            <a:prstDash val="solid"/>
          </a:ln>
        </p:spPr>
      </p:sp>
      <p:sp>
        <p:nvSpPr>
          <p:cNvPr id="20" name="Shape 18"/>
          <p:cNvSpPr/>
          <p:nvPr/>
        </p:nvSpPr>
        <p:spPr>
          <a:xfrm>
            <a:off x="4608576" y="932688"/>
            <a:ext cx="1353312" cy="54864"/>
          </a:xfrm>
          <a:prstGeom prst="rect">
            <a:avLst/>
          </a:prstGeom>
          <a:solidFill>
            <a:srgbClr val="1E88E5"/>
          </a:solidFill>
          <a:ln/>
        </p:spPr>
      </p:sp>
      <p:sp>
        <p:nvSpPr>
          <p:cNvPr id="21" name="Text 19"/>
          <p:cNvSpPr/>
          <p:nvPr/>
        </p:nvSpPr>
        <p:spPr>
          <a:xfrm>
            <a:off x="4608576" y="932688"/>
            <a:ext cx="1353312" cy="54864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Task</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Allocator</a:t>
            </a:r>
            <a:endParaRPr lang="en-US" sz="1000" dirty="0"/>
          </a:p>
        </p:txBody>
      </p:sp>
      <p:sp>
        <p:nvSpPr>
          <p:cNvPr id="22" name="Shape 20"/>
          <p:cNvSpPr/>
          <p:nvPr/>
        </p:nvSpPr>
        <p:spPr>
          <a:xfrm>
            <a:off x="5961888" y="1207008"/>
            <a:ext cx="128016" cy="0"/>
          </a:xfrm>
          <a:prstGeom prst="line">
            <a:avLst/>
          </a:prstGeom>
          <a:noFill/>
          <a:ln w="19050">
            <a:solidFill>
              <a:srgbClr val="1E88E5"/>
            </a:solidFill>
            <a:prstDash val="solid"/>
          </a:ln>
        </p:spPr>
      </p:sp>
      <p:sp>
        <p:nvSpPr>
          <p:cNvPr id="23" name="Shape 21"/>
          <p:cNvSpPr/>
          <p:nvPr/>
        </p:nvSpPr>
        <p:spPr>
          <a:xfrm>
            <a:off x="6089904" y="932688"/>
            <a:ext cx="1353312" cy="548640"/>
          </a:xfrm>
          <a:prstGeom prst="roundRect">
            <a:avLst>
              <a:gd name="adj" fmla="val 10000"/>
            </a:avLst>
          </a:prstGeom>
          <a:solidFill>
            <a:srgbClr val="E3F2FD"/>
          </a:solidFill>
          <a:ln w="10160">
            <a:solidFill>
              <a:srgbClr val="1E88E5"/>
            </a:solidFill>
            <a:prstDash val="solid"/>
          </a:ln>
        </p:spPr>
      </p:sp>
      <p:sp>
        <p:nvSpPr>
          <p:cNvPr id="24" name="Shape 22"/>
          <p:cNvSpPr/>
          <p:nvPr/>
        </p:nvSpPr>
        <p:spPr>
          <a:xfrm>
            <a:off x="6089904" y="932688"/>
            <a:ext cx="1353312" cy="54864"/>
          </a:xfrm>
          <a:prstGeom prst="rect">
            <a:avLst/>
          </a:prstGeom>
          <a:solidFill>
            <a:srgbClr val="1E88E5"/>
          </a:solidFill>
          <a:ln/>
        </p:spPr>
      </p:sp>
      <p:sp>
        <p:nvSpPr>
          <p:cNvPr id="25" name="Text 23"/>
          <p:cNvSpPr/>
          <p:nvPr/>
        </p:nvSpPr>
        <p:spPr>
          <a:xfrm>
            <a:off x="6089904" y="932688"/>
            <a:ext cx="1353312" cy="54864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WebSocket</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Layer</a:t>
            </a:r>
            <a:endParaRPr lang="en-US" sz="1000" dirty="0"/>
          </a:p>
        </p:txBody>
      </p:sp>
      <p:sp>
        <p:nvSpPr>
          <p:cNvPr id="26" name="Shape 24"/>
          <p:cNvSpPr/>
          <p:nvPr/>
        </p:nvSpPr>
        <p:spPr>
          <a:xfrm>
            <a:off x="7443216" y="1207008"/>
            <a:ext cx="128016" cy="0"/>
          </a:xfrm>
          <a:prstGeom prst="line">
            <a:avLst/>
          </a:prstGeom>
          <a:noFill/>
          <a:ln w="19050">
            <a:solidFill>
              <a:srgbClr val="1E88E5"/>
            </a:solidFill>
            <a:prstDash val="solid"/>
          </a:ln>
        </p:spPr>
      </p:sp>
      <p:sp>
        <p:nvSpPr>
          <p:cNvPr id="27" name="Shape 25"/>
          <p:cNvSpPr/>
          <p:nvPr/>
        </p:nvSpPr>
        <p:spPr>
          <a:xfrm>
            <a:off x="7571232" y="932688"/>
            <a:ext cx="1353312" cy="548640"/>
          </a:xfrm>
          <a:prstGeom prst="roundRect">
            <a:avLst>
              <a:gd name="adj" fmla="val 10000"/>
            </a:avLst>
          </a:prstGeom>
          <a:solidFill>
            <a:srgbClr val="E3F2FD"/>
          </a:solidFill>
          <a:ln w="10160">
            <a:solidFill>
              <a:srgbClr val="1E88E5"/>
            </a:solidFill>
            <a:prstDash val="solid"/>
          </a:ln>
        </p:spPr>
      </p:sp>
      <p:sp>
        <p:nvSpPr>
          <p:cNvPr id="28" name="Shape 26"/>
          <p:cNvSpPr/>
          <p:nvPr/>
        </p:nvSpPr>
        <p:spPr>
          <a:xfrm>
            <a:off x="7571232" y="932688"/>
            <a:ext cx="1353312" cy="54864"/>
          </a:xfrm>
          <a:prstGeom prst="rect">
            <a:avLst/>
          </a:prstGeom>
          <a:solidFill>
            <a:srgbClr val="1E88E5"/>
          </a:solidFill>
          <a:ln/>
        </p:spPr>
      </p:sp>
      <p:sp>
        <p:nvSpPr>
          <p:cNvPr id="29" name="Text 27"/>
          <p:cNvSpPr/>
          <p:nvPr/>
        </p:nvSpPr>
        <p:spPr>
          <a:xfrm>
            <a:off x="7571232" y="932688"/>
            <a:ext cx="1353312" cy="548640"/>
          </a:xfrm>
          <a:prstGeom prst="rect">
            <a:avLst/>
          </a:prstGeom>
          <a:noFill/>
          <a:ln/>
        </p:spPr>
        <p:txBody>
          <a:bodyPr wrap="square" rtlCol="0" anchor="ctr"/>
          <a:lstStyle/>
          <a:p>
            <a:pPr marL="0" indent="0" algn="ctr">
              <a:buNone/>
            </a:pPr>
            <a:r>
              <a:rPr lang="en-US" sz="1000" dirty="0">
                <a:solidFill>
                  <a:srgbClr val="0D2B55"/>
                </a:solidFill>
                <a:latin typeface="Calibri" pitchFamily="34" charset="0"/>
                <a:ea typeface="Calibri" pitchFamily="34" charset="-122"/>
                <a:cs typeface="Calibri" pitchFamily="34" charset="-120"/>
              </a:rPr>
              <a:t>Next.js</a:t>
            </a:r>
            <a:endParaRPr lang="en-US" sz="1000" dirty="0"/>
          </a:p>
          <a:p>
            <a:pPr marL="0" indent="0" algn="ctr">
              <a:buNone/>
            </a:pPr>
            <a:r>
              <a:rPr lang="en-US" sz="1000" dirty="0">
                <a:solidFill>
                  <a:srgbClr val="0D2B55"/>
                </a:solidFill>
                <a:latin typeface="Calibri" pitchFamily="34" charset="0"/>
                <a:ea typeface="Calibri" pitchFamily="34" charset="-122"/>
                <a:cs typeface="Calibri" pitchFamily="34" charset="-120"/>
              </a:rPr>
              <a:t>Dashboard</a:t>
            </a:r>
            <a:endParaRPr lang="en-US" sz="1000" dirty="0"/>
          </a:p>
        </p:txBody>
      </p:sp>
      <p:sp>
        <p:nvSpPr>
          <p:cNvPr id="30" name="Shape 28"/>
          <p:cNvSpPr/>
          <p:nvPr/>
        </p:nvSpPr>
        <p:spPr>
          <a:xfrm>
            <a:off x="182880" y="1600200"/>
            <a:ext cx="2926080" cy="3200400"/>
          </a:xfrm>
          <a:prstGeom prst="rect">
            <a:avLst/>
          </a:prstGeom>
          <a:solidFill>
            <a:srgbClr val="E3F2FD"/>
          </a:solidFill>
          <a:ln w="6350">
            <a:solidFill>
              <a:srgbClr val="0D2B55"/>
            </a:solidFill>
            <a:prstDash val="solid"/>
          </a:ln>
          <a:effectLst>
            <a:outerShdw blurRad="76200" dist="25400" dir="8100000" algn="bl" rotWithShape="0">
              <a:srgbClr val="000000">
                <a:alpha val="12000"/>
              </a:srgbClr>
            </a:outerShdw>
          </a:effectLst>
        </p:spPr>
      </p:sp>
      <p:sp>
        <p:nvSpPr>
          <p:cNvPr id="31" name="Shape 29"/>
          <p:cNvSpPr/>
          <p:nvPr/>
        </p:nvSpPr>
        <p:spPr>
          <a:xfrm>
            <a:off x="182880" y="1600200"/>
            <a:ext cx="2926080" cy="256032"/>
          </a:xfrm>
          <a:prstGeom prst="rect">
            <a:avLst/>
          </a:prstGeom>
          <a:solidFill>
            <a:srgbClr val="0D2B55"/>
          </a:solidFill>
          <a:ln/>
        </p:spPr>
      </p:sp>
      <p:sp>
        <p:nvSpPr>
          <p:cNvPr id="32" name="Text 30"/>
          <p:cNvSpPr/>
          <p:nvPr/>
        </p:nvSpPr>
        <p:spPr>
          <a:xfrm>
            <a:off x="274320" y="1600200"/>
            <a:ext cx="283464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Stress Detection Module</a:t>
            </a:r>
            <a:endParaRPr lang="en-US" sz="1000" dirty="0"/>
          </a:p>
        </p:txBody>
      </p:sp>
      <p:sp>
        <p:nvSpPr>
          <p:cNvPr id="33" name="Text 31"/>
          <p:cNvSpPr/>
          <p:nvPr/>
        </p:nvSpPr>
        <p:spPr>
          <a:xfrm>
            <a:off x="320040" y="1920240"/>
            <a:ext cx="2697480" cy="2103120"/>
          </a:xfrm>
          <a:prstGeom prst="rect">
            <a:avLst/>
          </a:prstGeom>
          <a:noFill/>
          <a:ln/>
        </p:spPr>
        <p:txBody>
          <a:bodyPr wrap="square" rtlCol="0" anchor="t"/>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Webcam captures employee facial images in real-time</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Face detection + preprocessing (resize, normalize)</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ML model classifies stress into: Low / Normal / High</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Placeholder model (~90% simulated acc) — CNN integration planned</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AffectNet (~400K images) + FER2013 (~35K) datasets planned</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Results visible on admin dashboard only (privacy-protected)</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182880" y="4069080"/>
          <a:ext cx="2926080" cy="1219200"/>
        </p:xfrm>
        <a:graphic>
          <a:graphicData uri="http://schemas.openxmlformats.org/drawingml/2006/table">
            <a:tbl>
              <a:tblPr/>
              <a:tblGrid>
                <a:gridCol w="97536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tblGrid>
              <a:tr h="146304">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Test Case</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55"/>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Input</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55"/>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2B55"/>
                    </a:solidFill>
                  </a:tcPr>
                </a:tc>
                <a:extLst>
                  <a:ext uri="{0D108BD9-81ED-4DB2-BD59-A6C34878D82A}">
                    <a16:rowId xmlns:a16="http://schemas.microsoft.com/office/drawing/2014/main" val="10000"/>
                  </a:ext>
                </a:extLst>
              </a:tr>
              <a:tr h="146304">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TC1</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Neutral face</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 Normal</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1"/>
                  </a:ext>
                </a:extLst>
              </a:tr>
              <a:tr h="146304">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TC2</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Happy face</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 Low</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2"/>
                  </a:ext>
                </a:extLst>
              </a:tr>
              <a:tr h="146304">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TC3</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Angry/Sad</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 High</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3"/>
                  </a:ext>
                </a:extLst>
              </a:tr>
              <a:tr h="146304">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TC4</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Random input</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 Valid</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4"/>
                  </a:ext>
                </a:extLst>
              </a:tr>
            </a:tbl>
          </a:graphicData>
        </a:graphic>
      </p:graphicFrame>
      <p:sp>
        <p:nvSpPr>
          <p:cNvPr id="35" name="Shape 32"/>
          <p:cNvSpPr/>
          <p:nvPr/>
        </p:nvSpPr>
        <p:spPr>
          <a:xfrm>
            <a:off x="3246120" y="1600200"/>
            <a:ext cx="2880360" cy="3200400"/>
          </a:xfrm>
          <a:prstGeom prst="rect">
            <a:avLst/>
          </a:prstGeom>
          <a:solidFill>
            <a:srgbClr val="E3F2FD"/>
          </a:solidFill>
          <a:ln w="6350">
            <a:solidFill>
              <a:srgbClr val="1565C0"/>
            </a:solidFill>
            <a:prstDash val="solid"/>
          </a:ln>
          <a:effectLst>
            <a:outerShdw blurRad="76200" dist="25400" dir="8100000" algn="bl" rotWithShape="0">
              <a:srgbClr val="000000">
                <a:alpha val="12000"/>
              </a:srgbClr>
            </a:outerShdw>
          </a:effectLst>
        </p:spPr>
      </p:sp>
      <p:sp>
        <p:nvSpPr>
          <p:cNvPr id="36" name="Shape 33"/>
          <p:cNvSpPr/>
          <p:nvPr/>
        </p:nvSpPr>
        <p:spPr>
          <a:xfrm>
            <a:off x="3246120" y="1600200"/>
            <a:ext cx="2880360" cy="256032"/>
          </a:xfrm>
          <a:prstGeom prst="rect">
            <a:avLst/>
          </a:prstGeom>
          <a:solidFill>
            <a:srgbClr val="1565C0"/>
          </a:solidFill>
          <a:ln/>
        </p:spPr>
      </p:sp>
      <p:sp>
        <p:nvSpPr>
          <p:cNvPr id="37" name="Text 34"/>
          <p:cNvSpPr/>
          <p:nvPr/>
        </p:nvSpPr>
        <p:spPr>
          <a:xfrm>
            <a:off x="3337560" y="1600200"/>
            <a:ext cx="278892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Task Allocation Module</a:t>
            </a:r>
            <a:endParaRPr lang="en-US" sz="1000" dirty="0"/>
          </a:p>
        </p:txBody>
      </p:sp>
      <p:sp>
        <p:nvSpPr>
          <p:cNvPr id="38" name="Text 35"/>
          <p:cNvSpPr/>
          <p:nvPr/>
        </p:nvSpPr>
        <p:spPr>
          <a:xfrm>
            <a:off x="3383280" y="1920240"/>
            <a:ext cx="2651760" cy="2103120"/>
          </a:xfrm>
          <a:prstGeom prst="rect">
            <a:avLst/>
          </a:prstGeom>
          <a:noFill/>
          <a:ln/>
        </p:spPr>
        <p:txBody>
          <a:bodyPr wrap="square" rtlCol="0" anchor="t"/>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Stress level → workload category mapping</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High stress → Low workload tasks assigned</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Normal stress → Medium workload tasks assigned</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Low stress → High workload tasks assigned</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Rule-based decision engine (ML upgrade planned)</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Automatic task rotation after completion</a:t>
            </a:r>
            <a:endParaRPr lang="en-US" sz="10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3246120" y="4069080"/>
          <a:ext cx="2880360" cy="1127760"/>
        </p:xfrm>
        <a:graphic>
          <a:graphicData uri="http://schemas.openxmlformats.org/drawingml/2006/table">
            <a:tbl>
              <a:tblPr/>
              <a:tblGrid>
                <a:gridCol w="96012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tblGrid>
              <a:tr h="18288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Stress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Task Assigned</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182880">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High Workload</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 Pass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1"/>
                  </a:ext>
                </a:extLst>
              </a:tr>
              <a:tr h="182880">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Normal</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Medium Workload</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 Pass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2"/>
                  </a:ext>
                </a:extLst>
              </a:tr>
              <a:tr h="182880">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Low Workload</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1000" dirty="0">
                          <a:solidFill>
                            <a:srgbClr val="1A1A2E"/>
                          </a:solidFill>
                          <a:latin typeface="Calibri" pitchFamily="34" charset="0"/>
                          <a:ea typeface="Calibri" pitchFamily="34" charset="-122"/>
                          <a:cs typeface="Calibri" pitchFamily="34" charset="-120"/>
                        </a:rPr>
                        <a:t>✓ Pass</a:t>
                      </a:r>
                      <a:endParaRPr lang="en-US" sz="10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3"/>
                  </a:ext>
                </a:extLst>
              </a:tr>
            </a:tbl>
          </a:graphicData>
        </a:graphic>
      </p:graphicFrame>
      <p:sp>
        <p:nvSpPr>
          <p:cNvPr id="40" name="Shape 36"/>
          <p:cNvSpPr/>
          <p:nvPr/>
        </p:nvSpPr>
        <p:spPr>
          <a:xfrm>
            <a:off x="6263640" y="1600200"/>
            <a:ext cx="2697480" cy="1600200"/>
          </a:xfrm>
          <a:prstGeom prst="rect">
            <a:avLst/>
          </a:prstGeom>
          <a:solidFill>
            <a:srgbClr val="E3F2FD"/>
          </a:solidFill>
          <a:ln w="6350">
            <a:solidFill>
              <a:srgbClr val="1E88E5"/>
            </a:solidFill>
            <a:prstDash val="solid"/>
          </a:ln>
          <a:effectLst>
            <a:outerShdw blurRad="76200" dist="25400" dir="8100000" algn="bl" rotWithShape="0">
              <a:srgbClr val="000000">
                <a:alpha val="12000"/>
              </a:srgbClr>
            </a:outerShdw>
          </a:effectLst>
        </p:spPr>
      </p:sp>
      <p:sp>
        <p:nvSpPr>
          <p:cNvPr id="41" name="Shape 37"/>
          <p:cNvSpPr/>
          <p:nvPr/>
        </p:nvSpPr>
        <p:spPr>
          <a:xfrm>
            <a:off x="6263640" y="1600200"/>
            <a:ext cx="2697480" cy="256032"/>
          </a:xfrm>
          <a:prstGeom prst="rect">
            <a:avLst/>
          </a:prstGeom>
          <a:solidFill>
            <a:srgbClr val="1E88E5"/>
          </a:solidFill>
          <a:ln/>
        </p:spPr>
      </p:sp>
      <p:sp>
        <p:nvSpPr>
          <p:cNvPr id="42" name="Text 38"/>
          <p:cNvSpPr/>
          <p:nvPr/>
        </p:nvSpPr>
        <p:spPr>
          <a:xfrm>
            <a:off x="6355080" y="1600200"/>
            <a:ext cx="260604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Dashboard &amp; Tech Stack</a:t>
            </a:r>
            <a:endParaRPr lang="en-US" sz="1000" dirty="0"/>
          </a:p>
        </p:txBody>
      </p:sp>
      <p:sp>
        <p:nvSpPr>
          <p:cNvPr id="43" name="Text 39"/>
          <p:cNvSpPr/>
          <p:nvPr/>
        </p:nvSpPr>
        <p:spPr>
          <a:xfrm>
            <a:off x="6400800" y="1920240"/>
            <a:ext cx="2468880" cy="1207008"/>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Admin: stress view, task mgmt, camera requests</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Employee: assigned tasks, completion updates</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WebSocket — instant real-time updates</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FastAPI (BE) + Next.js + Tailwind (FE)</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SQLite + SQLAlchemy ORM</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JWT auth + bcrypt password hashing</a:t>
            </a:r>
            <a:endParaRPr lang="en-US" sz="950" dirty="0"/>
          </a:p>
        </p:txBody>
      </p:sp>
      <p:sp>
        <p:nvSpPr>
          <p:cNvPr id="44" name="Shape 40"/>
          <p:cNvSpPr/>
          <p:nvPr/>
        </p:nvSpPr>
        <p:spPr>
          <a:xfrm>
            <a:off x="6263640" y="3310128"/>
            <a:ext cx="2697480" cy="1490472"/>
          </a:xfrm>
          <a:prstGeom prst="rect">
            <a:avLst/>
          </a:prstGeom>
          <a:solidFill>
            <a:srgbClr val="E3F2FD"/>
          </a:solidFill>
          <a:ln w="6350">
            <a:solidFill>
              <a:srgbClr val="2E7D32"/>
            </a:solidFill>
            <a:prstDash val="solid"/>
          </a:ln>
          <a:effectLst>
            <a:outerShdw blurRad="76200" dist="25400" dir="8100000" algn="bl" rotWithShape="0">
              <a:srgbClr val="000000">
                <a:alpha val="12000"/>
              </a:srgbClr>
            </a:outerShdw>
          </a:effectLst>
        </p:spPr>
      </p:sp>
      <p:sp>
        <p:nvSpPr>
          <p:cNvPr id="45" name="Shape 41"/>
          <p:cNvSpPr/>
          <p:nvPr/>
        </p:nvSpPr>
        <p:spPr>
          <a:xfrm>
            <a:off x="6263640" y="3310128"/>
            <a:ext cx="2697480" cy="256032"/>
          </a:xfrm>
          <a:prstGeom prst="rect">
            <a:avLst/>
          </a:prstGeom>
          <a:solidFill>
            <a:srgbClr val="2E7D32"/>
          </a:solidFill>
          <a:ln/>
        </p:spPr>
      </p:sp>
      <p:sp>
        <p:nvSpPr>
          <p:cNvPr id="46" name="Text 42"/>
          <p:cNvSpPr/>
          <p:nvPr/>
        </p:nvSpPr>
        <p:spPr>
          <a:xfrm>
            <a:off x="6355080" y="3310128"/>
            <a:ext cx="260604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Testing Results</a:t>
            </a:r>
            <a:endParaRPr lang="en-US" sz="1000" dirty="0"/>
          </a:p>
        </p:txBody>
      </p:sp>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6263640" y="3630168"/>
          <a:ext cx="2697480" cy="1417320"/>
        </p:xfrm>
        <a:graphic>
          <a:graphicData uri="http://schemas.openxmlformats.org/drawingml/2006/table">
            <a:tbl>
              <a:tblPr/>
              <a:tblGrid>
                <a:gridCol w="1348740">
                  <a:extLst>
                    <a:ext uri="{9D8B030D-6E8A-4147-A177-3AD203B41FA5}">
                      <a16:colId xmlns:a16="http://schemas.microsoft.com/office/drawing/2014/main" val="20000"/>
                    </a:ext>
                  </a:extLst>
                </a:gridCol>
                <a:gridCol w="1348740">
                  <a:extLst>
                    <a:ext uri="{9D8B030D-6E8A-4147-A177-3AD203B41FA5}">
                      <a16:colId xmlns:a16="http://schemas.microsoft.com/office/drawing/2014/main" val="20001"/>
                    </a:ext>
                  </a:extLst>
                </a:gridCol>
              </a:tblGrid>
              <a:tr h="190500">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Feature</a:t>
                      </a:r>
                      <a:endParaRPr lang="en-US" sz="9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7D32"/>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7D32"/>
                    </a:solidFill>
                  </a:tcPr>
                </a:tc>
                <a:extLst>
                  <a:ext uri="{0D108BD9-81ED-4DB2-BD59-A6C34878D82A}">
                    <a16:rowId xmlns:a16="http://schemas.microsoft.com/office/drawing/2014/main" val="10000"/>
                  </a:ext>
                </a:extLst>
              </a:tr>
              <a:tr h="190500">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Login/Auth (JWT)</a:t>
                      </a:r>
                      <a:endParaRPr lang="en-US" sz="9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 Pass</a:t>
                      </a:r>
                      <a:endParaRPr lang="en-US" sz="9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1"/>
                  </a:ext>
                </a:extLst>
              </a:tr>
              <a:tr h="190500">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Camera Request</a:t>
                      </a:r>
                      <a:endParaRPr lang="en-US" sz="9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 Pass</a:t>
                      </a:r>
                      <a:endParaRPr lang="en-US" sz="9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2"/>
                  </a:ext>
                </a:extLst>
              </a:tr>
              <a:tr h="190500">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Task Display</a:t>
                      </a:r>
                      <a:endParaRPr lang="en-US" sz="9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 Pass</a:t>
                      </a:r>
                      <a:endParaRPr lang="en-US" sz="9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3"/>
                  </a:ext>
                </a:extLst>
              </a:tr>
              <a:tr h="190500">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Task Completion</a:t>
                      </a:r>
                      <a:endParaRPr lang="en-US" sz="9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 Pass</a:t>
                      </a:r>
                      <a:endParaRPr lang="en-US" sz="9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4"/>
                  </a:ext>
                </a:extLst>
              </a:tr>
              <a:tr h="190500">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WebSocket Updates</a:t>
                      </a:r>
                      <a:endParaRPr lang="en-US" sz="9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marL="0" indent="0">
                        <a:buNone/>
                      </a:pPr>
                      <a:r>
                        <a:rPr lang="en-US" sz="950" dirty="0">
                          <a:solidFill>
                            <a:srgbClr val="1A1A2E"/>
                          </a:solidFill>
                          <a:latin typeface="Calibri" pitchFamily="34" charset="0"/>
                          <a:ea typeface="Calibri" pitchFamily="34" charset="-122"/>
                          <a:cs typeface="Calibri" pitchFamily="34" charset="-120"/>
                        </a:rPr>
                        <a:t>✓ Pass</a:t>
                      </a:r>
                      <a:endParaRPr lang="en-US" sz="9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extLst>
                  <a:ext uri="{0D108BD9-81ED-4DB2-BD59-A6C34878D82A}">
                    <a16:rowId xmlns:a16="http://schemas.microsoft.com/office/drawing/2014/main" val="10005"/>
                  </a:ext>
                </a:extLst>
              </a:tr>
            </a:tbl>
          </a:graphicData>
        </a:graphic>
      </p:graphicFrame>
      <p:sp>
        <p:nvSpPr>
          <p:cNvPr id="48" name="Shape 43"/>
          <p:cNvSpPr/>
          <p:nvPr/>
        </p:nvSpPr>
        <p:spPr>
          <a:xfrm>
            <a:off x="0" y="4956048"/>
            <a:ext cx="9144000" cy="192024"/>
          </a:xfrm>
          <a:prstGeom prst="rect">
            <a:avLst/>
          </a:prstGeom>
          <a:solidFill>
            <a:srgbClr val="0D2B55"/>
          </a:solidFill>
          <a:ln/>
        </p:spPr>
      </p:sp>
      <p:sp>
        <p:nvSpPr>
          <p:cNvPr id="49" name="Text 44"/>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50" name="Text 45"/>
          <p:cNvSpPr/>
          <p:nvPr/>
        </p:nvSpPr>
        <p:spPr>
          <a:xfrm>
            <a:off x="3657600" y="4965192"/>
            <a:ext cx="3657600" cy="173736"/>
          </a:xfrm>
          <a:prstGeom prst="rect">
            <a:avLst/>
          </a:prstGeom>
          <a:noFill/>
          <a:ln/>
        </p:spPr>
        <p:txBody>
          <a:bodyPr wrap="square" rtlCol="0" anchor="ctr"/>
          <a:lstStyle/>
          <a:p>
            <a:pPr marL="0" indent="0" algn="ctr">
              <a:buNone/>
            </a:pPr>
            <a:r>
              <a:rPr lang="en-US" sz="800" dirty="0">
                <a:solidFill>
                  <a:srgbClr val="90CAF9"/>
                </a:solidFill>
                <a:latin typeface="Calibri" pitchFamily="34" charset="0"/>
                <a:ea typeface="Calibri" pitchFamily="34" charset="-122"/>
                <a:cs typeface="Calibri" pitchFamily="34" charset="-120"/>
              </a:rPr>
              <a:t>IT22564672  |  M.A.H.S. Thathsarani</a:t>
            </a:r>
            <a:endParaRPr lang="en-US" sz="800" dirty="0"/>
          </a:p>
        </p:txBody>
      </p:sp>
      <p:sp>
        <p:nvSpPr>
          <p:cNvPr id="51" name="Text 46"/>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B55"/>
          </a:solidFill>
          <a:ln/>
        </p:spPr>
      </p:sp>
      <p:sp>
        <p:nvSpPr>
          <p:cNvPr id="3" name="Shape 1"/>
          <p:cNvSpPr/>
          <p:nvPr/>
        </p:nvSpPr>
        <p:spPr>
          <a:xfrm>
            <a:off x="0" y="0"/>
            <a:ext cx="73152" cy="822960"/>
          </a:xfrm>
          <a:prstGeom prst="rect">
            <a:avLst/>
          </a:prstGeom>
          <a:solidFill>
            <a:srgbClr val="1E88E5"/>
          </a:solidFill>
          <a:ln/>
        </p:spPr>
      </p:sp>
      <p:sp>
        <p:nvSpPr>
          <p:cNvPr id="4" name="Text 2"/>
          <p:cNvSpPr/>
          <p:nvPr/>
        </p:nvSpPr>
        <p:spPr>
          <a:xfrm>
            <a:off x="182880" y="73152"/>
            <a:ext cx="82296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Research Findings</a:t>
            </a:r>
            <a:endParaRPr lang="en-US" sz="2000" dirty="0"/>
          </a:p>
        </p:txBody>
      </p:sp>
      <p:sp>
        <p:nvSpPr>
          <p:cNvPr id="5" name="Text 3"/>
          <p:cNvSpPr/>
          <p:nvPr/>
        </p:nvSpPr>
        <p:spPr>
          <a:xfrm>
            <a:off x="182880" y="475488"/>
            <a:ext cx="8229600" cy="292608"/>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Key outcomes from testing and evaluation across all three components</a:t>
            </a:r>
            <a:endParaRPr lang="en-US" sz="1100" dirty="0"/>
          </a:p>
        </p:txBody>
      </p:sp>
      <p:sp>
        <p:nvSpPr>
          <p:cNvPr id="6" name="Text 4"/>
          <p:cNvSpPr/>
          <p:nvPr/>
        </p:nvSpPr>
        <p:spPr>
          <a:xfrm>
            <a:off x="5943600" y="0"/>
            <a:ext cx="3108960" cy="384048"/>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AI &amp; IoT Smart Office System  |  SLIIT</a:t>
            </a:r>
            <a:endParaRPr lang="en-US" sz="800" dirty="0"/>
          </a:p>
        </p:txBody>
      </p:sp>
      <p:sp>
        <p:nvSpPr>
          <p:cNvPr id="7" name="Shape 5"/>
          <p:cNvSpPr/>
          <p:nvPr/>
        </p:nvSpPr>
        <p:spPr>
          <a:xfrm>
            <a:off x="182880" y="932688"/>
            <a:ext cx="2103120" cy="1810512"/>
          </a:xfrm>
          <a:prstGeom prst="rect">
            <a:avLst/>
          </a:prstGeom>
          <a:solidFill>
            <a:srgbClr val="E3F2FD"/>
          </a:solidFill>
          <a:ln w="10160">
            <a:solidFill>
              <a:srgbClr val="1E88E5"/>
            </a:solidFill>
            <a:prstDash val="solid"/>
          </a:ln>
          <a:effectLst>
            <a:outerShdw blurRad="76200" dist="25400" dir="8100000" algn="bl" rotWithShape="0">
              <a:srgbClr val="000000">
                <a:alpha val="12000"/>
              </a:srgbClr>
            </a:outerShdw>
          </a:effectLst>
        </p:spPr>
      </p:sp>
      <p:sp>
        <p:nvSpPr>
          <p:cNvPr id="8" name="Shape 6"/>
          <p:cNvSpPr/>
          <p:nvPr/>
        </p:nvSpPr>
        <p:spPr>
          <a:xfrm>
            <a:off x="182880" y="932688"/>
            <a:ext cx="2103120" cy="64008"/>
          </a:xfrm>
          <a:prstGeom prst="rect">
            <a:avLst/>
          </a:prstGeom>
          <a:solidFill>
            <a:srgbClr val="1E88E5"/>
          </a:solidFill>
          <a:ln/>
        </p:spPr>
      </p:sp>
      <p:sp>
        <p:nvSpPr>
          <p:cNvPr id="9" name="Text 7"/>
          <p:cNvSpPr/>
          <p:nvPr/>
        </p:nvSpPr>
        <p:spPr>
          <a:xfrm>
            <a:off x="256032" y="1024128"/>
            <a:ext cx="1956816" cy="347472"/>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01 Effective Stress Detection</a:t>
            </a:r>
            <a:endParaRPr lang="en-US" sz="1100" dirty="0"/>
          </a:p>
        </p:txBody>
      </p:sp>
      <p:sp>
        <p:nvSpPr>
          <p:cNvPr id="10" name="Text 8"/>
          <p:cNvSpPr/>
          <p:nvPr/>
        </p:nvSpPr>
        <p:spPr>
          <a:xfrm>
            <a:off x="256032" y="1389888"/>
            <a:ext cx="1956816" cy="1298448"/>
          </a:xfrm>
          <a:prstGeom prst="rect">
            <a:avLst/>
          </a:prstGeom>
          <a:noFill/>
          <a:ln/>
        </p:spPr>
        <p:txBody>
          <a:bodyPr wrap="square" rtlCol="0" anchor="t"/>
          <a:lstStyle/>
          <a:p>
            <a:pPr marL="0" indent="0">
              <a:buNone/>
            </a:pPr>
            <a:r>
              <a:rPr lang="en-US" sz="1000" dirty="0">
                <a:solidFill>
                  <a:srgbClr val="1A1A2E"/>
                </a:solidFill>
                <a:latin typeface="Calibri" pitchFamily="34" charset="0"/>
                <a:ea typeface="Calibri" pitchFamily="34" charset="-122"/>
                <a:cs typeface="Calibri" pitchFamily="34" charset="-120"/>
              </a:rPr>
              <a:t>Camera-based ML model classifies employee stress (Low/Normal/High) in real-time. System architecture supports CNN upgrade with AffectNet data.</a:t>
            </a:r>
            <a:endParaRPr lang="en-US" sz="1000" dirty="0"/>
          </a:p>
        </p:txBody>
      </p:sp>
      <p:sp>
        <p:nvSpPr>
          <p:cNvPr id="11" name="Shape 9"/>
          <p:cNvSpPr/>
          <p:nvPr/>
        </p:nvSpPr>
        <p:spPr>
          <a:xfrm>
            <a:off x="2395728" y="932688"/>
            <a:ext cx="2103120" cy="1810512"/>
          </a:xfrm>
          <a:prstGeom prst="rect">
            <a:avLst/>
          </a:prstGeom>
          <a:solidFill>
            <a:srgbClr val="E3F2FD"/>
          </a:solidFill>
          <a:ln w="10160">
            <a:solidFill>
              <a:srgbClr val="1E88E5"/>
            </a:solidFill>
            <a:prstDash val="solid"/>
          </a:ln>
          <a:effectLst>
            <a:outerShdw blurRad="76200" dist="25400" dir="8100000" algn="bl" rotWithShape="0">
              <a:srgbClr val="000000">
                <a:alpha val="12000"/>
              </a:srgbClr>
            </a:outerShdw>
          </a:effectLst>
        </p:spPr>
      </p:sp>
      <p:sp>
        <p:nvSpPr>
          <p:cNvPr id="12" name="Shape 10"/>
          <p:cNvSpPr/>
          <p:nvPr/>
        </p:nvSpPr>
        <p:spPr>
          <a:xfrm>
            <a:off x="2395728" y="932688"/>
            <a:ext cx="2103120" cy="64008"/>
          </a:xfrm>
          <a:prstGeom prst="rect">
            <a:avLst/>
          </a:prstGeom>
          <a:solidFill>
            <a:srgbClr val="1E88E5"/>
          </a:solidFill>
          <a:ln/>
        </p:spPr>
      </p:sp>
      <p:sp>
        <p:nvSpPr>
          <p:cNvPr id="13" name="Text 11"/>
          <p:cNvSpPr/>
          <p:nvPr/>
        </p:nvSpPr>
        <p:spPr>
          <a:xfrm>
            <a:off x="2468880" y="1024128"/>
            <a:ext cx="1956816" cy="347472"/>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02 Improved Task Allocation</a:t>
            </a:r>
            <a:endParaRPr lang="en-US" sz="1100" dirty="0"/>
          </a:p>
        </p:txBody>
      </p:sp>
      <p:sp>
        <p:nvSpPr>
          <p:cNvPr id="14" name="Text 12"/>
          <p:cNvSpPr/>
          <p:nvPr/>
        </p:nvSpPr>
        <p:spPr>
          <a:xfrm>
            <a:off x="2468880" y="1389888"/>
            <a:ext cx="1956816" cy="1298448"/>
          </a:xfrm>
          <a:prstGeom prst="rect">
            <a:avLst/>
          </a:prstGeom>
          <a:noFill/>
          <a:ln/>
        </p:spPr>
        <p:txBody>
          <a:bodyPr wrap="square" rtlCol="0" anchor="t"/>
          <a:lstStyle/>
          <a:p>
            <a:pPr marL="0" indent="0">
              <a:buNone/>
            </a:pPr>
            <a:r>
              <a:rPr lang="en-US" sz="1000" dirty="0">
                <a:solidFill>
                  <a:srgbClr val="1A1A2E"/>
                </a:solidFill>
                <a:latin typeface="Calibri" pitchFamily="34" charset="0"/>
                <a:ea typeface="Calibri" pitchFamily="34" charset="-122"/>
                <a:cs typeface="Calibri" pitchFamily="34" charset="-120"/>
              </a:rPr>
              <a:t>Stress-aware task assignment ensures high stress employees receive lighter workloads. Prevents burnout and improves overall productivity.</a:t>
            </a:r>
            <a:endParaRPr lang="en-US" sz="1000" dirty="0"/>
          </a:p>
        </p:txBody>
      </p:sp>
      <p:sp>
        <p:nvSpPr>
          <p:cNvPr id="15" name="Shape 13"/>
          <p:cNvSpPr/>
          <p:nvPr/>
        </p:nvSpPr>
        <p:spPr>
          <a:xfrm>
            <a:off x="4608576" y="932688"/>
            <a:ext cx="2103120" cy="1810512"/>
          </a:xfrm>
          <a:prstGeom prst="rect">
            <a:avLst/>
          </a:prstGeom>
          <a:solidFill>
            <a:srgbClr val="E3F2FD"/>
          </a:solidFill>
          <a:ln w="10160">
            <a:solidFill>
              <a:srgbClr val="00ACC1"/>
            </a:solidFill>
            <a:prstDash val="solid"/>
          </a:ln>
          <a:effectLst>
            <a:outerShdw blurRad="76200" dist="25400" dir="8100000" algn="bl" rotWithShape="0">
              <a:srgbClr val="000000">
                <a:alpha val="12000"/>
              </a:srgbClr>
            </a:outerShdw>
          </a:effectLst>
        </p:spPr>
      </p:sp>
      <p:sp>
        <p:nvSpPr>
          <p:cNvPr id="16" name="Shape 14"/>
          <p:cNvSpPr/>
          <p:nvPr/>
        </p:nvSpPr>
        <p:spPr>
          <a:xfrm>
            <a:off x="4608576" y="932688"/>
            <a:ext cx="2103120" cy="64008"/>
          </a:xfrm>
          <a:prstGeom prst="rect">
            <a:avLst/>
          </a:prstGeom>
          <a:solidFill>
            <a:srgbClr val="00ACC1"/>
          </a:solidFill>
          <a:ln/>
        </p:spPr>
      </p:sp>
      <p:sp>
        <p:nvSpPr>
          <p:cNvPr id="17" name="Text 15"/>
          <p:cNvSpPr/>
          <p:nvPr/>
        </p:nvSpPr>
        <p:spPr>
          <a:xfrm>
            <a:off x="4681728" y="1024128"/>
            <a:ext cx="1956816" cy="347472"/>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03 Energy Anomaly Detection</a:t>
            </a:r>
            <a:endParaRPr lang="en-US" sz="1100" dirty="0"/>
          </a:p>
        </p:txBody>
      </p:sp>
      <p:sp>
        <p:nvSpPr>
          <p:cNvPr id="18" name="Text 16"/>
          <p:cNvSpPr/>
          <p:nvPr/>
        </p:nvSpPr>
        <p:spPr>
          <a:xfrm>
            <a:off x="4681728" y="1389888"/>
            <a:ext cx="1956816" cy="1298448"/>
          </a:xfrm>
          <a:prstGeom prst="rect">
            <a:avLst/>
          </a:prstGeom>
          <a:noFill/>
          <a:ln/>
        </p:spPr>
        <p:txBody>
          <a:bodyPr wrap="square" rtlCol="0" anchor="t"/>
          <a:lstStyle/>
          <a:p>
            <a:pPr marL="0" indent="0">
              <a:buNone/>
            </a:pPr>
            <a:r>
              <a:rPr lang="en-US" sz="1000" dirty="0">
                <a:solidFill>
                  <a:srgbClr val="1A1A2E"/>
                </a:solidFill>
                <a:latin typeface="Calibri" pitchFamily="34" charset="0"/>
                <a:ea typeface="Calibri" pitchFamily="34" charset="-122"/>
                <a:cs typeface="Calibri" pitchFamily="34" charset="-120"/>
              </a:rPr>
              <a:t>Power RF model detects 6 classes of anomalies on real sensor data. Air model detects 7 hazard classes including smoke and combined risks.</a:t>
            </a:r>
            <a:endParaRPr lang="en-US" sz="1000" dirty="0"/>
          </a:p>
        </p:txBody>
      </p:sp>
      <p:sp>
        <p:nvSpPr>
          <p:cNvPr id="19" name="Shape 17"/>
          <p:cNvSpPr/>
          <p:nvPr/>
        </p:nvSpPr>
        <p:spPr>
          <a:xfrm>
            <a:off x="6821424" y="932688"/>
            <a:ext cx="2103120" cy="1810512"/>
          </a:xfrm>
          <a:prstGeom prst="rect">
            <a:avLst/>
          </a:prstGeom>
          <a:solidFill>
            <a:srgbClr val="E3F2FD"/>
          </a:solidFill>
          <a:ln w="10160">
            <a:solidFill>
              <a:srgbClr val="1565C0"/>
            </a:solidFill>
            <a:prstDash val="solid"/>
          </a:ln>
          <a:effectLst>
            <a:outerShdw blurRad="76200" dist="25400" dir="8100000" algn="bl" rotWithShape="0">
              <a:srgbClr val="000000">
                <a:alpha val="12000"/>
              </a:srgbClr>
            </a:outerShdw>
          </a:effectLst>
        </p:spPr>
      </p:sp>
      <p:sp>
        <p:nvSpPr>
          <p:cNvPr id="20" name="Shape 18"/>
          <p:cNvSpPr/>
          <p:nvPr/>
        </p:nvSpPr>
        <p:spPr>
          <a:xfrm>
            <a:off x="6821424" y="932688"/>
            <a:ext cx="2103120" cy="64008"/>
          </a:xfrm>
          <a:prstGeom prst="rect">
            <a:avLst/>
          </a:prstGeom>
          <a:solidFill>
            <a:srgbClr val="1565C0"/>
          </a:solidFill>
          <a:ln/>
        </p:spPr>
      </p:sp>
      <p:sp>
        <p:nvSpPr>
          <p:cNvPr id="21" name="Text 19"/>
          <p:cNvSpPr/>
          <p:nvPr/>
        </p:nvSpPr>
        <p:spPr>
          <a:xfrm>
            <a:off x="6894576" y="1024128"/>
            <a:ext cx="1956816" cy="347472"/>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04 Intelligent QoS Enforcement</a:t>
            </a:r>
            <a:endParaRPr lang="en-US" sz="1100" dirty="0"/>
          </a:p>
        </p:txBody>
      </p:sp>
      <p:sp>
        <p:nvSpPr>
          <p:cNvPr id="22" name="Text 20"/>
          <p:cNvSpPr/>
          <p:nvPr/>
        </p:nvSpPr>
        <p:spPr>
          <a:xfrm>
            <a:off x="6894576" y="1389888"/>
            <a:ext cx="1956816" cy="1298448"/>
          </a:xfrm>
          <a:prstGeom prst="rect">
            <a:avLst/>
          </a:prstGeom>
          <a:noFill/>
          <a:ln/>
        </p:spPr>
        <p:txBody>
          <a:bodyPr wrap="square" rtlCol="0" anchor="t"/>
          <a:lstStyle/>
          <a:p>
            <a:pPr marL="0" indent="0">
              <a:buNone/>
            </a:pPr>
            <a:r>
              <a:rPr lang="en-US" sz="1000" dirty="0">
                <a:solidFill>
                  <a:srgbClr val="1A1A2E"/>
                </a:solidFill>
                <a:latin typeface="Calibri" pitchFamily="34" charset="0"/>
                <a:ea typeface="Calibri" pitchFamily="34" charset="-122"/>
                <a:cs typeface="Calibri" pitchFamily="34" charset="-120"/>
              </a:rPr>
              <a:t>Bandwidth dynamically adjusts per employee: 25–50 Mbps (High), 10–25 Mbps (Medium), 2–10 Mbps (Low) — far superior to static allocation.</a:t>
            </a:r>
            <a:endParaRPr lang="en-US" sz="1000" dirty="0"/>
          </a:p>
        </p:txBody>
      </p:sp>
      <p:sp>
        <p:nvSpPr>
          <p:cNvPr id="23" name="Shape 21"/>
          <p:cNvSpPr/>
          <p:nvPr/>
        </p:nvSpPr>
        <p:spPr>
          <a:xfrm>
            <a:off x="182880" y="2852928"/>
            <a:ext cx="2103120" cy="1810512"/>
          </a:xfrm>
          <a:prstGeom prst="rect">
            <a:avLst/>
          </a:prstGeom>
          <a:solidFill>
            <a:srgbClr val="E3F2FD"/>
          </a:solidFill>
          <a:ln w="10160">
            <a:solidFill>
              <a:srgbClr val="1E88E5"/>
            </a:solidFill>
            <a:prstDash val="solid"/>
          </a:ln>
          <a:effectLst>
            <a:outerShdw blurRad="76200" dist="25400" dir="8100000" algn="bl" rotWithShape="0">
              <a:srgbClr val="000000">
                <a:alpha val="12000"/>
              </a:srgbClr>
            </a:outerShdw>
          </a:effectLst>
        </p:spPr>
      </p:sp>
      <p:sp>
        <p:nvSpPr>
          <p:cNvPr id="24" name="Shape 22"/>
          <p:cNvSpPr/>
          <p:nvPr/>
        </p:nvSpPr>
        <p:spPr>
          <a:xfrm>
            <a:off x="182880" y="2852928"/>
            <a:ext cx="2103120" cy="64008"/>
          </a:xfrm>
          <a:prstGeom prst="rect">
            <a:avLst/>
          </a:prstGeom>
          <a:solidFill>
            <a:srgbClr val="1E88E5"/>
          </a:solidFill>
          <a:ln/>
        </p:spPr>
      </p:sp>
      <p:sp>
        <p:nvSpPr>
          <p:cNvPr id="25" name="Text 23"/>
          <p:cNvSpPr/>
          <p:nvPr/>
        </p:nvSpPr>
        <p:spPr>
          <a:xfrm>
            <a:off x="256032" y="2944368"/>
            <a:ext cx="1956816" cy="347472"/>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05 Real-Time Communication</a:t>
            </a:r>
            <a:endParaRPr lang="en-US" sz="1100" dirty="0"/>
          </a:p>
        </p:txBody>
      </p:sp>
      <p:sp>
        <p:nvSpPr>
          <p:cNvPr id="26" name="Text 24"/>
          <p:cNvSpPr/>
          <p:nvPr/>
        </p:nvSpPr>
        <p:spPr>
          <a:xfrm>
            <a:off x="256032" y="3310128"/>
            <a:ext cx="1956816" cy="1298448"/>
          </a:xfrm>
          <a:prstGeom prst="rect">
            <a:avLst/>
          </a:prstGeom>
          <a:noFill/>
          <a:ln/>
        </p:spPr>
        <p:txBody>
          <a:bodyPr wrap="square" rtlCol="0" anchor="t"/>
          <a:lstStyle/>
          <a:p>
            <a:pPr marL="0" indent="0">
              <a:buNone/>
            </a:pPr>
            <a:r>
              <a:rPr lang="en-US" sz="1000" dirty="0">
                <a:solidFill>
                  <a:srgbClr val="1A1A2E"/>
                </a:solidFill>
                <a:latin typeface="Calibri" pitchFamily="34" charset="0"/>
                <a:ea typeface="Calibri" pitchFamily="34" charset="-122"/>
                <a:cs typeface="Calibri" pitchFamily="34" charset="-120"/>
              </a:rPr>
              <a:t>WebSocket implementation delivers instant updates across admin and employee dashboards. Camera requests, task updates and notifications work with minimal latency.</a:t>
            </a:r>
            <a:endParaRPr lang="en-US" sz="1000" dirty="0"/>
          </a:p>
        </p:txBody>
      </p:sp>
      <p:sp>
        <p:nvSpPr>
          <p:cNvPr id="27" name="Shape 25"/>
          <p:cNvSpPr/>
          <p:nvPr/>
        </p:nvSpPr>
        <p:spPr>
          <a:xfrm>
            <a:off x="2395728" y="2852928"/>
            <a:ext cx="2103120" cy="1810512"/>
          </a:xfrm>
          <a:prstGeom prst="rect">
            <a:avLst/>
          </a:prstGeom>
          <a:solidFill>
            <a:srgbClr val="E3F2FD"/>
          </a:solidFill>
          <a:ln w="10160">
            <a:solidFill>
              <a:srgbClr val="00ACC1"/>
            </a:solidFill>
            <a:prstDash val="solid"/>
          </a:ln>
          <a:effectLst>
            <a:outerShdw blurRad="76200" dist="25400" dir="8100000" algn="bl" rotWithShape="0">
              <a:srgbClr val="000000">
                <a:alpha val="12000"/>
              </a:srgbClr>
            </a:outerShdw>
          </a:effectLst>
        </p:spPr>
      </p:sp>
      <p:sp>
        <p:nvSpPr>
          <p:cNvPr id="28" name="Shape 26"/>
          <p:cNvSpPr/>
          <p:nvPr/>
        </p:nvSpPr>
        <p:spPr>
          <a:xfrm>
            <a:off x="2395728" y="2852928"/>
            <a:ext cx="2103120" cy="64008"/>
          </a:xfrm>
          <a:prstGeom prst="rect">
            <a:avLst/>
          </a:prstGeom>
          <a:solidFill>
            <a:srgbClr val="00ACC1"/>
          </a:solidFill>
          <a:ln/>
        </p:spPr>
      </p:sp>
      <p:sp>
        <p:nvSpPr>
          <p:cNvPr id="29" name="Text 27"/>
          <p:cNvSpPr/>
          <p:nvPr/>
        </p:nvSpPr>
        <p:spPr>
          <a:xfrm>
            <a:off x="2468880" y="2944368"/>
            <a:ext cx="1956816" cy="347472"/>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06 n8n Automated Alerting</a:t>
            </a:r>
            <a:endParaRPr lang="en-US" sz="1100" dirty="0"/>
          </a:p>
        </p:txBody>
      </p:sp>
      <p:sp>
        <p:nvSpPr>
          <p:cNvPr id="30" name="Text 28"/>
          <p:cNvSpPr/>
          <p:nvPr/>
        </p:nvSpPr>
        <p:spPr>
          <a:xfrm>
            <a:off x="2468880" y="3310128"/>
            <a:ext cx="1956816" cy="1298448"/>
          </a:xfrm>
          <a:prstGeom prst="rect">
            <a:avLst/>
          </a:prstGeom>
          <a:noFill/>
          <a:ln/>
        </p:spPr>
        <p:txBody>
          <a:bodyPr wrap="square" rtlCol="0" anchor="t"/>
          <a:lstStyle/>
          <a:p>
            <a:pPr marL="0" indent="0">
              <a:buNone/>
            </a:pPr>
            <a:r>
              <a:rPr lang="en-US" sz="1000" dirty="0">
                <a:solidFill>
                  <a:srgbClr val="1A1A2E"/>
                </a:solidFill>
                <a:latin typeface="Calibri" pitchFamily="34" charset="0"/>
                <a:ea typeface="Calibri" pitchFamily="34" charset="-122"/>
                <a:cs typeface="Calibri" pitchFamily="34" charset="-120"/>
              </a:rPr>
              <a:t>Critical energy alerts trigger escalation: voice call → WhatsApp → email chain. Daily PDF report emailed automatically at 8 AM every day.</a:t>
            </a:r>
            <a:endParaRPr lang="en-US" sz="1000" dirty="0"/>
          </a:p>
        </p:txBody>
      </p:sp>
      <p:sp>
        <p:nvSpPr>
          <p:cNvPr id="31" name="Shape 29"/>
          <p:cNvSpPr/>
          <p:nvPr/>
        </p:nvSpPr>
        <p:spPr>
          <a:xfrm>
            <a:off x="4608576" y="2852928"/>
            <a:ext cx="2103120" cy="1810512"/>
          </a:xfrm>
          <a:prstGeom prst="rect">
            <a:avLst/>
          </a:prstGeom>
          <a:solidFill>
            <a:srgbClr val="E3F2FD"/>
          </a:solidFill>
          <a:ln w="10160">
            <a:solidFill>
              <a:srgbClr val="0D2B55"/>
            </a:solidFill>
            <a:prstDash val="solid"/>
          </a:ln>
          <a:effectLst>
            <a:outerShdw blurRad="76200" dist="25400" dir="8100000" algn="bl" rotWithShape="0">
              <a:srgbClr val="000000">
                <a:alpha val="12000"/>
              </a:srgbClr>
            </a:outerShdw>
          </a:effectLst>
        </p:spPr>
      </p:sp>
      <p:sp>
        <p:nvSpPr>
          <p:cNvPr id="32" name="Shape 30"/>
          <p:cNvSpPr/>
          <p:nvPr/>
        </p:nvSpPr>
        <p:spPr>
          <a:xfrm>
            <a:off x="4608576" y="2852928"/>
            <a:ext cx="2103120" cy="64008"/>
          </a:xfrm>
          <a:prstGeom prst="rect">
            <a:avLst/>
          </a:prstGeom>
          <a:solidFill>
            <a:srgbClr val="0D2B55"/>
          </a:solidFill>
          <a:ln/>
        </p:spPr>
      </p:sp>
      <p:sp>
        <p:nvSpPr>
          <p:cNvPr id="33" name="Text 31"/>
          <p:cNvSpPr/>
          <p:nvPr/>
        </p:nvSpPr>
        <p:spPr>
          <a:xfrm>
            <a:off x="4681728" y="2944368"/>
            <a:ext cx="1956816" cy="347472"/>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07 Integrated Platform</a:t>
            </a:r>
            <a:endParaRPr lang="en-US" sz="1100" dirty="0"/>
          </a:p>
        </p:txBody>
      </p:sp>
      <p:sp>
        <p:nvSpPr>
          <p:cNvPr id="34" name="Text 32"/>
          <p:cNvSpPr/>
          <p:nvPr/>
        </p:nvSpPr>
        <p:spPr>
          <a:xfrm>
            <a:off x="4681728" y="3310128"/>
            <a:ext cx="1956816" cy="1298448"/>
          </a:xfrm>
          <a:prstGeom prst="rect">
            <a:avLst/>
          </a:prstGeom>
          <a:noFill/>
          <a:ln/>
        </p:spPr>
        <p:txBody>
          <a:bodyPr wrap="square" rtlCol="0" anchor="t"/>
          <a:lstStyle/>
          <a:p>
            <a:pPr marL="0" indent="0">
              <a:buNone/>
            </a:pPr>
            <a:r>
              <a:rPr lang="en-US" sz="1000" dirty="0">
                <a:solidFill>
                  <a:srgbClr val="1A1A2E"/>
                </a:solidFill>
                <a:latin typeface="Calibri" pitchFamily="34" charset="0"/>
                <a:ea typeface="Calibri" pitchFamily="34" charset="-122"/>
                <a:cs typeface="Calibri" pitchFamily="34" charset="-120"/>
              </a:rPr>
              <a:t>All three components share data via REST APIs. No prior work has simultaneously combined stress detection + energy optimization + bandwidth allocation.</a:t>
            </a:r>
            <a:endParaRPr lang="en-US" sz="1000" dirty="0"/>
          </a:p>
        </p:txBody>
      </p:sp>
      <p:sp>
        <p:nvSpPr>
          <p:cNvPr id="35" name="Shape 33"/>
          <p:cNvSpPr/>
          <p:nvPr/>
        </p:nvSpPr>
        <p:spPr>
          <a:xfrm>
            <a:off x="6821424" y="2852928"/>
            <a:ext cx="2103120" cy="1810512"/>
          </a:xfrm>
          <a:prstGeom prst="rect">
            <a:avLst/>
          </a:prstGeom>
          <a:solidFill>
            <a:srgbClr val="E3F2FD"/>
          </a:solidFill>
          <a:ln w="10160">
            <a:solidFill>
              <a:srgbClr val="1565C0"/>
            </a:solidFill>
            <a:prstDash val="solid"/>
          </a:ln>
          <a:effectLst>
            <a:outerShdw blurRad="76200" dist="25400" dir="8100000" algn="bl" rotWithShape="0">
              <a:srgbClr val="000000">
                <a:alpha val="12000"/>
              </a:srgbClr>
            </a:outerShdw>
          </a:effectLst>
        </p:spPr>
      </p:sp>
      <p:sp>
        <p:nvSpPr>
          <p:cNvPr id="36" name="Shape 34"/>
          <p:cNvSpPr/>
          <p:nvPr/>
        </p:nvSpPr>
        <p:spPr>
          <a:xfrm>
            <a:off x="6821424" y="2852928"/>
            <a:ext cx="2103120" cy="64008"/>
          </a:xfrm>
          <a:prstGeom prst="rect">
            <a:avLst/>
          </a:prstGeom>
          <a:solidFill>
            <a:srgbClr val="1565C0"/>
          </a:solidFill>
          <a:ln/>
        </p:spPr>
      </p:sp>
      <p:sp>
        <p:nvSpPr>
          <p:cNvPr id="37" name="Text 35"/>
          <p:cNvSpPr/>
          <p:nvPr/>
        </p:nvSpPr>
        <p:spPr>
          <a:xfrm>
            <a:off x="6894576" y="2944368"/>
            <a:ext cx="1956816" cy="347472"/>
          </a:xfrm>
          <a:prstGeom prst="rect">
            <a:avLst/>
          </a:prstGeom>
          <a:noFill/>
          <a:ln/>
        </p:spPr>
        <p:txBody>
          <a:bodyPr wrap="square" rtlCol="0" anchor="ctr"/>
          <a:lstStyle/>
          <a:p>
            <a:pPr marL="0" indent="0">
              <a:buNone/>
            </a:pPr>
            <a:r>
              <a:rPr lang="en-US" sz="1100" b="1" dirty="0">
                <a:solidFill>
                  <a:srgbClr val="0D2B55"/>
                </a:solidFill>
                <a:latin typeface="Calibri" pitchFamily="34" charset="0"/>
                <a:ea typeface="Calibri" pitchFamily="34" charset="-122"/>
                <a:cs typeface="Calibri" pitchFamily="34" charset="-120"/>
              </a:rPr>
              <a:t>08 Feasible &amp; Scalable</a:t>
            </a:r>
            <a:endParaRPr lang="en-US" sz="1100" dirty="0"/>
          </a:p>
        </p:txBody>
      </p:sp>
      <p:sp>
        <p:nvSpPr>
          <p:cNvPr id="38" name="Text 36"/>
          <p:cNvSpPr/>
          <p:nvPr/>
        </p:nvSpPr>
        <p:spPr>
          <a:xfrm>
            <a:off x="6894576" y="3310128"/>
            <a:ext cx="1956816" cy="1298448"/>
          </a:xfrm>
          <a:prstGeom prst="rect">
            <a:avLst/>
          </a:prstGeom>
          <a:noFill/>
          <a:ln/>
        </p:spPr>
        <p:txBody>
          <a:bodyPr wrap="square" rtlCol="0" anchor="t"/>
          <a:lstStyle/>
          <a:p>
            <a:pPr marL="0" indent="0">
              <a:buNone/>
            </a:pPr>
            <a:r>
              <a:rPr lang="en-US" sz="1000" dirty="0">
                <a:solidFill>
                  <a:srgbClr val="1A1A2E"/>
                </a:solidFill>
                <a:latin typeface="Calibri" pitchFamily="34" charset="0"/>
                <a:ea typeface="Calibri" pitchFamily="34" charset="-122"/>
                <a:cs typeface="Calibri" pitchFamily="34" charset="-120"/>
              </a:rPr>
              <a:t>Built entirely on open-source tools. Microservices architecture allows independent scaling. Ready for cloud deployment (AWS/GCP).</a:t>
            </a:r>
            <a:endParaRPr lang="en-US" sz="1000" dirty="0"/>
          </a:p>
        </p:txBody>
      </p:sp>
      <p:sp>
        <p:nvSpPr>
          <p:cNvPr id="39" name="Shape 37"/>
          <p:cNvSpPr/>
          <p:nvPr/>
        </p:nvSpPr>
        <p:spPr>
          <a:xfrm>
            <a:off x="0" y="4956048"/>
            <a:ext cx="9144000" cy="192024"/>
          </a:xfrm>
          <a:prstGeom prst="rect">
            <a:avLst/>
          </a:prstGeom>
          <a:solidFill>
            <a:srgbClr val="0D2B55"/>
          </a:solidFill>
          <a:ln/>
        </p:spPr>
      </p:sp>
      <p:sp>
        <p:nvSpPr>
          <p:cNvPr id="40" name="Text 38"/>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41" name="Text 39"/>
          <p:cNvSpPr/>
          <p:nvPr/>
        </p:nvSpPr>
        <p:spPr>
          <a:xfrm>
            <a:off x="3657600" y="4965192"/>
            <a:ext cx="3657600" cy="173736"/>
          </a:xfrm>
          <a:prstGeom prst="rect">
            <a:avLst/>
          </a:prstGeom>
          <a:noFill/>
          <a:ln/>
        </p:spPr>
        <p:txBody>
          <a:bodyPr wrap="square" rtlCol="0" anchor="ctr"/>
          <a:lstStyle/>
          <a:p>
            <a:pPr marL="0" indent="0" algn="ctr">
              <a:buNone/>
            </a:pPr>
            <a:endParaRPr lang="en-US" sz="800" dirty="0"/>
          </a:p>
        </p:txBody>
      </p:sp>
      <p:sp>
        <p:nvSpPr>
          <p:cNvPr id="42" name="Text 40"/>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B55"/>
          </a:solidFill>
          <a:ln/>
        </p:spPr>
      </p:sp>
      <p:sp>
        <p:nvSpPr>
          <p:cNvPr id="3" name="Shape 1"/>
          <p:cNvSpPr/>
          <p:nvPr/>
        </p:nvSpPr>
        <p:spPr>
          <a:xfrm>
            <a:off x="0" y="0"/>
            <a:ext cx="73152" cy="822960"/>
          </a:xfrm>
          <a:prstGeom prst="rect">
            <a:avLst/>
          </a:prstGeom>
          <a:solidFill>
            <a:srgbClr val="1E88E5"/>
          </a:solidFill>
          <a:ln/>
        </p:spPr>
      </p:sp>
      <p:sp>
        <p:nvSpPr>
          <p:cNvPr id="4" name="Text 2"/>
          <p:cNvSpPr/>
          <p:nvPr/>
        </p:nvSpPr>
        <p:spPr>
          <a:xfrm>
            <a:off x="182880" y="73152"/>
            <a:ext cx="82296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Results, Limitations &amp; Future Improvements</a:t>
            </a:r>
            <a:endParaRPr lang="en-US" sz="2000" dirty="0"/>
          </a:p>
        </p:txBody>
      </p:sp>
      <p:sp>
        <p:nvSpPr>
          <p:cNvPr id="5" name="Text 3"/>
          <p:cNvSpPr/>
          <p:nvPr/>
        </p:nvSpPr>
        <p:spPr>
          <a:xfrm>
            <a:off x="182880" y="475488"/>
            <a:ext cx="8229600" cy="292608"/>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Evaluation summary across all three components</a:t>
            </a:r>
            <a:endParaRPr lang="en-US" sz="1100" dirty="0"/>
          </a:p>
        </p:txBody>
      </p:sp>
      <p:sp>
        <p:nvSpPr>
          <p:cNvPr id="6" name="Text 4"/>
          <p:cNvSpPr/>
          <p:nvPr/>
        </p:nvSpPr>
        <p:spPr>
          <a:xfrm>
            <a:off x="5943600" y="0"/>
            <a:ext cx="3108960" cy="384048"/>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AI &amp; IoT Smart Office System  |  SLIIT</a:t>
            </a:r>
            <a:endParaRPr lang="en-US" sz="800" dirty="0"/>
          </a:p>
        </p:txBody>
      </p:sp>
      <p:sp>
        <p:nvSpPr>
          <p:cNvPr id="7" name="Shape 5"/>
          <p:cNvSpPr/>
          <p:nvPr/>
        </p:nvSpPr>
        <p:spPr>
          <a:xfrm>
            <a:off x="182880" y="914400"/>
            <a:ext cx="2834640" cy="292608"/>
          </a:xfrm>
          <a:prstGeom prst="rect">
            <a:avLst/>
          </a:prstGeom>
          <a:solidFill>
            <a:srgbClr val="1565C0"/>
          </a:solidFill>
          <a:ln/>
        </p:spPr>
      </p:sp>
      <p:sp>
        <p:nvSpPr>
          <p:cNvPr id="8" name="Text 6"/>
          <p:cNvSpPr/>
          <p:nvPr/>
        </p:nvSpPr>
        <p:spPr>
          <a:xfrm>
            <a:off x="182880" y="914400"/>
            <a:ext cx="283464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Dynamic Bandwidth Allocator</a:t>
            </a:r>
            <a:endParaRPr lang="en-US" sz="1000" dirty="0"/>
          </a:p>
        </p:txBody>
      </p:sp>
      <p:sp>
        <p:nvSpPr>
          <p:cNvPr id="9" name="Shape 7"/>
          <p:cNvSpPr/>
          <p:nvPr/>
        </p:nvSpPr>
        <p:spPr>
          <a:xfrm>
            <a:off x="182880" y="1207008"/>
            <a:ext cx="2834640" cy="219456"/>
          </a:xfrm>
          <a:prstGeom prst="rect">
            <a:avLst/>
          </a:prstGeom>
          <a:solidFill>
            <a:srgbClr val="C8E6C9"/>
          </a:solidFill>
          <a:ln/>
        </p:spPr>
      </p:sp>
      <p:sp>
        <p:nvSpPr>
          <p:cNvPr id="10" name="Text 8"/>
          <p:cNvSpPr/>
          <p:nvPr/>
        </p:nvSpPr>
        <p:spPr>
          <a:xfrm>
            <a:off x="182880" y="1207008"/>
            <a:ext cx="2834640" cy="219456"/>
          </a:xfrm>
          <a:prstGeom prst="rect">
            <a:avLst/>
          </a:prstGeom>
          <a:noFill/>
          <a:ln/>
        </p:spPr>
        <p:txBody>
          <a:bodyPr wrap="square" rtlCol="0" anchor="ctr"/>
          <a:lstStyle/>
          <a:p>
            <a:pPr marL="0" indent="0" algn="ctr">
              <a:buNone/>
            </a:pPr>
            <a:r>
              <a:rPr lang="en-US" sz="900" b="1" dirty="0">
                <a:solidFill>
                  <a:srgbClr val="2E7D32"/>
                </a:solidFill>
                <a:latin typeface="Calibri" pitchFamily="34" charset="0"/>
                <a:ea typeface="Calibri" pitchFamily="34" charset="-122"/>
                <a:cs typeface="Calibri" pitchFamily="34" charset="-120"/>
              </a:rPr>
              <a:t>✔  RESULTS</a:t>
            </a:r>
            <a:endParaRPr lang="en-US" sz="900" dirty="0"/>
          </a:p>
        </p:txBody>
      </p:sp>
      <p:sp>
        <p:nvSpPr>
          <p:cNvPr id="11" name="Shape 9"/>
          <p:cNvSpPr/>
          <p:nvPr/>
        </p:nvSpPr>
        <p:spPr>
          <a:xfrm>
            <a:off x="182880" y="1426464"/>
            <a:ext cx="2834640" cy="1444752"/>
          </a:xfrm>
          <a:prstGeom prst="rect">
            <a:avLst/>
          </a:prstGeom>
          <a:solidFill>
            <a:srgbClr val="E3F2FD"/>
          </a:solidFill>
          <a:ln w="6350">
            <a:solidFill>
              <a:srgbClr val="1565C0"/>
            </a:solidFill>
            <a:prstDash val="solid"/>
          </a:ln>
        </p:spPr>
      </p:sp>
      <p:sp>
        <p:nvSpPr>
          <p:cNvPr id="12" name="Text 10"/>
          <p:cNvSpPr/>
          <p:nvPr/>
        </p:nvSpPr>
        <p:spPr>
          <a:xfrm>
            <a:off x="274320" y="1463040"/>
            <a:ext cx="2651760" cy="1371600"/>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Train Acc: 88.94% | Test Acc: 88.75%</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Precision: 93.61% | F1: 89.95%</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Regressor Test R² = 0.7608</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Test MAE: 3.09 Mbps</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No overfitting (gap = 0.19%)</a:t>
            </a:r>
            <a:endParaRPr lang="en-US" sz="950" dirty="0"/>
          </a:p>
        </p:txBody>
      </p:sp>
      <p:sp>
        <p:nvSpPr>
          <p:cNvPr id="13" name="Shape 11"/>
          <p:cNvSpPr/>
          <p:nvPr/>
        </p:nvSpPr>
        <p:spPr>
          <a:xfrm>
            <a:off x="182880" y="2898648"/>
            <a:ext cx="2834640" cy="219456"/>
          </a:xfrm>
          <a:prstGeom prst="rect">
            <a:avLst/>
          </a:prstGeom>
          <a:solidFill>
            <a:srgbClr val="FFCCBC"/>
          </a:solidFill>
          <a:ln/>
        </p:spPr>
      </p:sp>
      <p:sp>
        <p:nvSpPr>
          <p:cNvPr id="14" name="Text 12"/>
          <p:cNvSpPr/>
          <p:nvPr/>
        </p:nvSpPr>
        <p:spPr>
          <a:xfrm>
            <a:off x="182880" y="2898648"/>
            <a:ext cx="2834640" cy="219456"/>
          </a:xfrm>
          <a:prstGeom prst="rect">
            <a:avLst/>
          </a:prstGeom>
          <a:noFill/>
          <a:ln/>
        </p:spPr>
        <p:txBody>
          <a:bodyPr wrap="square" rtlCol="0" anchor="ctr"/>
          <a:lstStyle/>
          <a:p>
            <a:pPr marL="0" indent="0" algn="ctr">
              <a:buNone/>
            </a:pPr>
            <a:r>
              <a:rPr lang="en-US" sz="900" b="1" dirty="0">
                <a:solidFill>
                  <a:srgbClr val="E65100"/>
                </a:solidFill>
                <a:latin typeface="Calibri" pitchFamily="34" charset="0"/>
                <a:ea typeface="Calibri" pitchFamily="34" charset="-122"/>
                <a:cs typeface="Calibri" pitchFamily="34" charset="-120"/>
              </a:rPr>
              <a:t>⚠  LIMITATIONS</a:t>
            </a:r>
            <a:endParaRPr lang="en-US" sz="900" dirty="0"/>
          </a:p>
        </p:txBody>
      </p:sp>
      <p:sp>
        <p:nvSpPr>
          <p:cNvPr id="15" name="Shape 13"/>
          <p:cNvSpPr/>
          <p:nvPr/>
        </p:nvSpPr>
        <p:spPr>
          <a:xfrm>
            <a:off x="182880" y="3118104"/>
            <a:ext cx="2834640" cy="804672"/>
          </a:xfrm>
          <a:prstGeom prst="rect">
            <a:avLst/>
          </a:prstGeom>
          <a:solidFill>
            <a:srgbClr val="FFF8F5"/>
          </a:solidFill>
          <a:ln w="6350">
            <a:solidFill>
              <a:srgbClr val="FFCCBC"/>
            </a:solidFill>
            <a:prstDash val="solid"/>
          </a:ln>
        </p:spPr>
      </p:sp>
      <p:sp>
        <p:nvSpPr>
          <p:cNvPr id="16" name="Text 14"/>
          <p:cNvSpPr/>
          <p:nvPr/>
        </p:nvSpPr>
        <p:spPr>
          <a:xfrm>
            <a:off x="274320" y="3145536"/>
            <a:ext cx="2651760" cy="749808"/>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High workload class imbalance (only 309 High vs 4606 Low samples)</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Linux TC enforcement — not cross-platform</a:t>
            </a:r>
            <a:endParaRPr lang="en-US" sz="950" dirty="0"/>
          </a:p>
        </p:txBody>
      </p:sp>
      <p:sp>
        <p:nvSpPr>
          <p:cNvPr id="17" name="Shape 15"/>
          <p:cNvSpPr/>
          <p:nvPr/>
        </p:nvSpPr>
        <p:spPr>
          <a:xfrm>
            <a:off x="182880" y="3950208"/>
            <a:ext cx="2834640" cy="219456"/>
          </a:xfrm>
          <a:prstGeom prst="rect">
            <a:avLst/>
          </a:prstGeom>
          <a:solidFill>
            <a:srgbClr val="BBDEFB"/>
          </a:solidFill>
          <a:ln/>
        </p:spPr>
      </p:sp>
      <p:sp>
        <p:nvSpPr>
          <p:cNvPr id="18" name="Text 16"/>
          <p:cNvSpPr/>
          <p:nvPr/>
        </p:nvSpPr>
        <p:spPr>
          <a:xfrm>
            <a:off x="182880" y="3950208"/>
            <a:ext cx="2834640" cy="219456"/>
          </a:xfrm>
          <a:prstGeom prst="rect">
            <a:avLst/>
          </a:prstGeom>
          <a:noFill/>
          <a:ln/>
        </p:spPr>
        <p:txBody>
          <a:bodyPr wrap="square" rtlCol="0" anchor="ctr"/>
          <a:lstStyle/>
          <a:p>
            <a:pPr marL="0" indent="0" algn="ctr">
              <a:buNone/>
            </a:pPr>
            <a:r>
              <a:rPr lang="en-US" sz="900" b="1" dirty="0">
                <a:solidFill>
                  <a:srgbClr val="0D2B55"/>
                </a:solidFill>
                <a:latin typeface="Calibri" pitchFamily="34" charset="0"/>
                <a:ea typeface="Calibri" pitchFamily="34" charset="-122"/>
                <a:cs typeface="Calibri" pitchFamily="34" charset="-120"/>
              </a:rPr>
              <a:t>→  FUTURE IMPROVEMENTS</a:t>
            </a:r>
            <a:endParaRPr lang="en-US" sz="900" dirty="0"/>
          </a:p>
        </p:txBody>
      </p:sp>
      <p:sp>
        <p:nvSpPr>
          <p:cNvPr id="19" name="Shape 17"/>
          <p:cNvSpPr/>
          <p:nvPr/>
        </p:nvSpPr>
        <p:spPr>
          <a:xfrm>
            <a:off x="182880" y="4169664"/>
            <a:ext cx="2834640" cy="731520"/>
          </a:xfrm>
          <a:prstGeom prst="rect">
            <a:avLst/>
          </a:prstGeom>
          <a:solidFill>
            <a:srgbClr val="EBF5FB"/>
          </a:solidFill>
          <a:ln w="6350">
            <a:solidFill>
              <a:srgbClr val="BBDEFB"/>
            </a:solidFill>
            <a:prstDash val="solid"/>
          </a:ln>
        </p:spPr>
      </p:sp>
      <p:sp>
        <p:nvSpPr>
          <p:cNvPr id="20" name="Text 18"/>
          <p:cNvSpPr/>
          <p:nvPr/>
        </p:nvSpPr>
        <p:spPr>
          <a:xfrm>
            <a:off x="274320" y="4187952"/>
            <a:ext cx="2651760" cy="694944"/>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SMOTE oversampling to fix class imbalance</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Cloud-based QoS (AWS/Azure network policies)</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More diverse training data per employee type</a:t>
            </a:r>
            <a:endParaRPr lang="en-US" sz="950" dirty="0"/>
          </a:p>
        </p:txBody>
      </p:sp>
      <p:sp>
        <p:nvSpPr>
          <p:cNvPr id="21" name="Shape 19"/>
          <p:cNvSpPr/>
          <p:nvPr/>
        </p:nvSpPr>
        <p:spPr>
          <a:xfrm>
            <a:off x="3172968" y="914400"/>
            <a:ext cx="2834640" cy="292608"/>
          </a:xfrm>
          <a:prstGeom prst="rect">
            <a:avLst/>
          </a:prstGeom>
          <a:solidFill>
            <a:srgbClr val="00ACC1"/>
          </a:solidFill>
          <a:ln/>
        </p:spPr>
      </p:sp>
      <p:sp>
        <p:nvSpPr>
          <p:cNvPr id="22" name="Text 20"/>
          <p:cNvSpPr/>
          <p:nvPr/>
        </p:nvSpPr>
        <p:spPr>
          <a:xfrm>
            <a:off x="3172968" y="914400"/>
            <a:ext cx="283464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Office Energy Optimizer</a:t>
            </a:r>
            <a:endParaRPr lang="en-US" sz="1000" dirty="0"/>
          </a:p>
        </p:txBody>
      </p:sp>
      <p:sp>
        <p:nvSpPr>
          <p:cNvPr id="23" name="Shape 21"/>
          <p:cNvSpPr/>
          <p:nvPr/>
        </p:nvSpPr>
        <p:spPr>
          <a:xfrm>
            <a:off x="3172968" y="1207008"/>
            <a:ext cx="2834640" cy="219456"/>
          </a:xfrm>
          <a:prstGeom prst="rect">
            <a:avLst/>
          </a:prstGeom>
          <a:solidFill>
            <a:srgbClr val="C8E6C9"/>
          </a:solidFill>
          <a:ln/>
        </p:spPr>
      </p:sp>
      <p:sp>
        <p:nvSpPr>
          <p:cNvPr id="24" name="Text 22"/>
          <p:cNvSpPr/>
          <p:nvPr/>
        </p:nvSpPr>
        <p:spPr>
          <a:xfrm>
            <a:off x="3172968" y="1207008"/>
            <a:ext cx="2834640" cy="219456"/>
          </a:xfrm>
          <a:prstGeom prst="rect">
            <a:avLst/>
          </a:prstGeom>
          <a:noFill/>
          <a:ln/>
        </p:spPr>
        <p:txBody>
          <a:bodyPr wrap="square" rtlCol="0" anchor="ctr"/>
          <a:lstStyle/>
          <a:p>
            <a:pPr marL="0" indent="0" algn="ctr">
              <a:buNone/>
            </a:pPr>
            <a:r>
              <a:rPr lang="en-US" sz="900" b="1" dirty="0">
                <a:solidFill>
                  <a:srgbClr val="2E7D32"/>
                </a:solidFill>
                <a:latin typeface="Calibri" pitchFamily="34" charset="0"/>
                <a:ea typeface="Calibri" pitchFamily="34" charset="-122"/>
                <a:cs typeface="Calibri" pitchFamily="34" charset="-120"/>
              </a:rPr>
              <a:t>✔  RESULTS</a:t>
            </a:r>
            <a:endParaRPr lang="en-US" sz="900" dirty="0"/>
          </a:p>
        </p:txBody>
      </p:sp>
      <p:sp>
        <p:nvSpPr>
          <p:cNvPr id="25" name="Shape 23"/>
          <p:cNvSpPr/>
          <p:nvPr/>
        </p:nvSpPr>
        <p:spPr>
          <a:xfrm>
            <a:off x="3172968" y="1426464"/>
            <a:ext cx="2834640" cy="1444752"/>
          </a:xfrm>
          <a:prstGeom prst="rect">
            <a:avLst/>
          </a:prstGeom>
          <a:solidFill>
            <a:srgbClr val="E3F2FD"/>
          </a:solidFill>
          <a:ln w="6350">
            <a:solidFill>
              <a:srgbClr val="00ACC1"/>
            </a:solidFill>
            <a:prstDash val="solid"/>
          </a:ln>
        </p:spPr>
      </p:sp>
      <p:sp>
        <p:nvSpPr>
          <p:cNvPr id="26" name="Text 24"/>
          <p:cNvSpPr/>
          <p:nvPr/>
        </p:nvSpPr>
        <p:spPr>
          <a:xfrm>
            <a:off x="3264408" y="1463040"/>
            <a:ext cx="2651760" cy="1371600"/>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Power RF: Acc=99.99%, F1=0.9999</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Air Safety RF: Acc=99.99%, F1=0.9999</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6-class power + 7-class air detection</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Real sensor data (40,320 readings)</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SMS + n8n automation working</a:t>
            </a:r>
            <a:endParaRPr lang="en-US" sz="950" dirty="0"/>
          </a:p>
        </p:txBody>
      </p:sp>
      <p:sp>
        <p:nvSpPr>
          <p:cNvPr id="27" name="Shape 25"/>
          <p:cNvSpPr/>
          <p:nvPr/>
        </p:nvSpPr>
        <p:spPr>
          <a:xfrm>
            <a:off x="3172968" y="2898648"/>
            <a:ext cx="2834640" cy="219456"/>
          </a:xfrm>
          <a:prstGeom prst="rect">
            <a:avLst/>
          </a:prstGeom>
          <a:solidFill>
            <a:srgbClr val="FFCCBC"/>
          </a:solidFill>
          <a:ln/>
        </p:spPr>
      </p:sp>
      <p:sp>
        <p:nvSpPr>
          <p:cNvPr id="28" name="Text 26"/>
          <p:cNvSpPr/>
          <p:nvPr/>
        </p:nvSpPr>
        <p:spPr>
          <a:xfrm>
            <a:off x="3172968" y="2898648"/>
            <a:ext cx="2834640" cy="219456"/>
          </a:xfrm>
          <a:prstGeom prst="rect">
            <a:avLst/>
          </a:prstGeom>
          <a:noFill/>
          <a:ln/>
        </p:spPr>
        <p:txBody>
          <a:bodyPr wrap="square" rtlCol="0" anchor="ctr"/>
          <a:lstStyle/>
          <a:p>
            <a:pPr marL="0" indent="0" algn="ctr">
              <a:buNone/>
            </a:pPr>
            <a:r>
              <a:rPr lang="en-US" sz="900" b="1" dirty="0">
                <a:solidFill>
                  <a:srgbClr val="E65100"/>
                </a:solidFill>
                <a:latin typeface="Calibri" pitchFamily="34" charset="0"/>
                <a:ea typeface="Calibri" pitchFamily="34" charset="-122"/>
                <a:cs typeface="Calibri" pitchFamily="34" charset="-120"/>
              </a:rPr>
              <a:t>⚠  LIMITATIONS</a:t>
            </a:r>
            <a:endParaRPr lang="en-US" sz="900" dirty="0"/>
          </a:p>
        </p:txBody>
      </p:sp>
      <p:sp>
        <p:nvSpPr>
          <p:cNvPr id="29" name="Shape 27"/>
          <p:cNvSpPr/>
          <p:nvPr/>
        </p:nvSpPr>
        <p:spPr>
          <a:xfrm>
            <a:off x="3172968" y="3118104"/>
            <a:ext cx="2834640" cy="804672"/>
          </a:xfrm>
          <a:prstGeom prst="rect">
            <a:avLst/>
          </a:prstGeom>
          <a:solidFill>
            <a:srgbClr val="FFF8F5"/>
          </a:solidFill>
          <a:ln w="6350">
            <a:solidFill>
              <a:srgbClr val="FFCCBC"/>
            </a:solidFill>
            <a:prstDash val="solid"/>
          </a:ln>
        </p:spPr>
      </p:sp>
      <p:sp>
        <p:nvSpPr>
          <p:cNvPr id="30" name="Text 28"/>
          <p:cNvSpPr/>
          <p:nvPr/>
        </p:nvSpPr>
        <p:spPr>
          <a:xfrm>
            <a:off x="3264408" y="3145536"/>
            <a:ext cx="2651760" cy="749808"/>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Demo profile: only 2 sensor devices tested</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MQ2 sensor prone to environmental drift</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Not tested at production scale</a:t>
            </a:r>
            <a:endParaRPr lang="en-US" sz="950" dirty="0"/>
          </a:p>
        </p:txBody>
      </p:sp>
      <p:sp>
        <p:nvSpPr>
          <p:cNvPr id="31" name="Shape 29"/>
          <p:cNvSpPr/>
          <p:nvPr/>
        </p:nvSpPr>
        <p:spPr>
          <a:xfrm>
            <a:off x="3172968" y="3950208"/>
            <a:ext cx="2834640" cy="219456"/>
          </a:xfrm>
          <a:prstGeom prst="rect">
            <a:avLst/>
          </a:prstGeom>
          <a:solidFill>
            <a:srgbClr val="BBDEFB"/>
          </a:solidFill>
          <a:ln/>
        </p:spPr>
      </p:sp>
      <p:sp>
        <p:nvSpPr>
          <p:cNvPr id="32" name="Text 30"/>
          <p:cNvSpPr/>
          <p:nvPr/>
        </p:nvSpPr>
        <p:spPr>
          <a:xfrm>
            <a:off x="3172968" y="3950208"/>
            <a:ext cx="2834640" cy="219456"/>
          </a:xfrm>
          <a:prstGeom prst="rect">
            <a:avLst/>
          </a:prstGeom>
          <a:noFill/>
          <a:ln/>
        </p:spPr>
        <p:txBody>
          <a:bodyPr wrap="square" rtlCol="0" anchor="ctr"/>
          <a:lstStyle/>
          <a:p>
            <a:pPr marL="0" indent="0" algn="ctr">
              <a:buNone/>
            </a:pPr>
            <a:r>
              <a:rPr lang="en-US" sz="900" b="1" dirty="0">
                <a:solidFill>
                  <a:srgbClr val="0D2B55"/>
                </a:solidFill>
                <a:latin typeface="Calibri" pitchFamily="34" charset="0"/>
                <a:ea typeface="Calibri" pitchFamily="34" charset="-122"/>
                <a:cs typeface="Calibri" pitchFamily="34" charset="-120"/>
              </a:rPr>
              <a:t>→  FUTURE IMPROVEMENTS</a:t>
            </a:r>
            <a:endParaRPr lang="en-US" sz="900" dirty="0"/>
          </a:p>
        </p:txBody>
      </p:sp>
      <p:sp>
        <p:nvSpPr>
          <p:cNvPr id="33" name="Shape 31"/>
          <p:cNvSpPr/>
          <p:nvPr/>
        </p:nvSpPr>
        <p:spPr>
          <a:xfrm>
            <a:off x="3172968" y="4169664"/>
            <a:ext cx="2834640" cy="731520"/>
          </a:xfrm>
          <a:prstGeom prst="rect">
            <a:avLst/>
          </a:prstGeom>
          <a:solidFill>
            <a:srgbClr val="EBF5FB"/>
          </a:solidFill>
          <a:ln w="6350">
            <a:solidFill>
              <a:srgbClr val="BBDEFB"/>
            </a:solidFill>
            <a:prstDash val="solid"/>
          </a:ln>
        </p:spPr>
      </p:sp>
      <p:sp>
        <p:nvSpPr>
          <p:cNvPr id="34" name="Text 32"/>
          <p:cNvSpPr/>
          <p:nvPr/>
        </p:nvSpPr>
        <p:spPr>
          <a:xfrm>
            <a:off x="3264408" y="4187952"/>
            <a:ext cx="2651760" cy="694944"/>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Multi-floor enterprise deployment</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Cloud dashboard + historical trend analytics</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Wearable device integration for air quality</a:t>
            </a:r>
            <a:endParaRPr lang="en-US" sz="950" dirty="0"/>
          </a:p>
        </p:txBody>
      </p:sp>
      <p:sp>
        <p:nvSpPr>
          <p:cNvPr id="35" name="Shape 33"/>
          <p:cNvSpPr/>
          <p:nvPr/>
        </p:nvSpPr>
        <p:spPr>
          <a:xfrm>
            <a:off x="6163056" y="914400"/>
            <a:ext cx="2834640" cy="292608"/>
          </a:xfrm>
          <a:prstGeom prst="rect">
            <a:avLst/>
          </a:prstGeom>
          <a:solidFill>
            <a:srgbClr val="1E88E5"/>
          </a:solidFill>
          <a:ln/>
        </p:spPr>
      </p:sp>
      <p:sp>
        <p:nvSpPr>
          <p:cNvPr id="36" name="Text 34"/>
          <p:cNvSpPr/>
          <p:nvPr/>
        </p:nvSpPr>
        <p:spPr>
          <a:xfrm>
            <a:off x="6163056" y="914400"/>
            <a:ext cx="2834640"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Smart Office Intelligence</a:t>
            </a:r>
            <a:endParaRPr lang="en-US" sz="1000" dirty="0"/>
          </a:p>
        </p:txBody>
      </p:sp>
      <p:sp>
        <p:nvSpPr>
          <p:cNvPr id="37" name="Shape 35"/>
          <p:cNvSpPr/>
          <p:nvPr/>
        </p:nvSpPr>
        <p:spPr>
          <a:xfrm>
            <a:off x="6163056" y="1207008"/>
            <a:ext cx="2834640" cy="219456"/>
          </a:xfrm>
          <a:prstGeom prst="rect">
            <a:avLst/>
          </a:prstGeom>
          <a:solidFill>
            <a:srgbClr val="C8E6C9"/>
          </a:solidFill>
          <a:ln/>
        </p:spPr>
      </p:sp>
      <p:sp>
        <p:nvSpPr>
          <p:cNvPr id="38" name="Text 36"/>
          <p:cNvSpPr/>
          <p:nvPr/>
        </p:nvSpPr>
        <p:spPr>
          <a:xfrm>
            <a:off x="6163056" y="1207008"/>
            <a:ext cx="2834640" cy="219456"/>
          </a:xfrm>
          <a:prstGeom prst="rect">
            <a:avLst/>
          </a:prstGeom>
          <a:noFill/>
          <a:ln/>
        </p:spPr>
        <p:txBody>
          <a:bodyPr wrap="square" rtlCol="0" anchor="ctr"/>
          <a:lstStyle/>
          <a:p>
            <a:pPr marL="0" indent="0" algn="ctr">
              <a:buNone/>
            </a:pPr>
            <a:r>
              <a:rPr lang="en-US" sz="900" b="1" dirty="0">
                <a:solidFill>
                  <a:srgbClr val="2E7D32"/>
                </a:solidFill>
                <a:latin typeface="Calibri" pitchFamily="34" charset="0"/>
                <a:ea typeface="Calibri" pitchFamily="34" charset="-122"/>
                <a:cs typeface="Calibri" pitchFamily="34" charset="-120"/>
              </a:rPr>
              <a:t>✔  RESULTS</a:t>
            </a:r>
            <a:endParaRPr lang="en-US" sz="900" dirty="0"/>
          </a:p>
        </p:txBody>
      </p:sp>
      <p:sp>
        <p:nvSpPr>
          <p:cNvPr id="39" name="Shape 37"/>
          <p:cNvSpPr/>
          <p:nvPr/>
        </p:nvSpPr>
        <p:spPr>
          <a:xfrm>
            <a:off x="6163056" y="1426464"/>
            <a:ext cx="2834640" cy="1444752"/>
          </a:xfrm>
          <a:prstGeom prst="rect">
            <a:avLst/>
          </a:prstGeom>
          <a:solidFill>
            <a:srgbClr val="E3F2FD"/>
          </a:solidFill>
          <a:ln w="6350">
            <a:solidFill>
              <a:srgbClr val="1E88E5"/>
            </a:solidFill>
            <a:prstDash val="solid"/>
          </a:ln>
        </p:spPr>
      </p:sp>
      <p:sp>
        <p:nvSpPr>
          <p:cNvPr id="40" name="Text 38"/>
          <p:cNvSpPr/>
          <p:nvPr/>
        </p:nvSpPr>
        <p:spPr>
          <a:xfrm>
            <a:off x="6254496" y="1463040"/>
            <a:ext cx="2651760" cy="1371600"/>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Stress detection: 4/4 test cases Pass</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Task allocation: 3/3 scenarios Pass</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Dashboard: 5/5 features Pass</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WebSocket real-time comms confirmed</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JWT + bcrypt security verified</a:t>
            </a:r>
            <a:endParaRPr lang="en-US" sz="950" dirty="0"/>
          </a:p>
        </p:txBody>
      </p:sp>
      <p:sp>
        <p:nvSpPr>
          <p:cNvPr id="41" name="Shape 39"/>
          <p:cNvSpPr/>
          <p:nvPr/>
        </p:nvSpPr>
        <p:spPr>
          <a:xfrm>
            <a:off x="6163056" y="2898648"/>
            <a:ext cx="2834640" cy="219456"/>
          </a:xfrm>
          <a:prstGeom prst="rect">
            <a:avLst/>
          </a:prstGeom>
          <a:solidFill>
            <a:srgbClr val="FFCCBC"/>
          </a:solidFill>
          <a:ln/>
        </p:spPr>
      </p:sp>
      <p:sp>
        <p:nvSpPr>
          <p:cNvPr id="42" name="Text 40"/>
          <p:cNvSpPr/>
          <p:nvPr/>
        </p:nvSpPr>
        <p:spPr>
          <a:xfrm>
            <a:off x="6163056" y="2898648"/>
            <a:ext cx="2834640" cy="219456"/>
          </a:xfrm>
          <a:prstGeom prst="rect">
            <a:avLst/>
          </a:prstGeom>
          <a:noFill/>
          <a:ln/>
        </p:spPr>
        <p:txBody>
          <a:bodyPr wrap="square" rtlCol="0" anchor="ctr"/>
          <a:lstStyle/>
          <a:p>
            <a:pPr marL="0" indent="0" algn="ctr">
              <a:buNone/>
            </a:pPr>
            <a:r>
              <a:rPr lang="en-US" sz="900" b="1" dirty="0">
                <a:solidFill>
                  <a:srgbClr val="E65100"/>
                </a:solidFill>
                <a:latin typeface="Calibri" pitchFamily="34" charset="0"/>
                <a:ea typeface="Calibri" pitchFamily="34" charset="-122"/>
                <a:cs typeface="Calibri" pitchFamily="34" charset="-120"/>
              </a:rPr>
              <a:t>⚠  LIMITATIONS</a:t>
            </a:r>
            <a:endParaRPr lang="en-US" sz="900" dirty="0"/>
          </a:p>
        </p:txBody>
      </p:sp>
      <p:sp>
        <p:nvSpPr>
          <p:cNvPr id="43" name="Shape 41"/>
          <p:cNvSpPr/>
          <p:nvPr/>
        </p:nvSpPr>
        <p:spPr>
          <a:xfrm>
            <a:off x="6163056" y="3118104"/>
            <a:ext cx="2834640" cy="804672"/>
          </a:xfrm>
          <a:prstGeom prst="rect">
            <a:avLst/>
          </a:prstGeom>
          <a:solidFill>
            <a:srgbClr val="FFF8F5"/>
          </a:solidFill>
          <a:ln w="6350">
            <a:solidFill>
              <a:srgbClr val="FFCCBC"/>
            </a:solidFill>
            <a:prstDash val="solid"/>
          </a:ln>
        </p:spPr>
      </p:sp>
      <p:sp>
        <p:nvSpPr>
          <p:cNvPr id="44" name="Text 42"/>
          <p:cNvSpPr/>
          <p:nvPr/>
        </p:nvSpPr>
        <p:spPr>
          <a:xfrm>
            <a:off x="6254496" y="3145536"/>
            <a:ext cx="2651760" cy="749808"/>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Stress ML model is simulated (~90% sim. acc)</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Not tested with large number of concurrent users</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No integration with real IoT devices yet</a:t>
            </a:r>
            <a:endParaRPr lang="en-US" sz="950" dirty="0"/>
          </a:p>
        </p:txBody>
      </p:sp>
      <p:sp>
        <p:nvSpPr>
          <p:cNvPr id="45" name="Shape 43"/>
          <p:cNvSpPr/>
          <p:nvPr/>
        </p:nvSpPr>
        <p:spPr>
          <a:xfrm>
            <a:off x="6163056" y="3950208"/>
            <a:ext cx="2834640" cy="219456"/>
          </a:xfrm>
          <a:prstGeom prst="rect">
            <a:avLst/>
          </a:prstGeom>
          <a:solidFill>
            <a:srgbClr val="BBDEFB"/>
          </a:solidFill>
          <a:ln/>
        </p:spPr>
      </p:sp>
      <p:sp>
        <p:nvSpPr>
          <p:cNvPr id="46" name="Text 44"/>
          <p:cNvSpPr/>
          <p:nvPr/>
        </p:nvSpPr>
        <p:spPr>
          <a:xfrm>
            <a:off x="6163056" y="3950208"/>
            <a:ext cx="2834640" cy="219456"/>
          </a:xfrm>
          <a:prstGeom prst="rect">
            <a:avLst/>
          </a:prstGeom>
          <a:noFill/>
          <a:ln/>
        </p:spPr>
        <p:txBody>
          <a:bodyPr wrap="square" rtlCol="0" anchor="ctr"/>
          <a:lstStyle/>
          <a:p>
            <a:pPr marL="0" indent="0" algn="ctr">
              <a:buNone/>
            </a:pPr>
            <a:r>
              <a:rPr lang="en-US" sz="900" b="1" dirty="0">
                <a:solidFill>
                  <a:srgbClr val="0D2B55"/>
                </a:solidFill>
                <a:latin typeface="Calibri" pitchFamily="34" charset="0"/>
                <a:ea typeface="Calibri" pitchFamily="34" charset="-122"/>
                <a:cs typeface="Calibri" pitchFamily="34" charset="-120"/>
              </a:rPr>
              <a:t>→  FUTURE IMPROVEMENTS</a:t>
            </a:r>
            <a:endParaRPr lang="en-US" sz="900" dirty="0"/>
          </a:p>
        </p:txBody>
      </p:sp>
      <p:sp>
        <p:nvSpPr>
          <p:cNvPr id="47" name="Shape 45"/>
          <p:cNvSpPr/>
          <p:nvPr/>
        </p:nvSpPr>
        <p:spPr>
          <a:xfrm>
            <a:off x="6163056" y="4169664"/>
            <a:ext cx="2834640" cy="731520"/>
          </a:xfrm>
          <a:prstGeom prst="rect">
            <a:avLst/>
          </a:prstGeom>
          <a:solidFill>
            <a:srgbClr val="EBF5FB"/>
          </a:solidFill>
          <a:ln w="6350">
            <a:solidFill>
              <a:srgbClr val="BBDEFB"/>
            </a:solidFill>
            <a:prstDash val="solid"/>
          </a:ln>
        </p:spPr>
      </p:sp>
      <p:sp>
        <p:nvSpPr>
          <p:cNvPr id="48" name="Text 46"/>
          <p:cNvSpPr/>
          <p:nvPr/>
        </p:nvSpPr>
        <p:spPr>
          <a:xfrm>
            <a:off x="6254496" y="4187952"/>
            <a:ext cx="2651760" cy="694944"/>
          </a:xfrm>
          <a:prstGeom prst="rect">
            <a:avLst/>
          </a:prstGeom>
          <a:noFill/>
          <a:ln/>
        </p:spPr>
        <p:txBody>
          <a:bodyPr wrap="square" rtlCol="0" anchor="t"/>
          <a:lstStyle/>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Full CNN model with AffectNet/FER2013</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Cloud deployment + horizontal scaling</a:t>
            </a:r>
            <a:endParaRPr lang="en-US" sz="950" dirty="0"/>
          </a:p>
          <a:p>
            <a:pPr marL="342900" indent="-342900">
              <a:buSzPct val="100000"/>
              <a:buChar char="•"/>
            </a:pPr>
            <a:r>
              <a:rPr lang="en-US" sz="950" dirty="0">
                <a:solidFill>
                  <a:srgbClr val="1A1A2E"/>
                </a:solidFill>
                <a:latin typeface="Calibri" pitchFamily="34" charset="0"/>
                <a:ea typeface="Calibri" pitchFamily="34" charset="-122"/>
                <a:cs typeface="Calibri" pitchFamily="34" charset="-120"/>
              </a:rPr>
              <a:t>Wearable + physiological signal integration</a:t>
            </a:r>
            <a:endParaRPr lang="en-US" sz="950" dirty="0"/>
          </a:p>
        </p:txBody>
      </p:sp>
      <p:sp>
        <p:nvSpPr>
          <p:cNvPr id="49" name="Shape 47"/>
          <p:cNvSpPr/>
          <p:nvPr/>
        </p:nvSpPr>
        <p:spPr>
          <a:xfrm>
            <a:off x="0" y="4956048"/>
            <a:ext cx="9144000" cy="192024"/>
          </a:xfrm>
          <a:prstGeom prst="rect">
            <a:avLst/>
          </a:prstGeom>
          <a:solidFill>
            <a:srgbClr val="0D2B55"/>
          </a:solidFill>
          <a:ln/>
        </p:spPr>
      </p:sp>
      <p:sp>
        <p:nvSpPr>
          <p:cNvPr id="50" name="Text 48"/>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51" name="Text 49"/>
          <p:cNvSpPr/>
          <p:nvPr/>
        </p:nvSpPr>
        <p:spPr>
          <a:xfrm>
            <a:off x="3657600" y="4965192"/>
            <a:ext cx="3657600" cy="173736"/>
          </a:xfrm>
          <a:prstGeom prst="rect">
            <a:avLst/>
          </a:prstGeom>
          <a:noFill/>
          <a:ln/>
        </p:spPr>
        <p:txBody>
          <a:bodyPr wrap="square" rtlCol="0" anchor="ctr"/>
          <a:lstStyle/>
          <a:p>
            <a:pPr marL="0" indent="0" algn="ctr">
              <a:buNone/>
            </a:pPr>
            <a:endParaRPr lang="en-US" sz="800" dirty="0"/>
          </a:p>
        </p:txBody>
      </p:sp>
      <p:sp>
        <p:nvSpPr>
          <p:cNvPr id="52" name="Text 50"/>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B55"/>
          </a:solidFill>
          <a:ln/>
        </p:spPr>
      </p:sp>
      <p:sp>
        <p:nvSpPr>
          <p:cNvPr id="3" name="Shape 1"/>
          <p:cNvSpPr/>
          <p:nvPr/>
        </p:nvSpPr>
        <p:spPr>
          <a:xfrm>
            <a:off x="0" y="0"/>
            <a:ext cx="73152" cy="822960"/>
          </a:xfrm>
          <a:prstGeom prst="rect">
            <a:avLst/>
          </a:prstGeom>
          <a:solidFill>
            <a:srgbClr val="1E88E5"/>
          </a:solidFill>
          <a:ln/>
        </p:spPr>
      </p:sp>
      <p:sp>
        <p:nvSpPr>
          <p:cNvPr id="4" name="Text 2"/>
          <p:cNvSpPr/>
          <p:nvPr/>
        </p:nvSpPr>
        <p:spPr>
          <a:xfrm>
            <a:off x="182880" y="73152"/>
            <a:ext cx="8229600" cy="41148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Conclusion &amp; Future Directions</a:t>
            </a:r>
            <a:endParaRPr lang="en-US" sz="2000" dirty="0"/>
          </a:p>
        </p:txBody>
      </p:sp>
      <p:sp>
        <p:nvSpPr>
          <p:cNvPr id="5" name="Text 3"/>
          <p:cNvSpPr/>
          <p:nvPr/>
        </p:nvSpPr>
        <p:spPr>
          <a:xfrm>
            <a:off x="182880" y="475488"/>
            <a:ext cx="8229600" cy="292608"/>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Summary of contributions and roadmap for the Smart Office Intelligence Platform</a:t>
            </a:r>
            <a:endParaRPr lang="en-US" sz="1100" dirty="0"/>
          </a:p>
        </p:txBody>
      </p:sp>
      <p:sp>
        <p:nvSpPr>
          <p:cNvPr id="6" name="Text 4"/>
          <p:cNvSpPr/>
          <p:nvPr/>
        </p:nvSpPr>
        <p:spPr>
          <a:xfrm>
            <a:off x="5943600" y="0"/>
            <a:ext cx="3108960" cy="384048"/>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AI &amp; IoT Smart Office System  |  SLIIT</a:t>
            </a:r>
            <a:endParaRPr lang="en-US" sz="800" dirty="0"/>
          </a:p>
        </p:txBody>
      </p:sp>
      <p:sp>
        <p:nvSpPr>
          <p:cNvPr id="7" name="Shape 5"/>
          <p:cNvSpPr/>
          <p:nvPr/>
        </p:nvSpPr>
        <p:spPr>
          <a:xfrm>
            <a:off x="182880" y="932688"/>
            <a:ext cx="5303520" cy="3794760"/>
          </a:xfrm>
          <a:prstGeom prst="rect">
            <a:avLst/>
          </a:prstGeom>
          <a:solidFill>
            <a:srgbClr val="E3F2FD"/>
          </a:solidFill>
          <a:ln w="6350">
            <a:solidFill>
              <a:srgbClr val="0D2B55"/>
            </a:solidFill>
            <a:prstDash val="solid"/>
          </a:ln>
          <a:effectLst>
            <a:outerShdw blurRad="76200" dist="25400" dir="8100000" algn="bl" rotWithShape="0">
              <a:srgbClr val="000000">
                <a:alpha val="12000"/>
              </a:srgbClr>
            </a:outerShdw>
          </a:effectLst>
        </p:spPr>
      </p:sp>
      <p:sp>
        <p:nvSpPr>
          <p:cNvPr id="8" name="Shape 6"/>
          <p:cNvSpPr/>
          <p:nvPr/>
        </p:nvSpPr>
        <p:spPr>
          <a:xfrm>
            <a:off x="182880" y="932688"/>
            <a:ext cx="5303520" cy="256032"/>
          </a:xfrm>
          <a:prstGeom prst="rect">
            <a:avLst/>
          </a:prstGeom>
          <a:solidFill>
            <a:srgbClr val="0D2B55"/>
          </a:solidFill>
          <a:ln/>
        </p:spPr>
      </p:sp>
      <p:sp>
        <p:nvSpPr>
          <p:cNvPr id="9" name="Text 7"/>
          <p:cNvSpPr/>
          <p:nvPr/>
        </p:nvSpPr>
        <p:spPr>
          <a:xfrm>
            <a:off x="274320" y="932688"/>
            <a:ext cx="521208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Conclusion</a:t>
            </a:r>
            <a:endParaRPr lang="en-US" sz="1000" dirty="0"/>
          </a:p>
        </p:txBody>
      </p:sp>
      <p:sp>
        <p:nvSpPr>
          <p:cNvPr id="10" name="Text 8"/>
          <p:cNvSpPr/>
          <p:nvPr/>
        </p:nvSpPr>
        <p:spPr>
          <a:xfrm>
            <a:off x="320040" y="1261872"/>
            <a:ext cx="5074920" cy="256032"/>
          </a:xfrm>
          <a:prstGeom prst="rect">
            <a:avLst/>
          </a:prstGeom>
          <a:noFill/>
          <a:ln/>
        </p:spPr>
        <p:txBody>
          <a:bodyPr wrap="square" rtlCol="0" anchor="ctr"/>
          <a:lstStyle/>
          <a:p>
            <a:pPr marL="0" indent="0">
              <a:buNone/>
            </a:pPr>
            <a:r>
              <a:rPr lang="en-US" sz="1200" b="1" dirty="0">
                <a:solidFill>
                  <a:srgbClr val="0D2B55"/>
                </a:solidFill>
                <a:latin typeface="Calibri" pitchFamily="34" charset="0"/>
                <a:ea typeface="Calibri" pitchFamily="34" charset="-122"/>
                <a:cs typeface="Calibri" pitchFamily="34" charset="-120"/>
              </a:rPr>
              <a:t>What This Research Achieves:</a:t>
            </a:r>
            <a:endParaRPr lang="en-US" sz="1200" dirty="0"/>
          </a:p>
        </p:txBody>
      </p:sp>
      <p:sp>
        <p:nvSpPr>
          <p:cNvPr id="11" name="Text 9"/>
          <p:cNvSpPr/>
          <p:nvPr/>
        </p:nvSpPr>
        <p:spPr>
          <a:xfrm>
            <a:off x="320040" y="1554480"/>
            <a:ext cx="5074920" cy="3063240"/>
          </a:xfrm>
          <a:prstGeom prst="rect">
            <a:avLst/>
          </a:prstGeom>
          <a:noFill/>
          <a:ln/>
        </p:spPr>
        <p:txBody>
          <a:bodyPr wrap="square" rtlCol="0" anchor="t"/>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First integrated system combining employee stress detection, IoT energy optimization, and AI bandwidth allocation</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Demonstrated that AI and IoT can work together to create a fully adaptive, employee-centered office environment</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Stress-aware task allocation reduces burnout risk — employees with high stress automatically receive lighter workloads</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Energy anomaly detection with SMS escalation provides real-time safety for multi-floor office environments</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Dynamic QoS enforcement ensures high-priority work always gets the bandwidth it needs</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Unified WebSocket dashboard gives admins and employees a single real-time interface for all system activities</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Scalable microservices architecture — each module can be deployed, updated, or replaced independently</a:t>
            </a:r>
            <a:endParaRPr lang="en-US" sz="1050" dirty="0"/>
          </a:p>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Built entirely on open-source tools, making it cost-effective for SMEs and large enterprises alike</a:t>
            </a:r>
            <a:endParaRPr lang="en-US" sz="1050" dirty="0"/>
          </a:p>
        </p:txBody>
      </p:sp>
      <p:sp>
        <p:nvSpPr>
          <p:cNvPr id="12" name="Shape 10"/>
          <p:cNvSpPr/>
          <p:nvPr/>
        </p:nvSpPr>
        <p:spPr>
          <a:xfrm>
            <a:off x="5669280" y="932688"/>
            <a:ext cx="3291840" cy="1828800"/>
          </a:xfrm>
          <a:prstGeom prst="rect">
            <a:avLst/>
          </a:prstGeom>
          <a:solidFill>
            <a:srgbClr val="E3F2FD"/>
          </a:solidFill>
          <a:ln w="6350">
            <a:solidFill>
              <a:srgbClr val="1E88E5"/>
            </a:solidFill>
            <a:prstDash val="solid"/>
          </a:ln>
          <a:effectLst>
            <a:outerShdw blurRad="76200" dist="25400" dir="8100000" algn="bl" rotWithShape="0">
              <a:srgbClr val="000000">
                <a:alpha val="12000"/>
              </a:srgbClr>
            </a:outerShdw>
          </a:effectLst>
        </p:spPr>
      </p:sp>
      <p:sp>
        <p:nvSpPr>
          <p:cNvPr id="13" name="Shape 11"/>
          <p:cNvSpPr/>
          <p:nvPr/>
        </p:nvSpPr>
        <p:spPr>
          <a:xfrm>
            <a:off x="5669280" y="932688"/>
            <a:ext cx="3291840" cy="256032"/>
          </a:xfrm>
          <a:prstGeom prst="rect">
            <a:avLst/>
          </a:prstGeom>
          <a:solidFill>
            <a:srgbClr val="1E88E5"/>
          </a:solidFill>
          <a:ln/>
        </p:spPr>
      </p:sp>
      <p:sp>
        <p:nvSpPr>
          <p:cNvPr id="14" name="Text 12"/>
          <p:cNvSpPr/>
          <p:nvPr/>
        </p:nvSpPr>
        <p:spPr>
          <a:xfrm>
            <a:off x="5760720" y="932688"/>
            <a:ext cx="320040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Near-Term Future</a:t>
            </a:r>
            <a:endParaRPr lang="en-US" sz="1000" dirty="0"/>
          </a:p>
        </p:txBody>
      </p:sp>
      <p:sp>
        <p:nvSpPr>
          <p:cNvPr id="15" name="Text 13"/>
          <p:cNvSpPr/>
          <p:nvPr/>
        </p:nvSpPr>
        <p:spPr>
          <a:xfrm>
            <a:off x="5806440" y="1261872"/>
            <a:ext cx="3063240" cy="1426464"/>
          </a:xfrm>
          <a:prstGeom prst="rect">
            <a:avLst/>
          </a:prstGeom>
          <a:noFill/>
          <a:ln/>
        </p:spPr>
        <p:txBody>
          <a:bodyPr wrap="square" rtlCol="0" anchor="t"/>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Train full CNN model on AffectNet / FER2013</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Deploy on AWS / GCP (cloud-native)</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Integrate wearable devices (heart rate, GSR)</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Mobile app for employees (React Native)</a:t>
            </a:r>
            <a:endParaRPr lang="en-US" sz="1000" dirty="0"/>
          </a:p>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SMOTE oversampling for High workload class</a:t>
            </a:r>
            <a:endParaRPr lang="en-US" sz="1000" dirty="0"/>
          </a:p>
        </p:txBody>
      </p:sp>
      <p:sp>
        <p:nvSpPr>
          <p:cNvPr id="16" name="Shape 14"/>
          <p:cNvSpPr/>
          <p:nvPr/>
        </p:nvSpPr>
        <p:spPr>
          <a:xfrm>
            <a:off x="5669280" y="2852928"/>
            <a:ext cx="3291840" cy="1874520"/>
          </a:xfrm>
          <a:prstGeom prst="rect">
            <a:avLst/>
          </a:prstGeom>
          <a:solidFill>
            <a:srgbClr val="E3F2FD"/>
          </a:solidFill>
          <a:ln w="6350">
            <a:solidFill>
              <a:srgbClr val="0D2B55"/>
            </a:solidFill>
            <a:prstDash val="solid"/>
          </a:ln>
          <a:effectLst>
            <a:outerShdw blurRad="76200" dist="25400" dir="8100000" algn="bl" rotWithShape="0">
              <a:srgbClr val="000000">
                <a:alpha val="12000"/>
              </a:srgbClr>
            </a:outerShdw>
          </a:effectLst>
        </p:spPr>
      </p:sp>
      <p:sp>
        <p:nvSpPr>
          <p:cNvPr id="17" name="Shape 15"/>
          <p:cNvSpPr/>
          <p:nvPr/>
        </p:nvSpPr>
        <p:spPr>
          <a:xfrm>
            <a:off x="5669280" y="2852928"/>
            <a:ext cx="3291840" cy="256032"/>
          </a:xfrm>
          <a:prstGeom prst="rect">
            <a:avLst/>
          </a:prstGeom>
          <a:solidFill>
            <a:srgbClr val="0D2B55"/>
          </a:solidFill>
          <a:ln/>
        </p:spPr>
      </p:sp>
      <p:sp>
        <p:nvSpPr>
          <p:cNvPr id="18" name="Text 16"/>
          <p:cNvSpPr/>
          <p:nvPr/>
        </p:nvSpPr>
        <p:spPr>
          <a:xfrm>
            <a:off x="5760720" y="2852928"/>
            <a:ext cx="3200400"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Long-Term Vision</a:t>
            </a:r>
            <a:endParaRPr lang="en-US" sz="1000" dirty="0"/>
          </a:p>
        </p:txBody>
      </p:sp>
      <p:sp>
        <p:nvSpPr>
          <p:cNvPr id="19" name="Text 17"/>
          <p:cNvSpPr/>
          <p:nvPr/>
        </p:nvSpPr>
        <p:spPr>
          <a:xfrm>
            <a:off x="5806440" y="3182112"/>
            <a:ext cx="3063240" cy="1463040"/>
          </a:xfrm>
          <a:prstGeom prst="rect">
            <a:avLst/>
          </a:prstGeom>
          <a:noFill/>
          <a:ln/>
        </p:spPr>
        <p:txBody>
          <a:bodyPr wrap="square" rtlCol="0" anchor="t"/>
          <a:lstStyle/>
          <a:p>
            <a:pPr marL="342900" indent="-342900">
              <a:buSzPct val="100000"/>
              <a:buChar char="•"/>
            </a:pPr>
            <a:r>
              <a:rPr lang="en-US" sz="1000" dirty="0">
                <a:solidFill>
                  <a:srgbClr val="90CAF9"/>
                </a:solidFill>
                <a:latin typeface="Calibri" pitchFamily="34" charset="0"/>
                <a:ea typeface="Calibri" pitchFamily="34" charset="-122"/>
                <a:cs typeface="Calibri" pitchFamily="34" charset="-120"/>
              </a:rPr>
              <a:t>Industry 4.0 / smart building full integration</a:t>
            </a:r>
            <a:endParaRPr lang="en-US" sz="1000" dirty="0"/>
          </a:p>
          <a:p>
            <a:pPr marL="342900" indent="-342900">
              <a:buSzPct val="100000"/>
              <a:buChar char="•"/>
            </a:pPr>
            <a:r>
              <a:rPr lang="en-US" sz="1000" dirty="0">
                <a:solidFill>
                  <a:srgbClr val="90CAF9"/>
                </a:solidFill>
                <a:latin typeface="Calibri" pitchFamily="34" charset="0"/>
                <a:ea typeface="Calibri" pitchFamily="34" charset="-122"/>
                <a:cs typeface="Calibri" pitchFamily="34" charset="-120"/>
              </a:rPr>
              <a:t>Multi-tenant SaaS product offering</a:t>
            </a:r>
            <a:endParaRPr lang="en-US" sz="1000" dirty="0"/>
          </a:p>
          <a:p>
            <a:pPr marL="342900" indent="-342900">
              <a:buSzPct val="100000"/>
              <a:buChar char="•"/>
            </a:pPr>
            <a:r>
              <a:rPr lang="en-US" sz="1000" dirty="0">
                <a:solidFill>
                  <a:srgbClr val="90CAF9"/>
                </a:solidFill>
                <a:latin typeface="Calibri" pitchFamily="34" charset="0"/>
                <a:ea typeface="Calibri" pitchFamily="34" charset="-122"/>
                <a:cs typeface="Calibri" pitchFamily="34" charset="-120"/>
              </a:rPr>
              <a:t>Federated learning for privacy-safe ML</a:t>
            </a:r>
            <a:endParaRPr lang="en-US" sz="1000" dirty="0"/>
          </a:p>
          <a:p>
            <a:pPr marL="342900" indent="-342900">
              <a:buSzPct val="100000"/>
              <a:buChar char="•"/>
            </a:pPr>
            <a:r>
              <a:rPr lang="en-US" sz="1000" dirty="0">
                <a:solidFill>
                  <a:srgbClr val="90CAF9"/>
                </a:solidFill>
                <a:latin typeface="Calibri" pitchFamily="34" charset="0"/>
                <a:ea typeface="Calibri" pitchFamily="34" charset="-122"/>
                <a:cs typeface="Calibri" pitchFamily="34" charset="-120"/>
              </a:rPr>
              <a:t>Integration with HR systems (SAP, Workday)</a:t>
            </a:r>
            <a:endParaRPr lang="en-US" sz="1000" dirty="0"/>
          </a:p>
          <a:p>
            <a:pPr marL="342900" indent="-342900">
              <a:buSzPct val="100000"/>
              <a:buChar char="•"/>
            </a:pPr>
            <a:r>
              <a:rPr lang="en-US" sz="1000" dirty="0">
                <a:solidFill>
                  <a:srgbClr val="90CAF9"/>
                </a:solidFill>
                <a:latin typeface="Calibri" pitchFamily="34" charset="0"/>
                <a:ea typeface="Calibri" pitchFamily="34" charset="-122"/>
                <a:cs typeface="Calibri" pitchFamily="34" charset="-120"/>
              </a:rPr>
              <a:t>Advanced privacy + data protection (GDPR)</a:t>
            </a:r>
            <a:endParaRPr lang="en-US" sz="1000" dirty="0"/>
          </a:p>
          <a:p>
            <a:pPr marL="342900" indent="-342900">
              <a:buSzPct val="100000"/>
              <a:buChar char="•"/>
            </a:pPr>
            <a:r>
              <a:rPr lang="en-US" sz="1000" dirty="0">
                <a:solidFill>
                  <a:srgbClr val="90CAF9"/>
                </a:solidFill>
                <a:latin typeface="Calibri" pitchFamily="34" charset="0"/>
                <a:ea typeface="Calibri" pitchFamily="34" charset="-122"/>
                <a:cs typeface="Calibri" pitchFamily="34" charset="-120"/>
              </a:rPr>
              <a:t>Predictive maintenance for office equipment</a:t>
            </a:r>
            <a:endParaRPr lang="en-US" sz="1000" dirty="0"/>
          </a:p>
        </p:txBody>
      </p:sp>
      <p:sp>
        <p:nvSpPr>
          <p:cNvPr id="20" name="Shape 18"/>
          <p:cNvSpPr/>
          <p:nvPr/>
        </p:nvSpPr>
        <p:spPr>
          <a:xfrm>
            <a:off x="182880" y="4736592"/>
            <a:ext cx="8778240" cy="182880"/>
          </a:xfrm>
          <a:prstGeom prst="rect">
            <a:avLst/>
          </a:prstGeom>
          <a:solidFill>
            <a:srgbClr val="1E88E5"/>
          </a:solidFill>
          <a:ln/>
        </p:spPr>
      </p:sp>
      <p:sp>
        <p:nvSpPr>
          <p:cNvPr id="21" name="Text 19"/>
          <p:cNvSpPr/>
          <p:nvPr/>
        </p:nvSpPr>
        <p:spPr>
          <a:xfrm>
            <a:off x="182880" y="4736592"/>
            <a:ext cx="8778240" cy="182880"/>
          </a:xfrm>
          <a:prstGeom prst="rect">
            <a:avLst/>
          </a:prstGeom>
          <a:noFill/>
          <a:ln/>
        </p:spPr>
        <p:txBody>
          <a:bodyPr wrap="square" rtlCol="0" anchor="ctr"/>
          <a:lstStyle/>
          <a:p>
            <a:pPr marL="0" indent="0" algn="ctr">
              <a:buNone/>
            </a:pPr>
            <a:r>
              <a:rPr lang="en-US" sz="850" i="1" dirty="0">
                <a:solidFill>
                  <a:srgbClr val="FFFFFF"/>
                </a:solidFill>
                <a:latin typeface="Calibri" pitchFamily="34" charset="0"/>
                <a:ea typeface="Calibri" pitchFamily="34" charset="-122"/>
                <a:cs typeface="Calibri" pitchFamily="34" charset="-120"/>
              </a:rPr>
              <a:t>"The Smart Office Intelligence Platform proves that modern AI, IoT, and real-time web technologies can together create an adaptive, efficient, and employee-centered workplace."</a:t>
            </a:r>
            <a:endParaRPr lang="en-US" sz="850" dirty="0"/>
          </a:p>
        </p:txBody>
      </p:sp>
      <p:sp>
        <p:nvSpPr>
          <p:cNvPr id="22" name="Shape 20"/>
          <p:cNvSpPr/>
          <p:nvPr/>
        </p:nvSpPr>
        <p:spPr>
          <a:xfrm>
            <a:off x="0" y="4956048"/>
            <a:ext cx="9144000" cy="192024"/>
          </a:xfrm>
          <a:prstGeom prst="rect">
            <a:avLst/>
          </a:prstGeom>
          <a:solidFill>
            <a:srgbClr val="0D2B55"/>
          </a:solidFill>
          <a:ln/>
        </p:spPr>
      </p:sp>
      <p:sp>
        <p:nvSpPr>
          <p:cNvPr id="23" name="Text 21"/>
          <p:cNvSpPr/>
          <p:nvPr/>
        </p:nvSpPr>
        <p:spPr>
          <a:xfrm>
            <a:off x="182880" y="4965192"/>
            <a:ext cx="4572000" cy="173736"/>
          </a:xfrm>
          <a:prstGeom prst="rect">
            <a:avLst/>
          </a:prstGeom>
          <a:noFill/>
          <a:ln/>
        </p:spPr>
        <p:txBody>
          <a:bodyPr wrap="square" rtlCol="0" anchor="ctr"/>
          <a:lstStyle/>
          <a:p>
            <a:pPr marL="0" indent="0">
              <a:buNone/>
            </a:pPr>
            <a:r>
              <a:rPr lang="en-US" sz="800" dirty="0">
                <a:solidFill>
                  <a:srgbClr val="90CAF9"/>
                </a:solidFill>
                <a:latin typeface="Calibri" pitchFamily="34" charset="0"/>
                <a:ea typeface="Calibri" pitchFamily="34" charset="-122"/>
                <a:cs typeface="Calibri" pitchFamily="34" charset="-120"/>
              </a:rPr>
              <a:t>SLIIT  |  BSc (Hons) CSNE  |  April 2026</a:t>
            </a:r>
            <a:endParaRPr lang="en-US" sz="800" dirty="0"/>
          </a:p>
        </p:txBody>
      </p:sp>
      <p:sp>
        <p:nvSpPr>
          <p:cNvPr id="24" name="Text 22"/>
          <p:cNvSpPr/>
          <p:nvPr/>
        </p:nvSpPr>
        <p:spPr>
          <a:xfrm>
            <a:off x="3657600" y="4965192"/>
            <a:ext cx="3657600" cy="173736"/>
          </a:xfrm>
          <a:prstGeom prst="rect">
            <a:avLst/>
          </a:prstGeom>
          <a:noFill/>
          <a:ln/>
        </p:spPr>
        <p:txBody>
          <a:bodyPr wrap="square" rtlCol="0" anchor="ctr"/>
          <a:lstStyle/>
          <a:p>
            <a:pPr marL="0" indent="0" algn="ctr">
              <a:buNone/>
            </a:pPr>
            <a:endParaRPr lang="en-US" sz="800" dirty="0"/>
          </a:p>
        </p:txBody>
      </p:sp>
      <p:sp>
        <p:nvSpPr>
          <p:cNvPr id="25" name="Text 23"/>
          <p:cNvSpPr/>
          <p:nvPr/>
        </p:nvSpPr>
        <p:spPr>
          <a:xfrm>
            <a:off x="8503920" y="4965192"/>
            <a:ext cx="548640" cy="173736"/>
          </a:xfrm>
          <a:prstGeom prst="rect">
            <a:avLst/>
          </a:prstGeom>
          <a:noFill/>
          <a:ln/>
        </p:spPr>
        <p:txBody>
          <a:bodyPr wrap="square" rtlCol="0" anchor="ctr"/>
          <a:lstStyle/>
          <a:p>
            <a:pPr marL="0" indent="0" algn="r">
              <a:buNone/>
            </a:pPr>
            <a:r>
              <a:rPr lang="en-US" sz="800" dirty="0">
                <a:solidFill>
                  <a:srgbClr val="90CAF9"/>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2791</Words>
  <Application>Microsoft Office PowerPoint</Application>
  <PresentationFormat>On-screen Show (16:9)</PresentationFormat>
  <Paragraphs>476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and IoT-Enabled Smart Office System</dc:title>
  <dc:subject>PptxGenJS Presentation</dc:subject>
  <dc:creator>PptxGenJS</dc:creator>
  <cp:lastModifiedBy>Sheathayine Ravindran</cp:lastModifiedBy>
  <cp:revision>5</cp:revision>
  <dcterms:created xsi:type="dcterms:W3CDTF">2026-05-05T21:46:52Z</dcterms:created>
  <dcterms:modified xsi:type="dcterms:W3CDTF">2026-05-05T22:13:36Z</dcterms:modified>
</cp:coreProperties>
</file>