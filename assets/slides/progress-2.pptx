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tTriangle">
            <a:avLst/>
          </a:prstGeom>
          <a:solidFill>
            <a:srgbClr val="1E3A8A">
              <a:alpha val="25000"/>
            </a:srgbClr>
          </a:solidFill>
          <a:ln w="12700">
            <a:solidFill>
              <a:srgbClr val="1E3A8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32004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IT4010 — Progress Presentation 2 (PP2)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896112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Smart Office System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173736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891B2"/>
                </a:solidFill>
              </a:rPr>
              <a:t>with Cloud-Based Energy Optimization &amp; Dynamic Bandwidth Allocation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2331720"/>
            <a:ext cx="5029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Project ID: 25-26J-034  |  BSc (Hons) IT — Computer Systems &amp; Network Engineering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816352"/>
            <a:ext cx="4251960" cy="173736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2816352"/>
            <a:ext cx="425196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297180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94436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IT22315700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88720" y="32186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Shaethayine 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" y="358444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IoT Energy Optimization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&amp; Dynamic Bandwidth Allocation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816352"/>
            <a:ext cx="4251960" cy="173736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2816352"/>
            <a:ext cx="425196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56632" y="297180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94436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IT22564672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0" y="32186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M.A.H.S. Thathsarani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56632" y="358444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Face-Based Stress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&amp; Intelligent Task Allocation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SLIIT Faculty of Computing  |  25-26J-034  |  PP2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</a:rPr>
              <a:t>5 min overview  +  30 min live demo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058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▶  Add One-Minute Video of Your Solution Here — show live system +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45920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737360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16916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E"/>
                </a:solidFill>
              </a:rPr>
              <a:t>Problem &amp; Motivation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194767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30–45 sec — Why this system, who is affected, measurable pain points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04288"/>
            <a:ext cx="85953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04288"/>
            <a:ext cx="64008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395728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23500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E"/>
                </a:solidFill>
              </a:rPr>
              <a:t>Solution Overview (What We Built)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6112" y="2606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45–60 sec — 4 complete components, 90%+ completion status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62656"/>
            <a:ext cx="85953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62656"/>
            <a:ext cx="6400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054096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" y="300837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E"/>
                </a:solidFill>
              </a:rPr>
              <a:t>System Architecture &amp; Integration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6112" y="326440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60–90 sec — Architecture diagram, MQTT flow, Flask dashboard, API links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621024"/>
            <a:ext cx="85953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621024"/>
            <a:ext cx="640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712464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6112" y="366674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E"/>
                </a:solidFill>
              </a:rPr>
              <a:t>Commercialization / Impact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96112" y="392277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60–90 sec — Target market, value prop, cost estimate, rollout plan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279392"/>
            <a:ext cx="85953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1E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279392"/>
            <a:ext cx="64008" cy="5669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4370832"/>
            <a:ext cx="402336" cy="40233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96112" y="4325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F2E"/>
                </a:solidFill>
              </a:rPr>
              <a:t>Demo Plan + Member Roles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96112" y="4581144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30–45 sec — End-to-end demo flow, who shows what, backup plan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SLIIT | 25-26J-034 | PP2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 &amp; Stakeholders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891B2"/>
                </a:solidFill>
              </a:rPr>
              <a:t>Context · Observed Issues · Why It Matters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1E3A8A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Modern offices waste energy due to manual management. Employees have no real-time stress monitoring — burnout and productivity loss go undetected until too late.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847088"/>
            <a:ext cx="420624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2286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847088"/>
            <a:ext cx="4206240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847088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Static Bandwidth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304288"/>
            <a:ext cx="3986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Fixed rules cannot prioritise video calls, cloud tasks or critical processes during peak hours.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36592" y="1847088"/>
            <a:ext cx="420624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2286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847088"/>
            <a:ext cx="420624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47088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💡  Energy Wastage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304288"/>
            <a:ext cx="3986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Lights, HVAC and devices stay active during low-occupancy periods. No IoT-based automation exists.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420624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2286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154680"/>
            <a:ext cx="420624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154680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😓  No Stress Visibility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3611880"/>
            <a:ext cx="3986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Managers cannot detect employee stress in real time — burnout goes unnoticed until it's too late.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36592" y="3154680"/>
            <a:ext cx="4206240" cy="1097280"/>
          </a:xfrm>
          <a:prstGeom prst="rect">
            <a:avLst/>
          </a:prstGeom>
          <a:solidFill>
            <a:srgbClr val="FFFFFF">
              <a:alpha val="8000"/>
            </a:srgbClr>
          </a:solidFill>
          <a:ln w="2286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36592" y="3154680"/>
            <a:ext cx="420624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154680"/>
            <a:ext cx="39867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 Manual Task Allocation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611880"/>
            <a:ext cx="3986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Task distribution ignores stress and workload intensity — causes uneven burden and reduced output.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370832"/>
            <a:ext cx="85953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37083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2E"/>
                </a:solidFill>
              </a:rPr>
              <a:t>Stakeholders — Employees  •  IT &amp; Network Admins  •  Facility Managers  •  Business Owners  •  HR Teams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SLIIT | 25-26J-034 | PP2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Research Gap &amp; Objectives (Recap)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Research Gap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No unified AI-driven platform currently combines real-time IoT energy sensing, face-based stress detection and adaptive bandwidth allocation in a single closed-loop smart office system.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416052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11680"/>
            <a:ext cx="64008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2194560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7552" y="20574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F2E"/>
                </a:solidFill>
              </a:rPr>
              <a:t>IoT Energy Monitoring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87552" y="235915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Real-time power, voltage, temp, humidity &amp; air via ESP32 sensors across office floors.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16052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71800"/>
            <a:ext cx="64008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" y="3154680"/>
            <a:ext cx="475488" cy="47548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87552" y="30175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F2E"/>
                </a:solidFill>
              </a:rPr>
              <a:t>AI Energy Optimization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331927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ML model classifies energy state → automated HVAC/lighting actions + Twilio SMS alerts.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931920"/>
            <a:ext cx="416052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931920"/>
            <a:ext cx="64008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2336" y="4114800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4114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552" y="39776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F2E"/>
                </a:solidFill>
              </a:rPr>
              <a:t>Dynamic Bandwidth Allocation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87552" y="427939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Predict optimal bandwidth per process using task type, workload &amp; congestion data.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2011680"/>
            <a:ext cx="416052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011680"/>
            <a:ext cx="64008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37176" y="219456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37176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22392" y="20574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F2E"/>
                </a:solidFill>
              </a:rPr>
              <a:t>Face-Based Stress Detection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22392" y="235915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Camera + OpenCV + pre-trained ML detects Low/Normal/High stress from live facial data.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2971800"/>
            <a:ext cx="416052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971800"/>
            <a:ext cx="64008" cy="8412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37176" y="3154680"/>
            <a:ext cx="475488" cy="47548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37176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22392" y="30175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F2E"/>
                </a:solidFill>
              </a:rPr>
              <a:t>Intelligent Task Allocation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22392" y="331927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Stress-aware scheduler assigns tasks — reduces burnout, rebalances workload in real time.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3931920"/>
            <a:ext cx="416052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3931920"/>
            <a:ext cx="64008" cy="8412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37176" y="4114800"/>
            <a:ext cx="475488" cy="475488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37176" y="4114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22392" y="39776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F2E"/>
                </a:solidFill>
              </a:rPr>
              <a:t>Unified Cloud Dashboard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22392" y="4279392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Flask + SocketIO live dashboard with MQTT streams, energy trends &amp; stress heatmaps.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SLIIT | 25-26J-034 | PP2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>
              <a:alpha val="80000"/>
            </a:srgbClr>
          </a:solidFill>
          <a:ln w="12700">
            <a:solidFill>
              <a:srgbClr val="1E3A8A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Solution Overview — What We Built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</a:rPr>
              <a:t>~90% completion — live system fully operational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Completion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0" y="1060704"/>
            <a:ext cx="6583680" cy="237744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1060704"/>
            <a:ext cx="5925312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58200" y="10058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90%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444752"/>
            <a:ext cx="4315968" cy="1572768"/>
          </a:xfrm>
          <a:prstGeom prst="rect">
            <a:avLst/>
          </a:prstGeom>
          <a:solidFill>
            <a:srgbClr val="FFFFFF">
              <a:alpha val="7000"/>
            </a:srgbClr>
          </a:solidFill>
          <a:ln w="2286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444752"/>
            <a:ext cx="4315968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4447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IoT Energy Optimizer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3048" y="153619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IT22315700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38328" y="1901952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ESP32 + PZEM-004T + DHT22 + MQ2 sensors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MQTT/TLS → HiveMQ Cloud every 5 seconds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Flask + SocketIO real-time dashboard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81728" y="1444752"/>
            <a:ext cx="4315968" cy="1572768"/>
          </a:xfrm>
          <a:prstGeom prst="rect">
            <a:avLst/>
          </a:prstGeom>
          <a:solidFill>
            <a:srgbClr val="FFFFFF">
              <a:alpha val="7000"/>
            </a:srgbClr>
          </a:solidFill>
          <a:ln w="2286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1728" y="1444752"/>
            <a:ext cx="4315968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44475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📡 Dynamic Bandwidth Allocation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66176" y="1536192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IT22315700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91456" y="1901952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Multi-model pipeline: Task → Workload → Bandwidth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74.86% task classification accuracy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Regression R² &gt; 0.80, 5-fold cross-validation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154680"/>
            <a:ext cx="4315968" cy="1572768"/>
          </a:xfrm>
          <a:prstGeom prst="rect">
            <a:avLst/>
          </a:prstGeom>
          <a:solidFill>
            <a:srgbClr val="FFFFFF">
              <a:alpha val="7000"/>
            </a:srgbClr>
          </a:solidFill>
          <a:ln w="2286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154680"/>
            <a:ext cx="4315968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315468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🎥 Face-Based Stress Detection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13048" y="324612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IT22564672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38328" y="361188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Live camera → OpenCV face detection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Pre-trained ML: Low / Normal / High stress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Real-time label pushed to dashboard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81728" y="3154680"/>
            <a:ext cx="4315968" cy="1572768"/>
          </a:xfrm>
          <a:prstGeom prst="rect">
            <a:avLst/>
          </a:prstGeom>
          <a:solidFill>
            <a:srgbClr val="FFFFFF">
              <a:alpha val="7000"/>
            </a:srgbClr>
          </a:solidFill>
          <a:ln w="2286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3154680"/>
            <a:ext cx="4315968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315468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Intelligent Task Allocation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66176" y="3246120"/>
            <a:ext cx="621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IT22564672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791456" y="3611880"/>
            <a:ext cx="4114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Stress-aware task scheduler module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High stress → lighter tasks auto-assigned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Low stress → full demanding task queue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SLIIT | 25-26J-034 | PP2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Component 1 — IoT-Based Energy Optimizer (Live System)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IT22315700 | Shaethayine R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24128"/>
            <a:ext cx="411480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024128"/>
            <a:ext cx="4114800" cy="2377440"/>
          </a:xfrm>
          <a:prstGeom prst="rect">
            <a:avLst/>
          </a:prstGeom>
          <a:solidFill>
            <a:srgbClr val="000000">
              <a:alpha val="30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10241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ESP32 + PZEM-004T + DHT22 + MQ2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0" y="10241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891B2"/>
                </a:solidFill>
              </a:rPr>
              <a:t>Hardware &amp; Stack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1389888"/>
            <a:ext cx="4297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389888"/>
            <a:ext cx="54864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3440" y="140817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2E"/>
                </a:solidFill>
              </a:rPr>
              <a:t>⚡ PZEM-004T v3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663440" y="157276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Measures V, A, W, kWh — publishes every 5s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0" y="1847088"/>
            <a:ext cx="4297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1847088"/>
            <a:ext cx="54864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186537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2E"/>
                </a:solidFill>
              </a:rPr>
              <a:t>🌡️ DHT22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663440" y="202996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Temperature &amp; humidity sensing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72000" y="2304288"/>
            <a:ext cx="4297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2304288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232257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2E"/>
                </a:solidFill>
              </a:rPr>
              <a:t>🌫️ MQ2 Gas Sensor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663440" y="248716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Air quality &amp; gas/smoke detection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0" y="2761488"/>
            <a:ext cx="429768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1E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0" y="2761488"/>
            <a:ext cx="54864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277977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2E"/>
                </a:solidFill>
              </a:rPr>
              <a:t>📶 HiveMQ Cloud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663440" y="294436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MQTT/TLS broker — topic: site_colombo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572000" y="3291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Data Flow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0" y="3611880"/>
            <a:ext cx="749808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0" y="3611880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Sensor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(5s)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321808" y="3611880"/>
            <a:ext cx="109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431536" y="3611880"/>
            <a:ext cx="749808" cy="59436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431536" y="3611880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ESP32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6181344" y="3611880"/>
            <a:ext cx="109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291072" y="3611880"/>
            <a:ext cx="749808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91072" y="3611880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MQTT/TLS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040880" y="3611880"/>
            <a:ext cx="109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150608" y="3611880"/>
            <a:ext cx="749808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50608" y="3611880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Flask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900416" y="3611880"/>
            <a:ext cx="109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010144" y="3611880"/>
            <a:ext cx="749808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10144" y="3611880"/>
            <a:ext cx="749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Dashboard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228600" y="34930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F2E"/>
                </a:solidFill>
              </a:rPr>
              <a:t>9 Alert Types Implemented: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228600" y="3822192"/>
            <a:ext cx="1261872" cy="347472"/>
          </a:xfrm>
          <a:prstGeom prst="rect">
            <a:avLst/>
          </a:prstGeom>
          <a:solidFill>
            <a:srgbClr val="D97706">
              <a:alpha val="15000"/>
            </a:srgbClr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74320" y="3822192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2E"/>
                </a:solidFill>
              </a:rPr>
              <a:t>⚡ Idle Waste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1600200" y="3822192"/>
            <a:ext cx="1261872" cy="347472"/>
          </a:xfrm>
          <a:prstGeom prst="rect">
            <a:avLst/>
          </a:prstGeom>
          <a:solidFill>
            <a:srgbClr val="D97706">
              <a:alpha val="15000"/>
            </a:srgbClr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645920" y="3822192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2E"/>
                </a:solidFill>
              </a:rPr>
              <a:t>🔌 Standby Loss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2971800" y="3822192"/>
            <a:ext cx="1261872" cy="347472"/>
          </a:xfrm>
          <a:prstGeom prst="rect">
            <a:avLst/>
          </a:prstGeom>
          <a:solidFill>
            <a:srgbClr val="DC2626">
              <a:alpha val="15000"/>
            </a:srgbClr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017520" y="3822192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2E"/>
                </a:solidFill>
              </a:rPr>
              <a:t>🔥 Overload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28600" y="4242816"/>
            <a:ext cx="1261872" cy="347472"/>
          </a:xfrm>
          <a:prstGeom prst="rect">
            <a:avLst/>
          </a:prstGeom>
          <a:solidFill>
            <a:srgbClr val="DC2626">
              <a:alpha val="15000"/>
            </a:srgbClr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74320" y="4242816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2E"/>
                </a:solidFill>
              </a:rPr>
              <a:t>📉 Abnorm. Drop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1600200" y="4242816"/>
            <a:ext cx="1261872" cy="347472"/>
          </a:xfrm>
          <a:prstGeom prst="rect">
            <a:avLst/>
          </a:prstGeom>
          <a:solidFill>
            <a:srgbClr val="D97706">
              <a:alpha val="15000"/>
            </a:srgbClr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645920" y="4242816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2E"/>
                </a:solidFill>
              </a:rPr>
              <a:t>⚠️ Voltage Issue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2971800" y="4242816"/>
            <a:ext cx="1261872" cy="347472"/>
          </a:xfrm>
          <a:prstGeom prst="rect">
            <a:avLst/>
          </a:prstGeom>
          <a:solidFill>
            <a:srgbClr val="DC2626">
              <a:alpha val="15000"/>
            </a:srgbClr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017520" y="4242816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2E"/>
                </a:solidFill>
              </a:rPr>
              <a:t>🌡️ High Temp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228600" y="4663440"/>
            <a:ext cx="1261872" cy="347472"/>
          </a:xfrm>
          <a:prstGeom prst="rect">
            <a:avLst/>
          </a:prstGeom>
          <a:solidFill>
            <a:srgbClr val="D97706">
              <a:alpha val="15000"/>
            </a:srgbClr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74320" y="466344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2E"/>
                </a:solidFill>
              </a:rPr>
              <a:t>💧 High Humidity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1600200" y="4663440"/>
            <a:ext cx="1261872" cy="347472"/>
          </a:xfrm>
          <a:prstGeom prst="rect">
            <a:avLst/>
          </a:prstGeom>
          <a:solidFill>
            <a:srgbClr val="D97706">
              <a:alpha val="15000"/>
            </a:srgbClr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645920" y="466344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2E"/>
                </a:solidFill>
              </a:rPr>
              <a:t>🌫️ Air Quality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2971800" y="4663440"/>
            <a:ext cx="1261872" cy="347472"/>
          </a:xfrm>
          <a:prstGeom prst="rect">
            <a:avLst/>
          </a:prstGeom>
          <a:solidFill>
            <a:srgbClr val="DC2626">
              <a:alpha val="15000"/>
            </a:srgbClr>
          </a:solidFill>
          <a:ln w="8890">
            <a:solidFill>
              <a:srgbClr val="DC2626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017520" y="4663440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F2E"/>
                </a:solidFill>
              </a:rPr>
              <a:t>🚨 Smoke/Gas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SLIIT | 25-26J-034 | PP2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Component 2 — Stress Detection &amp; Intelligent Task Allocation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IT22564672 | M.A.H.S. Thathsarani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24128"/>
            <a:ext cx="4572000" cy="2788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8600" y="1024128"/>
            <a:ext cx="4572000" cy="2788920"/>
          </a:xfrm>
          <a:prstGeom prst="rect">
            <a:avLst/>
          </a:prstGeom>
          <a:solidFill>
            <a:srgbClr val="000000">
              <a:alpha val="3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10241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Live Face-Based Stress Detection Demo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0" y="1024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Stress → Task Allocation Rules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0" y="1417320"/>
            <a:ext cx="3840480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1417320"/>
            <a:ext cx="38404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38928" y="1417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🟢 LOW STRESS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38928" y="18013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Assign demanding, deadline-critical &amp; complex tasks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Full task queue enabled — max productivity mode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0" y="2377440"/>
            <a:ext cx="3840480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029200" y="2377440"/>
            <a:ext cx="384048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38928" y="23774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🟡 NORMAL STRESS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138928" y="27614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Balanced task mix — standard workload maintained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Monitor every cycle, no intervention needed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0" y="3337560"/>
            <a:ext cx="3840480" cy="841248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29200" y="3337560"/>
            <a:ext cx="38404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38928" y="3337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🔴 HIGH STRESS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138928" y="37216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Assign simple / light tasks only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Trigger manager alert + recommend break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029200" y="4297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Allocation Cycle: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0" y="4590288"/>
            <a:ext cx="6858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0" y="459028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Detect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Stress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715000" y="4590288"/>
            <a:ext cx="82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797296" y="4590288"/>
            <a:ext cx="6858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97296" y="459028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Check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Queue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483096" y="4590288"/>
            <a:ext cx="82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565392" y="4590288"/>
            <a:ext cx="6858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65392" y="459028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Apply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Rules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251192" y="4590288"/>
            <a:ext cx="82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333488" y="4590288"/>
            <a:ext cx="6858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333488" y="459028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Assign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&amp; Log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019288" y="4590288"/>
            <a:ext cx="82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→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101584" y="4590288"/>
            <a:ext cx="685800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01584" y="459028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Re-check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Next Cycle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SLIIT | 25-26J-034 | PP2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 &amp; Integration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0"/>
            <a:ext cx="868680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1005840"/>
            <a:ext cx="8686800" cy="13716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100584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MQTT Data Pipeline — ESP32 Sensors → HiveMQ Cloud → Flask → SocketIO Dashboard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28600" y="2487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Hardware / Edge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27832" y="2487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Cloud &amp; AI Processing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27064" y="24871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Output / Action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" y="2788920"/>
            <a:ext cx="2633472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" y="27889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ESP32+PZEM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(V,A,W,kWh)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880360" y="27889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91B2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28600" y="3319272"/>
            <a:ext cx="2633472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28600" y="3319272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ESP32+DHT22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(Temp+Hum)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880360" y="3319272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91B2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28600" y="3849624"/>
            <a:ext cx="2633472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8600" y="3849624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ESP32+MQ2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(Air Quality)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880360" y="3849624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91B2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28600" y="4379976"/>
            <a:ext cx="2633472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0891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8600" y="4379976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Camera+OpenCV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(Face frames)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880360" y="4379976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891B2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063240" y="2788920"/>
            <a:ext cx="2816352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063240" y="278892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Energy Optimizer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897880" y="2788920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063240" y="3319272"/>
            <a:ext cx="2816352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063240" y="3319272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Stress Detector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897880" y="3319272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063240" y="3849624"/>
            <a:ext cx="2816352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063240" y="3849624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Task Allocator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897880" y="3849624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063240" y="4379976"/>
            <a:ext cx="2816352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063240" y="4379976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Bandwidth Predictor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897880" y="4379976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→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080760" y="2788920"/>
            <a:ext cx="2816352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080760" y="278892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Energy Alerts + SMS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080760" y="3319272"/>
            <a:ext cx="2816352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80760" y="3319272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Stress Alert Dashboard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6080760" y="3849624"/>
            <a:ext cx="2816352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080760" y="3849624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Task Auto-Assignment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080760" y="4379976"/>
            <a:ext cx="2816352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080760" y="4379976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QoS/SD-WAN Rules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228600" y="4892040"/>
            <a:ext cx="8686800" cy="256032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28600" y="489204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MQTT/TLS (HiveMQ Cloud)  •  Flask + SocketIO  •  SQLite DB  •  Twilio SMS  •  REST APIs  •  WiFiManager (ESP32)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SLIIT | 25-26J-034 | PP2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Live Dashboard — Real-Time Office Intelligence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005840"/>
            <a:ext cx="548640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1005840"/>
            <a:ext cx="5486400" cy="3383280"/>
          </a:xfrm>
          <a:prstGeom prst="rect">
            <a:avLst/>
          </a:prstGeom>
          <a:solidFill>
            <a:srgbClr val="000000">
              <a:alpha val="25000"/>
            </a:srgbClr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10058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Flask + SocketIO Dashboard — localhost:5000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97880" y="10058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F2E"/>
                </a:solidFill>
              </a:rPr>
              <a:t>Dashboard Views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97880" y="1389888"/>
            <a:ext cx="301752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97880" y="1389888"/>
            <a:ext cx="301752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07608" y="13898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Facility View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07608" y="182880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</a:rPr>
              <a:t>Energy/floor, overload/idle alerts, HVAC &amp; lighting recommendations, Twilio SMS on critical events.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97880" y="2532888"/>
            <a:ext cx="301752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97880" y="2532888"/>
            <a:ext cx="301752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07608" y="25328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📡 IT View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07608" y="297180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</a:rPr>
              <a:t>Bandwidth per process, QoS decisions, congestion status, task type classification output.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97880" y="3675888"/>
            <a:ext cx="3017520" cy="1024128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97880" y="3675888"/>
            <a:ext cx="3017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07608" y="36758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🧠 Manager View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07608" y="411480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0F2E"/>
                </a:solidFill>
              </a:rPr>
              <a:t>Employee stress heatmap, workload distribution, task allocation log, burnout risk flags.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SLIIT | 25-26J-034 | PP2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Intelligent Task Allocation — Stress-Aware Scheduler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005840"/>
            <a:ext cx="406908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1005840"/>
            <a:ext cx="4069080" cy="3200400"/>
          </a:xfrm>
          <a:prstGeom prst="rect">
            <a:avLst/>
          </a:prstGeom>
          <a:solidFill>
            <a:srgbClr val="000000">
              <a:alpha val="4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46320" y="10058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Stress-Aware Task Queue — Live Example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74320" y="10241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4320" y="1417320"/>
            <a:ext cx="4297680" cy="82296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417320"/>
            <a:ext cx="64008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46304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🟢  Low Stress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11480" y="1783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Full demanding task queue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Deadline-critical, complex work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2350008"/>
            <a:ext cx="4297680" cy="82296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2350008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23957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🟡  Normal Stress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11480" y="27157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Balanced standard workload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Monitor each cycle, no action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3282696"/>
            <a:ext cx="4297680" cy="822960"/>
          </a:xfrm>
          <a:prstGeom prst="rect">
            <a:avLst/>
          </a:prstGeom>
          <a:solidFill>
            <a:srgbClr val="FFFFFF">
              <a:alpha val="7000"/>
            </a:srgbClr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282696"/>
            <a:ext cx="64008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32841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🔴  High Stress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11480" y="3648456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Light tasks only assigned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Manager alert + break recommended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4251960"/>
            <a:ext cx="4297680" cy="640080"/>
          </a:xfrm>
          <a:prstGeom prst="rect">
            <a:avLst/>
          </a:prstGeom>
          <a:solidFill>
            <a:srgbClr val="1E3A8A">
              <a:alpha val="70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427939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Auto-report generated per employee per shift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11480" y="45537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✓  Continuous adaptive loop — re-checks every detection cycle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SLIIT | 25-26J-034 | PP2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Commercialization / Impact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51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4251960" cy="4023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0584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🎯 Target Market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" y="1444752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F2E"/>
                </a:solidFill>
              </a:rPr>
              <a:t>Mid-to-large commercial offices, co-working spaces, corporate campuses, university buildings — any multi-floor managed office.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2519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4251960" cy="40233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00584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💎 Value Proposition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56048" y="1444752"/>
            <a:ext cx="4023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F2E"/>
                </a:solidFill>
              </a:rPr>
              <a:t>Only platform combining real-time IoT energy monitoring, AI stress detection and adaptive bandwidth allocation in one dashboard.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283464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377440"/>
            <a:ext cx="2834640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3774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💰 Cost Estimate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" y="2816352"/>
            <a:ext cx="2615184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F2E"/>
                </a:solidFill>
              </a:rPr>
              <a:t>Hardware: ~$35/floor (ESP32+PZEM+DHT22+MQ2)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0F2E"/>
                </a:solidFill>
              </a:rPr>
              <a:t>Software: 100% open-source (Flask, Python, MQTT)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0F2E"/>
                </a:solidFill>
              </a:rPr>
              <a:t>Cloud: HiveMQ free tier (≤100 devices)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0F2E"/>
                </a:solidFill>
              </a:rPr>
              <a:t>SMS: Twilio pay-as-you-go (~$0.01/msg)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2377440"/>
            <a:ext cx="283464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2377440"/>
            <a:ext cx="283464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3774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📜 IP &amp; Licensing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55848" y="2816352"/>
            <a:ext cx="2615184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F2E"/>
                </a:solidFill>
              </a:rPr>
              <a:t>Software: Copyright applicable to ML models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0F2E"/>
                </a:solidFill>
              </a:rPr>
              <a:t>System licensable to facility management firms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0F2E"/>
                </a:solidFill>
              </a:rPr>
              <a:t>White-label dashboard for enterprise clients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0F2E"/>
                </a:solidFill>
              </a:rPr>
              <a:t>SaaS subscription model planned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2377440"/>
            <a:ext cx="2834640" cy="199339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2377440"/>
            <a:ext cx="2834640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3774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Adoption Plan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27648" y="2816352"/>
            <a:ext cx="2615184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F2E"/>
                </a:solidFill>
              </a:rPr>
              <a:t>Phase 1: 2-floor office pilot (current demo)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0F2E"/>
                </a:solidFill>
              </a:rPr>
              <a:t>Phase 2: Full building 10+ floors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0F2E"/>
                </a:solidFill>
              </a:rPr>
              <a:t>Phase 3: Multi-site cloud deployment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A0F2E"/>
                </a:solidFill>
              </a:rPr>
              <a:t>Phase 4: SaaS subscription model launch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SLIIT | 25-26J-034 | PP2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Demo Plan (30 min) — What We Will Show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8631936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24128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06424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064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9536" y="106984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Live ESP32 Sensor Feed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9536" y="131673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Real MQTT data from Floor 1 &amp; 2 publishing every 5s to HiveMQ Cloud — show broker dashboard.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296912" y="1115568"/>
            <a:ext cx="1517904" cy="384048"/>
          </a:xfrm>
          <a:prstGeom prst="rect">
            <a:avLst/>
          </a:prstGeom>
          <a:solidFill>
            <a:srgbClr val="0891B2">
              <a:alpha val="15000"/>
            </a:srgbClr>
          </a:solidFill>
          <a:ln w="762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96912" y="1115568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Shaethayine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" y="1682496"/>
            <a:ext cx="8631936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682496"/>
            <a:ext cx="64008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1764792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" y="17282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Energy Dashboard Live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9536" y="197510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Open Flask dashboard (localhost:5000) — power, voltage, temp, humidity, MQ2 charts updating live.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96912" y="1773936"/>
            <a:ext cx="1517904" cy="384048"/>
          </a:xfrm>
          <a:prstGeom prst="rect">
            <a:avLst/>
          </a:prstGeom>
          <a:solidFill>
            <a:srgbClr val="059669">
              <a:alpha val="15000"/>
            </a:srgbClr>
          </a:solidFill>
          <a:ln w="762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96912" y="1773936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Shaethayine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6032" y="2340864"/>
            <a:ext cx="8631936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340864"/>
            <a:ext cx="64008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2423160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9536" y="238658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Trigger an Alert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59536" y="263347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Simulate overload or high temp → show Twilio SMS sending + dashboard notification firing.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96912" y="2432304"/>
            <a:ext cx="1517904" cy="384048"/>
          </a:xfrm>
          <a:prstGeom prst="rect">
            <a:avLst/>
          </a:prstGeom>
          <a:solidFill>
            <a:srgbClr val="D97706">
              <a:alpha val="15000"/>
            </a:srgbClr>
          </a:solidFill>
          <a:ln w="762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2432304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Shaethayine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" y="2999232"/>
            <a:ext cx="8631936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2999232"/>
            <a:ext cx="640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3081528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9536" y="30449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Face-Based Stress Demo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59536" y="32918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Open camera → live face detection → ML outputs Low/Normal/High stress label in real time.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96912" y="3090672"/>
            <a:ext cx="1517904" cy="384048"/>
          </a:xfrm>
          <a:prstGeom prst="rect">
            <a:avLst/>
          </a:prstGeom>
          <a:solidFill>
            <a:srgbClr val="7C3AED">
              <a:alpha val="15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96912" y="3090672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Thathsarani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6032" y="3657600"/>
            <a:ext cx="8631936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6032" y="3657600"/>
            <a:ext cx="64008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" y="3739896"/>
            <a:ext cx="420624" cy="42062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3739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59536" y="37033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Task Allocation Demo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59536" y="395020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Stress label changes → task queue auto-updates: High stress → lighter tasks; Low → full queue.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296912" y="3749040"/>
            <a:ext cx="1517904" cy="384048"/>
          </a:xfrm>
          <a:prstGeom prst="rect">
            <a:avLst/>
          </a:prstGeom>
          <a:solidFill>
            <a:srgbClr val="DC2626">
              <a:alpha val="15000"/>
            </a:srgbClr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96912" y="374904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Thathsarani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6032" y="4315968"/>
            <a:ext cx="8631936" cy="566928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1E3A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56032" y="4315968"/>
            <a:ext cx="64008" cy="56692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" y="4398264"/>
            <a:ext cx="420624" cy="420624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4398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59536" y="43616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Bandwidth Prediction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59536" y="460857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Input process data → model predicts optimal bandwidth % → show QoS decision output.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296912" y="4407408"/>
            <a:ext cx="1517904" cy="384048"/>
          </a:xfrm>
          <a:prstGeom prst="rect">
            <a:avLst/>
          </a:prstGeom>
          <a:solidFill>
            <a:srgbClr val="1E3A8A">
              <a:alpha val="15000"/>
            </a:srgbClr>
          </a:solidFill>
          <a:ln w="7620">
            <a:solidFill>
              <a:srgbClr val="1E3A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96912" y="4407408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Shaethayine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56032" y="4937760"/>
            <a:ext cx="8631936" cy="201168"/>
          </a:xfrm>
          <a:prstGeom prst="rect">
            <a:avLst/>
          </a:prstGeom>
          <a:solidFill>
            <a:srgbClr val="1E3A8A">
              <a:alpha val="50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4937760"/>
            <a:ext cx="8631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Backup: Recorded demo video + pre-loaded test data ready if hardware issues occur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SLIIT | 25-26J-034 | PP2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E3A8A">
              <a:alpha val="20000"/>
            </a:srgbClr>
          </a:solidFill>
          <a:ln w="12700">
            <a:solidFill>
              <a:srgbClr val="1E3A8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657600"/>
            <a:ext cx="2011680" cy="2011680"/>
          </a:xfrm>
          <a:prstGeom prst="ellipse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2286000" y="2057400"/>
            <a:ext cx="4572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762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Thank You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AI-Enabled Smart Office System with Cloud-Based Energy Optimization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Project ID: 25-26J-034  |  SLIIT Faculty of Computing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730752"/>
            <a:ext cx="3840480" cy="1097280"/>
          </a:xfrm>
          <a:prstGeom prst="rect">
            <a:avLst/>
          </a:prstGeom>
          <a:solidFill>
            <a:srgbClr val="FFFFFF">
              <a:alpha val="9000"/>
            </a:srgbClr>
          </a:solidFill>
          <a:ln w="254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730752"/>
            <a:ext cx="384048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858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IT22315700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41330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Shaethayine 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462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IoT Energy Optimizer &amp; Bandwidth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69280" y="3730752"/>
            <a:ext cx="3840480" cy="1097280"/>
          </a:xfrm>
          <a:prstGeom prst="rect">
            <a:avLst/>
          </a:prstGeom>
          <a:solidFill>
            <a:srgbClr val="FFFFFF">
              <a:alpha val="9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0" y="3730752"/>
            <a:ext cx="384048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858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IT22564672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0" y="41330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M.A.H.S. Thathsarani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0" y="4462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Stress Detection &amp; Task Allocation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SLIIT | 25-26J-034 | PP2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3" ma:contentTypeDescription="Create a new document." ma:contentTypeScope="" ma:versionID="cbef7e19daa0d389b559f873c5a3e553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060a19f19fc398f1deb5a7ac3ca80118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Props1.xml><?xml version="1.0" encoding="utf-8"?>
<ds:datastoreItem xmlns:ds="http://schemas.openxmlformats.org/officeDocument/2006/customXml" ds:itemID="{D4709138-D96B-4431-8576-64929A1144ED}"/>
</file>

<file path=customXml/itemProps2.xml><?xml version="1.0" encoding="utf-8"?>
<ds:datastoreItem xmlns:ds="http://schemas.openxmlformats.org/officeDocument/2006/customXml" ds:itemID="{2685302F-6C3E-40B4-8FB6-A70D3E5C10B5}"/>
</file>

<file path=customXml/itemProps3.xml><?xml version="1.0" encoding="utf-8"?>
<ds:datastoreItem xmlns:ds="http://schemas.openxmlformats.org/officeDocument/2006/customXml" ds:itemID="{7BCD71D6-FC8A-4BE4-A2EB-A694909CD57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2026-04-26T12:23:45Z</dcterms:created>
  <dcterms:modified xsi:type="dcterms:W3CDTF">2026-04-26T12:23:45Z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